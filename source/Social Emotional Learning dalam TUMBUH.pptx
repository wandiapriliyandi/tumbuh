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19225"/>
            <a:ext cx="11049000" cy="4019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375" y="2181225"/>
            <a:ext cx="1000125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3F0DF"/>
                </a:solidFill>
                <a:latin typeface="Merriweather"/>
              </a:rPr>
              <a:t>Social Emotional</a:t>
            </a:r>
            <a:r>
              <a:t>
</a:t>
            </a:r>
            <a:r>
              <a:rPr b="1" sz="5400" i="0" u="none">
                <a:solidFill>
                  <a:srgbClr val="F3F0DF"/>
                </a:solidFill>
                <a:latin typeface="Merriweather"/>
              </a:rPr>
              <a:t> Learning (SEL)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105275"/>
            <a:ext cx="9525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F3F0DF"/>
                </a:solidFill>
                <a:latin typeface="DM Sans"/>
              </a:rPr>
              <a:t>Membangun Kapasitas Internal dalam Ekosistem TUMBUH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47962"/>
            <a:ext cx="5286375" cy="2238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747962"/>
            <a:ext cx="5286375" cy="2238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3138487"/>
            <a:ext cx="473059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05088"/>
                </a:solidFill>
                <a:latin typeface="Merriweather"/>
              </a:rPr>
              <a:t>Bukan Pelajaran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548062"/>
            <a:ext cx="45053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SEL bukan mata pelajaran atau program konseling statis. Ia adalah </a:t>
            </a:r>
            <a:r>
              <a:rPr b="1" sz="1500" i="0" u="none">
                <a:solidFill>
                  <a:srgbClr val="334155"/>
                </a:solidFill>
                <a:latin typeface="DM Sans"/>
              </a:rPr>
              <a:t>proses sistematis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pengembangan kompetensi.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3138487"/>
            <a:ext cx="473059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05088"/>
                </a:solidFill>
                <a:latin typeface="Merriweather"/>
              </a:rPr>
              <a:t>Kapasitas Manusia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3548062"/>
            <a:ext cx="45053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Proses untuk memahami diri, mengelola emosi, membangun hubungan sehat, dan mengambil keputusan bertanggung jawab.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Apa itu SEL?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52650"/>
            <a:ext cx="52863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Keberhasilan tidak hanya ditentukan oleh kecerdasan akademik. Kapasitas hidup yang membedakan santri mencakup: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62150"/>
            <a:ext cx="5286375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" y="3200400"/>
            <a:ext cx="66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"/>
              </a:rP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00400"/>
            <a:ext cx="5095875" cy="2857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Kemampuan mengendalikan emosi saat krisis.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3486150"/>
            <a:ext cx="66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86150"/>
            <a:ext cx="5095875" cy="2857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Keterampilan bekerja sama dalam tim.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3771900"/>
            <a:ext cx="66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71900"/>
            <a:ext cx="5095875" cy="2857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Resiliensi untuk bangkit setelah kegagalan.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4057650"/>
            <a:ext cx="66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057650"/>
            <a:ext cx="5095875" cy="2857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Kecakapan menerima dan mengolah kritik.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Mengapa SEL Diperlukan?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990850"/>
            <a:ext cx="106203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Belajar Melalui Hubungan: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Interaksi dengan pembina dan teman sangat memengaruhi perkembangan kapasitas diri.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467100"/>
            <a:ext cx="106203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Emosi Memengaruhi Kognisi: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Pembelajaran sulit terjadi dalam kondisi marah, takut, atau cemas.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943350"/>
            <a:ext cx="106203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Keterampilan Dapat Diajarkan: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Empati, komunikasi, dan resolusi konflik adalah kompetensi yang bisa dilatih.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419600"/>
            <a:ext cx="106203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Perkembangan Manusia Utuh: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Tujuan pendidikan mencakup kesejahteraan psikologis dan karakter sosial.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28950"/>
            <a:ext cx="2857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05200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1450"/>
            <a:ext cx="2857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57700"/>
            <a:ext cx="20002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Filosofi Dasar SEL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47800"/>
            <a:ext cx="11049000" cy="4838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5 Kompetensi Inti (Model CASEL)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9725"/>
            <a:ext cx="11049000" cy="2257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67150"/>
            <a:ext cx="11049000" cy="2257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5312" y="2686050"/>
            <a:ext cx="110013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Merriweather"/>
              </a:rPr>
              <a:t>Self-Awareness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152775"/>
            <a:ext cx="10477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3F0DF"/>
                </a:solidFill>
                <a:latin typeface="DM Sans"/>
              </a:rPr>
              <a:t>Mengenali emosi, kekuatan, nilai, dan motivasi diri. </a:t>
            </a:r>
            <a:r>
              <a:rPr b="0" sz="1350" i="1" u="none">
                <a:solidFill>
                  <a:srgbClr val="F3F0DF"/>
                </a:solidFill>
                <a:latin typeface="DM Sans"/>
              </a:rPr>
              <a:t>"Saya tahu mengapa saya marah."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312" y="4943475"/>
            <a:ext cx="110013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Merriweather"/>
              </a:rPr>
              <a:t>Self-Management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5410200"/>
            <a:ext cx="10477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3F0DF"/>
                </a:solidFill>
                <a:latin typeface="DM Sans"/>
              </a:rPr>
              <a:t>Mengelola stres, dorongan impulsif, dan tujuan hidup. </a:t>
            </a:r>
            <a:r>
              <a:rPr b="0" sz="1350" i="1" u="none">
                <a:solidFill>
                  <a:srgbClr val="F3F0DF"/>
                </a:solidFill>
                <a:latin typeface="DM Sans"/>
              </a:rPr>
              <a:t>"Tetap tenang saat dikritik."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1952625"/>
            <a:ext cx="5715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421005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Fokus Internal: Kesadaran &amp; Pengelolaan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9725"/>
            <a:ext cx="11049000" cy="2257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67150"/>
            <a:ext cx="11049000" cy="2257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5312" y="2686050"/>
            <a:ext cx="110013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Merriweather"/>
              </a:rPr>
              <a:t>Social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152775"/>
            <a:ext cx="10477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3F0DF"/>
                </a:solidFill>
                <a:latin typeface="DM Sans"/>
              </a:rPr>
              <a:t>Kemampuan berempati, menghargai perbedaan, dan memahami norma sosial yang berlaku.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312" y="4943475"/>
            <a:ext cx="1100137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Merriweather"/>
              </a:rPr>
              <a:t>Relationship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5410200"/>
            <a:ext cx="10477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3F0DF"/>
                </a:solidFill>
                <a:latin typeface="DM Sans"/>
              </a:rPr>
              <a:t>Bekerja sama, berkomunikasi efektif, menyelesaikan konflik, dan saling membantu.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1952625"/>
            <a:ext cx="5715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0" y="4210050"/>
            <a:ext cx="5715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Fokus Eksternal: Sosial &amp; Relasi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687" y="1962150"/>
            <a:ext cx="3810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3076575"/>
            <a:ext cx="52863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Kemampuan memilih tindakan berdasarkan: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3552825"/>
            <a:ext cx="66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 Medium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4625" y="3552825"/>
            <a:ext cx="5095875" cy="2857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 Medium"/>
              </a:rPr>
              <a:t>Standar etika dan moral.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7950" y="3838575"/>
            <a:ext cx="66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 Medium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838575"/>
            <a:ext cx="5095875" cy="2857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 Medium"/>
              </a:rPr>
              <a:t>Konsekuensi jangka panjang.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4124325"/>
            <a:ext cx="66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 Medium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4124325"/>
            <a:ext cx="5095875" cy="2857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 Medium"/>
              </a:rPr>
              <a:t>Keamanan dan tanggung jawab pribadi.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950" y="4410075"/>
            <a:ext cx="66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 Medium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4410075"/>
            <a:ext cx="5095875" cy="2857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 Medium"/>
              </a:rPr>
              <a:t>Dampak sosial terhadap orang 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Pengambilan Keputusan Bertanggung Jawab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381375"/>
            <a:ext cx="11049000" cy="3810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51520" y="3286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780" y="3657600"/>
            <a:ext cx="208822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005088"/>
                </a:solidFill>
                <a:latin typeface="Merriweather"/>
              </a:rPr>
              <a:t>Pengalaman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67175"/>
            <a:ext cx="198879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Aktivitas nyata di asrama.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1541" y="3286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1800" y="3657600"/>
            <a:ext cx="208822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005088"/>
                </a:solidFill>
                <a:latin typeface="Merriweather"/>
              </a:rPr>
              <a:t>Latihan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1520" y="4067175"/>
            <a:ext cx="198879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Simulasi &amp; pembiasaan diri.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1561" y="3286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1820" y="3657600"/>
            <a:ext cx="208822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005088"/>
                </a:solidFill>
                <a:latin typeface="Merriweather"/>
              </a:rPr>
              <a:t>Refleksi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540" y="4067175"/>
            <a:ext cx="198879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Diskusi makna mendalam.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1581" y="3286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1841" y="3657600"/>
            <a:ext cx="208822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005088"/>
                </a:solidFill>
                <a:latin typeface="Merriweather"/>
              </a:rPr>
              <a:t>Keteladanan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1560" y="4067175"/>
            <a:ext cx="198879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Budaya &amp; model perilaku pembina.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Bagaimana SEL Berkembang?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662237"/>
          <a:ext cx="11048998" cy="240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06810"/>
                <a:gridCol w="4967733"/>
                <a:gridCol w="3974455"/>
              </a:tblGrid>
              <a:tr h="602456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DM Sans"/>
                        </a:rPr>
                        <a:t>Framework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DM Sans"/>
                        </a:rPr>
                        <a:t>Pertanyaan Utama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DM Sans"/>
                        </a:rPr>
                        <a:t>Level Intervensi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DM Sans"/>
                        </a:rPr>
                        <a:t>SEL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DM Sans"/>
                        </a:rPr>
                        <a:t>Kapasitas apa yang harus dimiliki?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DM Sans"/>
                        </a:rPr>
                        <a:t>Kapasitas Internal Individu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DM Sans"/>
                        </a:rPr>
                        <a:t>PBIS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DM Sans"/>
                        </a:rPr>
                        <a:t>Bagaimana membangun sistem perilaku?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DM Sans"/>
                        </a:rPr>
                        <a:t>Sistem &amp; Lingkungan Institusi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2457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DM Sans"/>
                        </a:rPr>
                        <a:t>Disiplin Positif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DM Sans"/>
                        </a:rPr>
                        <a:t>Bagaimana membina saat interaksi?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DM Sans"/>
                        </a:rPr>
                        <a:t>Proses Dialog &amp; Respon Perilaku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895725"/>
            <a:ext cx="2106810" cy="9525"/>
          </a:xfrm>
          <a:prstGeom prst="rect">
            <a:avLst/>
          </a:prstGeom>
          <a:solidFill>
            <a:srgbClr val="CD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78310" y="3895725"/>
            <a:ext cx="4967733" cy="9525"/>
          </a:xfrm>
          <a:prstGeom prst="rect">
            <a:avLst/>
          </a:prstGeom>
          <a:solidFill>
            <a:srgbClr val="CD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46044" y="3895725"/>
            <a:ext cx="3974455" cy="9525"/>
          </a:xfrm>
          <a:prstGeom prst="rect">
            <a:avLst/>
          </a:prstGeom>
          <a:solidFill>
            <a:srgbClr val="CD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476750"/>
            <a:ext cx="2106810" cy="9525"/>
          </a:xfrm>
          <a:prstGeom prst="rect">
            <a:avLst/>
          </a:prstGeom>
          <a:solidFill>
            <a:srgbClr val="CD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78310" y="4476750"/>
            <a:ext cx="4967733" cy="9525"/>
          </a:xfrm>
          <a:prstGeom prst="rect">
            <a:avLst/>
          </a:prstGeom>
          <a:solidFill>
            <a:srgbClr val="CD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46044" y="4476750"/>
            <a:ext cx="3974455" cy="9525"/>
          </a:xfrm>
          <a:prstGeom prst="rect">
            <a:avLst/>
          </a:prstGeom>
          <a:solidFill>
            <a:srgbClr val="CD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5057775"/>
            <a:ext cx="2106810" cy="9525"/>
          </a:xfrm>
          <a:prstGeom prst="rect">
            <a:avLst/>
          </a:prstGeom>
          <a:solidFill>
            <a:srgbClr val="CD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8310" y="5057775"/>
            <a:ext cx="4967733" cy="9525"/>
          </a:xfrm>
          <a:prstGeom prst="rect">
            <a:avLst/>
          </a:prstGeom>
          <a:solidFill>
            <a:srgbClr val="CD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46044" y="5057775"/>
            <a:ext cx="3974455" cy="9525"/>
          </a:xfrm>
          <a:prstGeom prst="rect">
            <a:avLst/>
          </a:prstGeom>
          <a:solidFill>
            <a:srgbClr val="CD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Sinergi Tiga Pilar Pembinaan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2006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Melampaui SEL: Integrasi TUMBUH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495300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767012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10 Karakter Santri TUMBUH mengintegrasikan SEL ke dalam kerangka karakter utuh: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872037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1" u="none">
                <a:solidFill>
                  <a:srgbClr val="334155"/>
                </a:solidFill>
                <a:latin typeface="DM Sans"/>
              </a:rPr>
              <a:t>"Membentuk individu yang cakap secara sosial-emosional dengan komitmen nilai yang jelas."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700462"/>
            <a:ext cx="66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700462"/>
            <a:ext cx="4762500" cy="2857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Mujahadatun Linafsih: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SEL + Orientasi Spiritual.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986212"/>
            <a:ext cx="66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86212"/>
            <a:ext cx="4762500" cy="2857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Matinul Khuluq: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SEL + Landasan Akhlak Moral.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4271962"/>
            <a:ext cx="66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271962"/>
            <a:ext cx="4762500" cy="285750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DM Sans"/>
              </a:rPr>
              <a:t>Salimul Aqidah:</a:t>
            </a:r>
            <a:r>
              <a:rPr b="0" sz="1500" i="0" u="none">
                <a:solidFill>
                  <a:srgbClr val="334155"/>
                </a:solidFill>
                <a:latin typeface="DM Sans"/>
              </a:rPr>
              <a:t> Memberikan Makna &amp; Tujuan Hidup.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5" y="3433762"/>
            <a:ext cx="1428750" cy="1428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709737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005088"/>
                </a:solidFill>
                <a:latin typeface="Merriweather"/>
              </a:rPr>
              <a:t>Pertanyaan?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862262"/>
            <a:ext cx="1104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DM Sans"/>
              </a:rPr>
              <a:t>Mari diskusikan bagaimana SEL memperkuat arsitektur pembinaan santri.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725" y="3471862"/>
            <a:ext cx="1352550" cy="135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1574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928937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719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9194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9194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62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8623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33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633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0287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30743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https://learningpolicyinstitute.org/sites/default/files/styles/100_percent_wide/public/sidebar/Integrating_Social_Emotional_Learning_INFOGRAPHIC.png?itok=xwaM4zTD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54079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learningpolicyinstitute.org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5753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071812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https://ahead-app.com/_next/image?url=https%3A%2F%2Fstorage.googleapis.com%2Fweb-api-media-uploads%2Fmedia%2Ftmpa9ugdy7n_a40f978c32%2Ftmpa9ugdy7n_a40f978c32.png&amp;w=3840&amp;q=75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490912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ahead-app.com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1478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402193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https://cdn.firstcry.com/education/2026/02/10181248/10-Lines-On-A-Banyan-Tree.jpg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25529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www.firstcry.com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72037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786312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https://static.vecteezy.com/system/resources/previews/072/514/564/non_2x/unity-in-diversity-concept-with-hands-of-different-races-teamwork-success-teamwork-hands-diversity-unity-skin-community-friendship-top-view-four-hands-join-forces-in-unity-strength-collaboration-vector.jpg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205412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www.vecteezy.com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5088"/>
                </a:solidFill>
                <a:latin typeface="Merriweather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143000"/>
            <a:ext cx="11049000" cy="19050"/>
          </a:xfrm>
          <a:prstGeom prst="rect">
            <a:avLst/>
          </a:prstGeom>
          <a:solidFill>
            <a:srgbClr val="005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