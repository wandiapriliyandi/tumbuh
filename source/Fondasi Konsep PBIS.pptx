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538412"/>
            <a:ext cx="116014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oppins"/>
              </a:rPr>
              <a:t>Memahami Fondasi PBIS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633787"/>
            <a:ext cx="762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64748B"/>
                </a:solidFill>
                <a:latin typeface="Lato"/>
              </a:rPr>
              <a:t>Bedah Konsep Positive Behavioral Interventions and Supports (PBIS) sebagai Framework Implementasi Perilaku Institusi.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66987"/>
            <a:ext cx="5334000" cy="2705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66987"/>
            <a:ext cx="5334000" cy="2705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62262"/>
            <a:ext cx="498062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Poppins"/>
              </a:rPr>
              <a:t>PBIS Adalah...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405187"/>
            <a:ext cx="4743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Framework untuk membangun budaya sekolah positif melalui pengajaran ekspektasi perilaku, penguatan positif, dan intervensi berbasis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319587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Framework ini memastikan konsistensi lingkungan belajar yang prediktif bagi seluruh peserta didik.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862262"/>
            <a:ext cx="498062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Poppins"/>
              </a:rPr>
              <a:t>PBIS BUKAN...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14712"/>
            <a:ext cx="4743450" cy="2571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Program disiplin kaku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671887"/>
            <a:ext cx="4743450" cy="2571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Sistem hadiah semata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3929062"/>
            <a:ext cx="4743450" cy="2571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Metode untuk menghukum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4186237"/>
            <a:ext cx="4743450" cy="257175"/>
          </a:xfrm>
          <a:prstGeom prst="rect">
            <a:avLst/>
          </a:prstGeom>
          <a:noFill/>
        </p:spPr>
        <p:txBody>
          <a:bodyPr wrap="square" lIns="219075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Kurikulum karakter statis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457575"/>
            <a:ext cx="12382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714750"/>
            <a:ext cx="123825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971925"/>
            <a:ext cx="123825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4229100"/>
            <a:ext cx="12382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Apa itu PBIS?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3043237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Lingkungan Kondusif: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Menciptakan ruang belajar yang Aman, Positif, Konsisten, dan Prediktif.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519487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Reduksi Masalah: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Mengurangi frekuensi perilaku bermasalah melalui langkah preventif.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995737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Keterlibatan Belajar: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Meningkatkan fokus dan partisipasi aktif siswa dalam akademik.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471987"/>
            <a:ext cx="1066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Lato"/>
              </a:rPr>
              <a:t>Iklim Institusi:</a:t>
            </a:r>
            <a:r>
              <a:rPr b="0" sz="1500" i="0" u="none">
                <a:solidFill>
                  <a:srgbClr val="334155"/>
                </a:solidFill>
                <a:latin typeface="Lato"/>
              </a:rPr>
              <a:t> Membangun sistem yang mendukung perkembangan seluruh individu secara proporsional.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2287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14787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91037"/>
            <a:ext cx="2857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Tujuan &amp; Indikator Keberhasilan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14537"/>
            <a:ext cx="5334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1453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Sama halnya dengan membaca atau berhitung, perilaku sosial dan emosional adalah keterampilan yang perlu </a:t>
            </a:r>
            <a:r>
              <a:rPr b="1" sz="1350" i="0" u="none">
                <a:solidFill>
                  <a:srgbClr val="334155"/>
                </a:solidFill>
                <a:latin typeface="Lato"/>
              </a:rPr>
              <a:t>diajarkan secara eksplisit.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24062"/>
            <a:ext cx="5314950" cy="3790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2719387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719387"/>
            <a:ext cx="49530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Jangan berasumsi siswa "sudah tahu".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297656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2976562"/>
            <a:ext cx="4953000" cy="514350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Sekolah bertanggung jawab mendefinisikan &amp; melatih ekspektasi perilaku.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3490912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3490912"/>
            <a:ext cx="4953000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Fokus pada bimbingan, bukan sekadar komando.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Perilaku Dapat Diajarkan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5575"/>
            <a:ext cx="5334000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5575"/>
            <a:ext cx="5334000" cy="2447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990850"/>
            <a:ext cx="498062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Poppins"/>
              </a:rPr>
              <a:t>Proaktif (Pencegahan)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533775"/>
            <a:ext cx="4743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Fokus utama adalah mencegah munculnya perilaku bermasalah melalui desain lingkungan dan instruksi perilaku sebelum krisis terjadi.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448175"/>
            <a:ext cx="4743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Lato"/>
              </a:rPr>
              <a:t>"An ounce of prevention is worth a pound of cure."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990850"/>
            <a:ext cx="498062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0B981"/>
                </a:solidFill>
                <a:latin typeface="Poppins"/>
              </a:rPr>
              <a:t>Penguatan (Reinforcement)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533775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Perilaku yang mendapatkan apresiasi atau feedback positif cenderung akan diulang oleh peserta didik.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191000"/>
            <a:ext cx="4743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PBIS menekankan penggunaan pengakuan dan dukungan positif untuk membangun kebiasaan baru.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Pencegahan &amp; Penguatan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5350668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Keputusan Berbasis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76200" cy="1200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52650"/>
            <a:ext cx="5286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PBIS meniadakan subjektivitas dalam pengambilan keputusan. Semua langkah strategis didasarkan pada data objektif: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296227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962275"/>
            <a:ext cx="509587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Jenis &amp; frekuensi pelanggaran.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321945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19450"/>
            <a:ext cx="509587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Waktu dan lokasi kejadian yang rawan.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" y="3476625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76625"/>
            <a:ext cx="509587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Pola perilaku berulang pada individu tertentu.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733800"/>
            <a:ext cx="95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3733800"/>
            <a:ext cx="5095875" cy="257175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Evaluasi efektivitas intervensi sistemik.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1275"/>
            <a:ext cx="2619375" cy="2676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581275"/>
            <a:ext cx="2619375" cy="2676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581275"/>
            <a:ext cx="2619375" cy="2676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581275"/>
            <a:ext cx="2619375" cy="2676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6048" y="3429000"/>
            <a:ext cx="223027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Ekspektasi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38575"/>
            <a:ext cx="21240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Menetapkan nilai inti menjadi perilaku konkret di tiap konteks.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5923" y="3429000"/>
            <a:ext cx="223027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Pengajaran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9025" y="3838575"/>
            <a:ext cx="21240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Melatih perilaku melalui penjelasan, contoh, dan praktek langsung.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798" y="3429000"/>
            <a:ext cx="223027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Penguatan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838575"/>
            <a:ext cx="2124075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Memberikan apresiasi konsisten untuk membangun kebiasaan positif.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5673" y="3429000"/>
            <a:ext cx="223027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Respons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8775" y="3838575"/>
            <a:ext cx="21240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Konsekuensi edukatif untuk membantu siswa belajar dari kesalahan.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0687" y="2867025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2937" y="2867025"/>
            <a:ext cx="47625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25" y="2867025"/>
            <a:ext cx="428625" cy="3810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20312" y="2867025"/>
            <a:ext cx="3810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4 Komponen Utama PBIS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809875"/>
            <a:ext cx="11049000" cy="22193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809875"/>
          <a:ext cx="11039474" cy="2219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08509"/>
                <a:gridCol w="3253829"/>
                <a:gridCol w="3395811"/>
                <a:gridCol w="2981325"/>
              </a:tblGrid>
              <a:tr h="55483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Konteks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Hormat (Respect)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Tanggung Jawab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Lato"/>
                        </a:rPr>
                        <a:t>Aman (Safe)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5483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Ruang Kelas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Mendengarkan saat rekan bicara.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Membawa alat tulis lengkap.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Menjaga jarak fisik yang sopan.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483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Kantin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Antre dengan tertib &amp; sabar.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Membereskan sisa makanan sendiri.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Berjalan dengan tenang di area.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48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4155"/>
                          </a:solidFill>
                          <a:latin typeface="Lato"/>
                        </a:rPr>
                        <a:t>Asrama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Menghargai waktu istirahat rekan.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Menjaga kebersihan lemari pribadi.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4155"/>
                          </a:solidFill>
                          <a:latin typeface="Lato"/>
                        </a:rPr>
                        <a:t>Mematikan listrik saat keluar.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Contoh Matriks Ekspektasi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14537"/>
            <a:ext cx="5334000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24062"/>
            <a:ext cx="5314950" cy="379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16693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Tier 1 – Universal (80-90%):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Strategi pencegahan untuk seluruh siswa tanpa kecuali.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9412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Tier 2 – Targeted (10-15%):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Dukungan kelompok kecil bagi siswa yang mulai menunjukkan risiko.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7188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Lato"/>
              </a:rPr>
              <a:t>Tier 3 – Intensive (1-5%):</a:t>
            </a:r>
            <a:r>
              <a:rPr b="0" sz="1350" i="0" u="none">
                <a:solidFill>
                  <a:srgbClr val="334155"/>
                </a:solidFill>
                <a:latin typeface="Lato"/>
              </a:rPr>
              <a:t> Intervensi individual mendalam dengan bantuan tenaga ahli/keluarga.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Model Dukungan Bertingkat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643437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Lato"/>
              </a:rPr>
              <a:t>PBIS adalah siklus perbaikan berkelanjutan, bukan proyek sekali jalan.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322421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72530" y="31099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733" y="3481387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0B981"/>
                </a:solidFill>
                <a:latin typeface="Poppins"/>
              </a:rPr>
              <a:t>Tetapkan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767137"/>
            <a:ext cx="243066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Ekspektasi perilaku per area.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5210" y="31099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413" y="3481387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0B981"/>
                </a:solidFill>
                <a:latin typeface="Poppins"/>
              </a:rPr>
              <a:t>Ajarkan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4180" y="3767137"/>
            <a:ext cx="243066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Latih secara eksplisit.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17891" y="31099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94" y="3481387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0B981"/>
                </a:solidFill>
                <a:latin typeface="Poppins"/>
              </a:rPr>
              <a:t>Amati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6860" y="3767137"/>
            <a:ext cx="243066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Pantau &amp; kumpulkan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90571" y="31099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8774" y="3481387"/>
            <a:ext cx="25521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0B981"/>
                </a:solidFill>
                <a:latin typeface="Poppins"/>
              </a:rPr>
              <a:t>Evaluasi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541" y="3767137"/>
            <a:ext cx="243066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Sempurnakan sistem rutin.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Siklus Implementasi PBIS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9800"/>
            <a:ext cx="3555950" cy="3419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209800"/>
            <a:ext cx="3555950" cy="3419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209800"/>
            <a:ext cx="3555950" cy="3419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57450"/>
            <a:ext cx="3060650" cy="1714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5600" y="2457450"/>
            <a:ext cx="306065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050" y="2457450"/>
            <a:ext cx="306065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633" y="4314825"/>
            <a:ext cx="321368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Konsistensi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724400"/>
            <a:ext cx="3060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Berlaku seragam di seluruh lingkungan sekolah.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084" y="4314825"/>
            <a:ext cx="321368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Objektivitas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600" y="4724400"/>
            <a:ext cx="3060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Evaluasi berbasis bukti nyata (data), bukan persepsi.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5534" y="4314825"/>
            <a:ext cx="321368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Poppins"/>
              </a:rPr>
              <a:t>Efisiensi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050" y="4724400"/>
            <a:ext cx="30606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Lato"/>
              </a:rPr>
              <a:t>Fokus sumber daya pada siswa yang paling membutuhkan.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2466975"/>
            <a:ext cx="3041600" cy="1695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5125" y="2466975"/>
            <a:ext cx="3041600" cy="1695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575" y="2466975"/>
            <a:ext cx="3041600" cy="1695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Kekuatan Sistemik PBIS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200" y="2677715"/>
            <a:ext cx="8229600" cy="20264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b="0" sz="2850" i="1" u="none">
                <a:solidFill>
                  <a:srgbClr val="0F172A"/>
                </a:solidFill>
                <a:latin typeface="Poppins"/>
              </a:rPr>
              <a:t> TUMBUH menjawab "apa" dan "mengapa" (Filosofi &amp; Capacity Framework), sedangkan PBIS membantu menjawab "bagaimana" (Implementasi Sistemik).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3950" y="5066109"/>
            <a:ext cx="99441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334155"/>
                </a:solidFill>
                <a:latin typeface="Lato"/>
              </a:rPr>
              <a:t>PBIS bukan fondasi nilai, melainkan </a:t>
            </a:r>
            <a:r>
              <a:rPr b="1" sz="1650" i="0" u="none">
                <a:solidFill>
                  <a:srgbClr val="334155"/>
                </a:solidFill>
                <a:latin typeface="Lato"/>
              </a:rPr>
              <a:t>Integrated Approach</a:t>
            </a:r>
            <a:r>
              <a:rPr b="0" sz="1650" i="0" u="none">
                <a:solidFill>
                  <a:srgbClr val="334155"/>
                </a:solidFill>
                <a:latin typeface="Lato"/>
              </a:rPr>
              <a:t> yang mengoperasionalkan karakter secara harian.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4950" y="2296715"/>
            <a:ext cx="36195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b="0" sz="7500" i="1" u="none">
                <a:solidFill>
                  <a:srgbClr val="10B981"/>
                </a:solidFill>
                <a:latin typeface="Poppins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PBIS dalam Arsitektur TUMBUH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257425"/>
            <a:ext cx="116014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0F172A"/>
                </a:solidFill>
                <a:latin typeface="Poppins"/>
              </a:rPr>
              <a:t>Pertanyaan &amp;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305175"/>
            <a:ext cx="762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64748B"/>
                </a:solidFill>
                <a:latin typeface="Lato"/>
              </a:rPr>
              <a:t>Bagaimana kita akan menarik bagian terbaik dari PBIS untuk memperkuat ekosistem TUMBUH?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71975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10B981"/>
                </a:solidFill>
                <a:latin typeface="Lato"/>
              </a:rPr>
              <a:t>Sesi Bedah Konsep Selesai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381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152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24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143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914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86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412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253126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https://www.waterford.org/wp-content/uploads/2019/02/Webp.net-resizeimage-e1549300717380.png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276463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www.waterford.org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9565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33027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https://www.rib-software.com/app/uploads/2024/06/construction-project-dashboard.webp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35361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www.rib-software.com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671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40743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https://s3.amazonaws.com/prod-hmhco-vmg-craftcms-public/_transforms/blog/_xlarge/Shaped_2023_RTI_bell-curve-with-title_WF1735931.jpeg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43076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www.hmhco.com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387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484584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Lato"/>
              </a:rPr>
              <a:t>https://www.pbisrewards.com/wp-content/uploads/school-wide-pbis-matrix-thumb-450x340.jpg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507920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www.pbisrewards.com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0F172A"/>
                </a:solidFill>
                <a:latin typeface="Poppins"/>
              </a:rPr>
              <a:t>Image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