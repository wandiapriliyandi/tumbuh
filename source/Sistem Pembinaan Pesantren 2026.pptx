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Plus Jakarta Sans ExtraBold"/>
      <p:bold r:id="rId32"/>
      <p:boldItalic r:id="rId33"/>
    </p:embeddedFont>
    <p:embeddedFont>
      <p:font typeface="Inter SemiBold"/>
      <p:regular r:id="rId34"/>
      <p:bold r:id="rId35"/>
      <p:italic r:id="rId36"/>
      <p:boldItalic r:id="rId37"/>
    </p:embeddedFont>
    <p:embeddedFont>
      <p:font typeface="Inter Light"/>
      <p:regular r:id="rId38"/>
      <p:bold r:id="rId39"/>
      <p:italic r:id="rId40"/>
      <p:boldItalic r:id="rId41"/>
    </p:embeddedFont>
    <p:embeddedFont>
      <p:font typeface="Plus Jakarta Sans"/>
      <p:bold r:id="rId42"/>
      <p:boldItalic r:id="rId43"/>
    </p:embeddedFont>
    <p:embeddedFont>
      <p:font typeface="Inter"/>
      <p:bold r:id="rId44"/>
      <p:boldItalic r:id="rId45"/>
    </p:embeddedFont>
    <p:embeddedFont>
      <p:font typeface="Plus Jakarta Sans SemiBold"/>
      <p:regular r:id="rId46"/>
      <p:bold r:id="rId47"/>
      <p:italic r:id="rId48"/>
      <p:boldItalic r:id="rId49"/>
    </p:embeddedFont>
    <p:embeddedFont>
      <p:font typeface="Inter Medium"/>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Light-italic.fntdata"/><Relationship Id="rId42" Type="http://schemas.openxmlformats.org/officeDocument/2006/relationships/font" Target="fonts/PlusJakartaSans-bold.fntdata"/><Relationship Id="rId41" Type="http://schemas.openxmlformats.org/officeDocument/2006/relationships/font" Target="fonts/InterLight-boldItalic.fntdata"/><Relationship Id="rId44" Type="http://schemas.openxmlformats.org/officeDocument/2006/relationships/font" Target="fonts/Inter-bold.fntdata"/><Relationship Id="rId43" Type="http://schemas.openxmlformats.org/officeDocument/2006/relationships/font" Target="fonts/PlusJakartaSans-boldItalic.fntdata"/><Relationship Id="rId46" Type="http://schemas.openxmlformats.org/officeDocument/2006/relationships/font" Target="fonts/PlusJakartaSansSemiBold-regular.fntdata"/><Relationship Id="rId45" Type="http://schemas.openxmlformats.org/officeDocument/2006/relationships/font" Target="fonts/Inter-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lusJakartaSansSemiBold-italic.fntdata"/><Relationship Id="rId47" Type="http://schemas.openxmlformats.org/officeDocument/2006/relationships/font" Target="fonts/PlusJakartaSansSemiBold-bold.fntdata"/><Relationship Id="rId49" Type="http://schemas.openxmlformats.org/officeDocument/2006/relationships/font" Target="fonts/PlusJakartaSansSemiBold-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font" Target="fonts/PlusJakartaSansExtraBold-boldItalic.fntdata"/><Relationship Id="rId32" Type="http://schemas.openxmlformats.org/officeDocument/2006/relationships/font" Target="fonts/PlusJakartaSansExtraBold-bold.fntdata"/><Relationship Id="rId35" Type="http://schemas.openxmlformats.org/officeDocument/2006/relationships/font" Target="fonts/InterSemiBold-bold.fntdata"/><Relationship Id="rId34" Type="http://schemas.openxmlformats.org/officeDocument/2006/relationships/font" Target="fonts/InterSemiBold-regular.fntdata"/><Relationship Id="rId37" Type="http://schemas.openxmlformats.org/officeDocument/2006/relationships/font" Target="fonts/InterSemiBold-boldItalic.fntdata"/><Relationship Id="rId36" Type="http://schemas.openxmlformats.org/officeDocument/2006/relationships/font" Target="fonts/InterSemiBold-italic.fntdata"/><Relationship Id="rId39" Type="http://schemas.openxmlformats.org/officeDocument/2006/relationships/font" Target="fonts/InterLight-bold.fntdata"/><Relationship Id="rId38" Type="http://schemas.openxmlformats.org/officeDocument/2006/relationships/font" Target="fonts/InterLight-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InterMedium-bold.fntdata"/><Relationship Id="rId50" Type="http://schemas.openxmlformats.org/officeDocument/2006/relationships/font" Target="fonts/InterMedium-regular.fntdata"/><Relationship Id="rId53" Type="http://schemas.openxmlformats.org/officeDocument/2006/relationships/font" Target="fonts/InterMedium-boldItalic.fntdata"/><Relationship Id="rId52" Type="http://schemas.openxmlformats.org/officeDocument/2006/relationships/font" Target="fonts/InterMedium-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444571d24_3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f444571d24_3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f444571d24_3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f444571d24_3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444571d24_2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f444571d24_2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f444571d24_2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f444571d24_2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f444571d24_2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f444571d24_2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f444571d24_2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f444571d24_2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f444571d24_2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f444571d24_2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f444571d24_2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f444571d24_2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f444571d24_2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f444571d24_2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f444571d24_2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f444571d24_2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f444571d24_2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f444571d24_2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f444571d24_2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f444571d24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f444571d24_1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f444571d24_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f444571d24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f444571d24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f444571d24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f444571d24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f444571d24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3f444571d24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f444571d24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f444571d24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f444571d24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f444571d24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f444571d24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f444571d24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f444571d24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f444571d24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f444571d24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3f444571d24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f444571d24_1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f444571d24_1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f444571d24_1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3f444571d24_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f444571d24_1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89" name="Google Shape;689;g3f444571d24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3f444571d24_1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3f444571d24_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f444571d24_1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3f444571d24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444571d24_13_0)">
  <p:cSld name="Generated (g3f444571d24_13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4.png"/><Relationship Id="rId7"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7.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grpSp>
        <p:nvGrpSpPr>
          <p:cNvPr id="55" name="Google Shape;55;p14"/>
          <p:cNvGrpSpPr/>
          <p:nvPr/>
        </p:nvGrpSpPr>
        <p:grpSpPr>
          <a:xfrm>
            <a:off x="0" y="-1428750"/>
            <a:ext cx="10572750" cy="6572250"/>
            <a:chOff x="0" y="-1428750"/>
            <a:chExt cx="10572750" cy="6572250"/>
          </a:xfrm>
        </p:grpSpPr>
        <p:sp>
          <p:nvSpPr>
            <p:cNvPr id="56" name="Google Shape;56;p1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7" name="Google Shape;57;p14"/>
            <p:cNvGrpSpPr/>
            <p:nvPr/>
          </p:nvGrpSpPr>
          <p:grpSpPr>
            <a:xfrm>
              <a:off x="7715250" y="-1428750"/>
              <a:ext cx="2857500" cy="2857500"/>
              <a:chOff x="7715250" y="-1428750"/>
              <a:chExt cx="2857500" cy="2857500"/>
            </a:xfrm>
          </p:grpSpPr>
          <p:sp>
            <p:nvSpPr>
              <p:cNvPr id="58" name="Google Shape;58;p14"/>
              <p:cNvSpPr/>
              <p:nvPr/>
            </p:nvSpPr>
            <p:spPr>
              <a:xfrm>
                <a:off x="7715250" y="-1428750"/>
                <a:ext cx="2857500" cy="2857500"/>
              </a:xfrm>
              <a:prstGeom prst="ellipse">
                <a:avLst/>
              </a:prstGeom>
              <a:solidFill>
                <a:srgbClr val="D1FAE5">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 name="Google Shape;59;p14"/>
              <p:cNvSpPr/>
              <p:nvPr/>
            </p:nvSpPr>
            <p:spPr>
              <a:xfrm>
                <a:off x="8191500" y="-952500"/>
                <a:ext cx="1905000" cy="1905000"/>
              </a:xfrm>
              <a:prstGeom prst="ellipse">
                <a:avLst/>
              </a:prstGeom>
              <a:solidFill>
                <a:srgbClr val="10B981">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60" name="Google Shape;60;p14"/>
            <p:cNvGrpSpPr/>
            <p:nvPr/>
          </p:nvGrpSpPr>
          <p:grpSpPr>
            <a:xfrm>
              <a:off x="0" y="4762500"/>
              <a:ext cx="1143000" cy="381000"/>
              <a:chOff x="0" y="4762500"/>
              <a:chExt cx="1143000" cy="381000"/>
            </a:xfrm>
          </p:grpSpPr>
          <p:sp>
            <p:nvSpPr>
              <p:cNvPr id="61" name="Google Shape;61;p14"/>
              <p:cNvSpPr/>
              <p:nvPr/>
            </p:nvSpPr>
            <p:spPr>
              <a:xfrm>
                <a:off x="0" y="4953000"/>
                <a:ext cx="1143000" cy="190500"/>
              </a:xfrm>
              <a:prstGeom prst="rect">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 name="Google Shape;62;p14"/>
              <p:cNvSpPr/>
              <p:nvPr/>
            </p:nvSpPr>
            <p:spPr>
              <a:xfrm>
                <a:off x="0" y="4762500"/>
                <a:ext cx="381000" cy="1905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63" name="Google Shape;63;p14"/>
            <p:cNvGrpSpPr/>
            <p:nvPr/>
          </p:nvGrpSpPr>
          <p:grpSpPr>
            <a:xfrm>
              <a:off x="457200" y="457200"/>
              <a:ext cx="342900" cy="342900"/>
              <a:chOff x="0" y="0"/>
              <a:chExt cx="228600" cy="228600"/>
            </a:xfrm>
          </p:grpSpPr>
          <p:sp>
            <p:nvSpPr>
              <p:cNvPr id="64" name="Google Shape;64;p14"/>
              <p:cNvSpPr/>
              <p:nvPr/>
            </p:nvSpPr>
            <p:spPr>
              <a:xfrm>
                <a:off x="0" y="0"/>
                <a:ext cx="228600" cy="2286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 name="Google Shape;65;p14"/>
              <p:cNvSpPr/>
              <p:nvPr/>
            </p:nvSpPr>
            <p:spPr>
              <a:xfrm>
                <a:off x="38100" y="38100"/>
                <a:ext cx="152400" cy="1524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 name="Google Shape;66;p14"/>
              <p:cNvSpPr/>
              <p:nvPr/>
            </p:nvSpPr>
            <p:spPr>
              <a:xfrm>
                <a:off x="85725" y="85725"/>
                <a:ext cx="57300" cy="573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67" name="Google Shape;67;p14"/>
          <p:cNvGrpSpPr/>
          <p:nvPr/>
        </p:nvGrpSpPr>
        <p:grpSpPr>
          <a:xfrm>
            <a:off x="457200" y="1714500"/>
            <a:ext cx="8229600" cy="2000250"/>
            <a:chOff x="457200" y="1714500"/>
            <a:chExt cx="8229600" cy="2000250"/>
          </a:xfrm>
        </p:grpSpPr>
        <p:sp>
          <p:nvSpPr>
            <p:cNvPr id="68" name="Google Shape;68;p14"/>
            <p:cNvSpPr txBox="1"/>
            <p:nvPr/>
          </p:nvSpPr>
          <p:spPr>
            <a:xfrm>
              <a:off x="457200" y="1714500"/>
              <a:ext cx="8229600" cy="1238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3150">
                  <a:solidFill>
                    <a:srgbClr val="111827"/>
                  </a:solidFill>
                  <a:latin typeface="Plus Jakarta Sans ExtraBold"/>
                  <a:ea typeface="Plus Jakarta Sans ExtraBold"/>
                  <a:cs typeface="Plus Jakarta Sans ExtraBold"/>
                  <a:sym typeface="Plus Jakarta Sans ExtraBold"/>
                </a:rPr>
                <a:t>Sistem Pembinaan Pesantren</a:t>
              </a:r>
              <a:r>
                <a:rPr lang="en" sz="3150">
                  <a:solidFill>
                    <a:srgbClr val="111827"/>
                  </a:solidFill>
                  <a:latin typeface="Plus Jakarta Sans ExtraBold"/>
                  <a:ea typeface="Plus Jakarta Sans ExtraBold"/>
                  <a:cs typeface="Plus Jakarta Sans ExtraBold"/>
                  <a:sym typeface="Plus Jakarta Sans ExtraBold"/>
                </a:rPr>
                <a:t> 2026</a:t>
              </a:r>
              <a:endParaRPr b="0" sz="3150">
                <a:solidFill>
                  <a:srgbClr val="111827"/>
                </a:solidFill>
                <a:latin typeface="Plus Jakarta Sans ExtraBold"/>
                <a:ea typeface="Plus Jakarta Sans ExtraBold"/>
                <a:cs typeface="Plus Jakarta Sans ExtraBold"/>
                <a:sym typeface="Plus Jakarta Sans ExtraBold"/>
              </a:endParaRPr>
            </a:p>
          </p:txBody>
        </p:sp>
        <p:sp>
          <p:nvSpPr>
            <p:cNvPr id="69" name="Google Shape;69;p14"/>
            <p:cNvSpPr txBox="1"/>
            <p:nvPr/>
          </p:nvSpPr>
          <p:spPr>
            <a:xfrm>
              <a:off x="457200" y="3143250"/>
              <a:ext cx="8229600" cy="571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200"/>
                </a:spcAft>
                <a:buNone/>
              </a:pPr>
              <a:r>
                <a:rPr b="0" lang="en" sz="1500">
                  <a:solidFill>
                    <a:srgbClr val="059669"/>
                  </a:solidFill>
                  <a:latin typeface="Plus Jakarta Sans SemiBold"/>
                  <a:ea typeface="Plus Jakarta Sans SemiBold"/>
                  <a:cs typeface="Plus Jakarta Sans SemiBold"/>
                  <a:sym typeface="Plus Jakarta Sans SemiBold"/>
                </a:rPr>
                <a:t>Pe</a:t>
              </a:r>
              <a:r>
                <a:rPr lang="en" sz="1500">
                  <a:solidFill>
                    <a:srgbClr val="059669"/>
                  </a:solidFill>
                  <a:latin typeface="Plus Jakarta Sans SemiBold"/>
                  <a:ea typeface="Plus Jakarta Sans SemiBold"/>
                  <a:cs typeface="Plus Jakarta Sans SemiBold"/>
                  <a:sym typeface="Plus Jakarta Sans SemiBold"/>
                </a:rPr>
                <a:t>nyusun</a:t>
              </a:r>
              <a:r>
                <a:rPr b="0" lang="en" sz="1500">
                  <a:solidFill>
                    <a:srgbClr val="059669"/>
                  </a:solidFill>
                  <a:latin typeface="Plus Jakarta Sans SemiBold"/>
                  <a:ea typeface="Plus Jakarta Sans SemiBold"/>
                  <a:cs typeface="Plus Jakarta Sans SemiBold"/>
                  <a:sym typeface="Plus Jakarta Sans SemiBold"/>
                </a:rPr>
                <a:t>: Wandi Apriliyandi</a:t>
              </a:r>
              <a:endParaRPr b="0" sz="1500">
                <a:solidFill>
                  <a:srgbClr val="059669"/>
                </a:solidFill>
                <a:latin typeface="Plus Jakarta Sans SemiBold"/>
                <a:ea typeface="Plus Jakarta Sans SemiBold"/>
                <a:cs typeface="Plus Jakarta Sans SemiBold"/>
                <a:sym typeface="Plus Jakarta Sans SemiBold"/>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grpSp>
        <p:nvGrpSpPr>
          <p:cNvPr id="74" name="Google Shape;74;p15"/>
          <p:cNvGrpSpPr/>
          <p:nvPr/>
        </p:nvGrpSpPr>
        <p:grpSpPr>
          <a:xfrm>
            <a:off x="0" y="0"/>
            <a:ext cx="9144000" cy="5143500"/>
            <a:chOff x="0" y="0"/>
            <a:chExt cx="9144000" cy="5143500"/>
          </a:xfrm>
        </p:grpSpPr>
        <p:sp>
          <p:nvSpPr>
            <p:cNvPr id="75" name="Google Shape;75;p15"/>
            <p:cNvSpPr/>
            <p:nvPr/>
          </p:nvSpPr>
          <p:spPr>
            <a:xfrm>
              <a:off x="0" y="0"/>
              <a:ext cx="9144000" cy="51435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6" name="Google Shape;76;p15"/>
            <p:cNvGrpSpPr/>
            <p:nvPr/>
          </p:nvGrpSpPr>
          <p:grpSpPr>
            <a:xfrm>
              <a:off x="8458200" y="457200"/>
              <a:ext cx="228600" cy="228600"/>
              <a:chOff x="0" y="0"/>
              <a:chExt cx="228600" cy="228600"/>
            </a:xfrm>
          </p:grpSpPr>
          <p:sp>
            <p:nvSpPr>
              <p:cNvPr id="77" name="Google Shape;77;p15"/>
              <p:cNvSpPr/>
              <p:nvPr/>
            </p:nvSpPr>
            <p:spPr>
              <a:xfrm>
                <a:off x="0" y="0"/>
                <a:ext cx="228600" cy="2286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 name="Google Shape;78;p15"/>
              <p:cNvSpPr/>
              <p:nvPr/>
            </p:nvSpPr>
            <p:spPr>
              <a:xfrm>
                <a:off x="38100" y="38100"/>
                <a:ext cx="152400" cy="1524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 name="Google Shape;79;p15"/>
              <p:cNvSpPr/>
              <p:nvPr/>
            </p:nvSpPr>
            <p:spPr>
              <a:xfrm>
                <a:off x="85725" y="85725"/>
                <a:ext cx="57300" cy="573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0" name="Google Shape;80;p15"/>
            <p:cNvSpPr/>
            <p:nvPr/>
          </p:nvSpPr>
          <p:spPr>
            <a:xfrm>
              <a:off x="457200" y="4762500"/>
              <a:ext cx="82296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1" name="Google Shape;81;p15"/>
          <p:cNvSpPr txBox="1"/>
          <p:nvPr/>
        </p:nvSpPr>
        <p:spPr>
          <a:xfrm>
            <a:off x="457200" y="457200"/>
            <a:ext cx="7620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111827"/>
                </a:solidFill>
                <a:latin typeface="Plus Jakarta Sans"/>
                <a:ea typeface="Plus Jakarta Sans"/>
                <a:cs typeface="Plus Jakarta Sans"/>
                <a:sym typeface="Plus Jakarta Sans"/>
              </a:rPr>
              <a:t>Mengapa Kita Berkumpul Hari Ini?</a:t>
            </a:r>
            <a:endParaRPr b="1" sz="2400">
              <a:solidFill>
                <a:srgbClr val="111827"/>
              </a:solidFill>
              <a:latin typeface="Plus Jakarta Sans"/>
              <a:ea typeface="Plus Jakarta Sans"/>
              <a:cs typeface="Plus Jakarta Sans"/>
              <a:sym typeface="Plus Jakarta Sans"/>
            </a:endParaRPr>
          </a:p>
          <a:p>
            <a:pPr indent="0" lvl="0" marL="0" rtl="0" algn="l">
              <a:spcBef>
                <a:spcPts val="900"/>
              </a:spcBef>
              <a:spcAft>
                <a:spcPts val="900"/>
              </a:spcAft>
              <a:buNone/>
            </a:pPr>
            <a:r>
              <a:rPr b="0" lang="en" sz="1050">
                <a:solidFill>
                  <a:srgbClr val="059669"/>
                </a:solidFill>
                <a:latin typeface="Inter SemiBold"/>
                <a:ea typeface="Inter SemiBold"/>
                <a:cs typeface="Inter SemiBold"/>
                <a:sym typeface="Inter SemiBold"/>
              </a:rPr>
              <a:t>Orientasi &amp; Penyelarasan Pembinaan</a:t>
            </a:r>
            <a:endParaRPr b="0" sz="1050">
              <a:solidFill>
                <a:srgbClr val="059669"/>
              </a:solidFill>
              <a:latin typeface="Inter SemiBold"/>
              <a:ea typeface="Inter SemiBold"/>
              <a:cs typeface="Inter SemiBold"/>
              <a:sym typeface="Inter SemiBold"/>
            </a:endParaRPr>
          </a:p>
        </p:txBody>
      </p:sp>
      <p:grpSp>
        <p:nvGrpSpPr>
          <p:cNvPr id="82" name="Google Shape;82;p15"/>
          <p:cNvGrpSpPr/>
          <p:nvPr/>
        </p:nvGrpSpPr>
        <p:grpSpPr>
          <a:xfrm>
            <a:off x="452438" y="1423988"/>
            <a:ext cx="8234363" cy="2581200"/>
            <a:chOff x="452438" y="1423988"/>
            <a:chExt cx="8234363" cy="2581200"/>
          </a:xfrm>
        </p:grpSpPr>
        <p:grpSp>
          <p:nvGrpSpPr>
            <p:cNvPr id="83" name="Google Shape;83;p15"/>
            <p:cNvGrpSpPr/>
            <p:nvPr/>
          </p:nvGrpSpPr>
          <p:grpSpPr>
            <a:xfrm>
              <a:off x="452438" y="1423988"/>
              <a:ext cx="3438600" cy="2581200"/>
              <a:chOff x="452438" y="1423988"/>
              <a:chExt cx="3438600" cy="2581200"/>
            </a:xfrm>
          </p:grpSpPr>
          <p:pic>
            <p:nvPicPr>
              <p:cNvPr id="84" name="Google Shape;84;p15"/>
              <p:cNvPicPr preferRelativeResize="0"/>
              <p:nvPr/>
            </p:nvPicPr>
            <p:blipFill rotWithShape="1">
              <a:blip r:embed="rId3">
                <a:alphaModFix/>
              </a:blip>
              <a:srcRect b="0" l="0" r="0" t="0"/>
              <a:stretch/>
            </p:blipFill>
            <p:spPr>
              <a:xfrm>
                <a:off x="452438" y="1423988"/>
                <a:ext cx="3438600" cy="2581200"/>
              </a:xfrm>
              <a:prstGeom prst="rect">
                <a:avLst/>
              </a:prstGeom>
              <a:noFill/>
              <a:ln>
                <a:noFill/>
              </a:ln>
            </p:spPr>
          </p:pic>
          <p:sp>
            <p:nvSpPr>
              <p:cNvPr id="85" name="Google Shape;85;p15"/>
              <p:cNvSpPr txBox="1"/>
              <p:nvPr/>
            </p:nvSpPr>
            <p:spPr>
              <a:xfrm>
                <a:off x="685800" y="1666875"/>
                <a:ext cx="29718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75">
                    <a:solidFill>
                      <a:srgbClr val="059669"/>
                    </a:solidFill>
                    <a:latin typeface="Inter"/>
                    <a:ea typeface="Inter"/>
                    <a:cs typeface="Inter"/>
                    <a:sym typeface="Inter"/>
                  </a:rPr>
                  <a:t>Latar Belakang</a:t>
                </a:r>
                <a:endParaRPr b="1" sz="975">
                  <a:solidFill>
                    <a:srgbClr val="059669"/>
                  </a:solidFill>
                  <a:latin typeface="Inter"/>
                  <a:ea typeface="Inter"/>
                  <a:cs typeface="Inter"/>
                  <a:sym typeface="Inter"/>
                </a:endParaRPr>
              </a:p>
              <a:p>
                <a:pPr indent="0" lvl="0" marL="0" rtl="0" algn="l">
                  <a:spcBef>
                    <a:spcPts val="900"/>
                  </a:spcBef>
                  <a:spcAft>
                    <a:spcPts val="0"/>
                  </a:spcAft>
                  <a:buNone/>
                </a:pPr>
                <a:r>
                  <a:rPr b="0" lang="en" sz="1125">
                    <a:solidFill>
                      <a:srgbClr val="4B5563"/>
                    </a:solidFill>
                    <a:latin typeface="Inter"/>
                    <a:ea typeface="Inter"/>
                    <a:cs typeface="Inter"/>
                    <a:sym typeface="Inter"/>
                  </a:rPr>
                  <a:t>Pesantren kita terus berkembang, dan seiring dengan itu, tantangan yang kita hadapi menjadi semakin kompleks.</a:t>
                </a:r>
                <a:endParaRPr b="0" sz="1125">
                  <a:solidFill>
                    <a:srgbClr val="4B5563"/>
                  </a:solidFill>
                  <a:latin typeface="Inter"/>
                  <a:ea typeface="Inter"/>
                  <a:cs typeface="Inter"/>
                  <a:sym typeface="Inter"/>
                </a:endParaRPr>
              </a:p>
              <a:p>
                <a:pPr indent="0" lvl="0" marL="0" rtl="0" algn="l">
                  <a:spcBef>
                    <a:spcPts val="1200"/>
                  </a:spcBef>
                  <a:spcAft>
                    <a:spcPts val="0"/>
                  </a:spcAft>
                  <a:buNone/>
                </a:pPr>
                <a:r>
                  <a:rPr b="0" lang="en" sz="1125">
                    <a:solidFill>
                      <a:srgbClr val="4B5563"/>
                    </a:solidFill>
                    <a:latin typeface="Inter"/>
                    <a:ea typeface="Inter"/>
                    <a:cs typeface="Inter"/>
                    <a:sym typeface="Inter"/>
                  </a:rPr>
                  <a:t>Sistem pembinaan kita harus ikut berevolusi untuk menjawab tantangan tersebut.</a:t>
                </a:r>
                <a:endParaRPr b="0" sz="1125">
                  <a:solidFill>
                    <a:srgbClr val="4B5563"/>
                  </a:solidFill>
                  <a:latin typeface="Inter"/>
                  <a:ea typeface="Inter"/>
                  <a:cs typeface="Inter"/>
                  <a:sym typeface="Inter"/>
                </a:endParaRPr>
              </a:p>
              <a:p>
                <a:pPr indent="0" lvl="0" marL="0" rtl="0" algn="l">
                  <a:spcBef>
                    <a:spcPts val="1200"/>
                  </a:spcBef>
                  <a:spcAft>
                    <a:spcPts val="600"/>
                  </a:spcAft>
                  <a:buNone/>
                </a:pPr>
                <a:r>
                  <a:rPr b="0" lang="en" sz="1125">
                    <a:solidFill>
                      <a:srgbClr val="111827"/>
                    </a:solidFill>
                    <a:latin typeface="Inter SemiBold"/>
                    <a:ea typeface="Inter SemiBold"/>
                    <a:cs typeface="Inter SemiBold"/>
                    <a:sym typeface="Inter SemiBold"/>
                  </a:rPr>
                  <a:t>Pertemuan ini memiliki tiga tujuan utama:</a:t>
                </a:r>
                <a:endParaRPr b="0" sz="1125">
                  <a:solidFill>
                    <a:srgbClr val="111827"/>
                  </a:solidFill>
                  <a:latin typeface="Inter SemiBold"/>
                  <a:ea typeface="Inter SemiBold"/>
                  <a:cs typeface="Inter SemiBold"/>
                  <a:sym typeface="Inter SemiBold"/>
                </a:endParaRPr>
              </a:p>
            </p:txBody>
          </p:sp>
        </p:grpSp>
        <p:grpSp>
          <p:nvGrpSpPr>
            <p:cNvPr id="86" name="Google Shape;86;p15"/>
            <p:cNvGrpSpPr/>
            <p:nvPr/>
          </p:nvGrpSpPr>
          <p:grpSpPr>
            <a:xfrm>
              <a:off x="4267200" y="1428750"/>
              <a:ext cx="4419600" cy="2571750"/>
              <a:chOff x="4267200" y="1428750"/>
              <a:chExt cx="4419600" cy="2571750"/>
            </a:xfrm>
          </p:grpSpPr>
          <p:grpSp>
            <p:nvGrpSpPr>
              <p:cNvPr id="87" name="Google Shape;87;p15"/>
              <p:cNvGrpSpPr/>
              <p:nvPr/>
            </p:nvGrpSpPr>
            <p:grpSpPr>
              <a:xfrm>
                <a:off x="4267200" y="1428750"/>
                <a:ext cx="4419600" cy="762000"/>
                <a:chOff x="4267200" y="1428750"/>
                <a:chExt cx="4419600" cy="762000"/>
              </a:xfrm>
            </p:grpSpPr>
            <p:sp>
              <p:nvSpPr>
                <p:cNvPr id="88" name="Google Shape;88;p15"/>
                <p:cNvSpPr/>
                <p:nvPr/>
              </p:nvSpPr>
              <p:spPr>
                <a:xfrm>
                  <a:off x="4267200" y="1428750"/>
                  <a:ext cx="4419600" cy="762000"/>
                </a:xfrm>
                <a:prstGeom prst="roundRect">
                  <a:avLst>
                    <a:gd fmla="val 10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 name="Google Shape;89;p15"/>
                <p:cNvSpPr/>
                <p:nvPr/>
              </p:nvSpPr>
              <p:spPr>
                <a:xfrm>
                  <a:off x="4267200" y="1428750"/>
                  <a:ext cx="38100" cy="7620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0" name="Google Shape;90;p15"/>
                <p:cNvGrpSpPr/>
                <p:nvPr/>
              </p:nvGrpSpPr>
              <p:grpSpPr>
                <a:xfrm>
                  <a:off x="4457700" y="1695450"/>
                  <a:ext cx="228600" cy="228600"/>
                  <a:chOff x="0" y="0"/>
                  <a:chExt cx="228600" cy="228600"/>
                </a:xfrm>
              </p:grpSpPr>
              <p:sp>
                <p:nvSpPr>
                  <p:cNvPr id="91" name="Google Shape;91;p15"/>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15"/>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93" name="Google Shape;93;p15"/>
                <p:cNvSpPr txBox="1"/>
                <p:nvPr/>
              </p:nvSpPr>
              <p:spPr>
                <a:xfrm>
                  <a:off x="4838700" y="1571625"/>
                  <a:ext cx="36576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600"/>
                    </a:spcAft>
                    <a:buNone/>
                  </a:pPr>
                  <a:r>
                    <a:rPr b="0" lang="en" sz="1125">
                      <a:solidFill>
                        <a:srgbClr val="111827"/>
                      </a:solidFill>
                      <a:latin typeface="Inter SemiBold"/>
                      <a:ea typeface="Inter SemiBold"/>
                      <a:cs typeface="Inter SemiBold"/>
                      <a:sym typeface="Inter SemiBold"/>
                    </a:rPr>
                    <a:t>Menyamakan persepsi di antara seluruh elemen pendidik.</a:t>
                  </a:r>
                  <a:endParaRPr b="0" sz="1125">
                    <a:solidFill>
                      <a:srgbClr val="111827"/>
                    </a:solidFill>
                    <a:latin typeface="Inter SemiBold"/>
                    <a:ea typeface="Inter SemiBold"/>
                    <a:cs typeface="Inter SemiBold"/>
                    <a:sym typeface="Inter SemiBold"/>
                  </a:endParaRPr>
                </a:p>
              </p:txBody>
            </p:sp>
          </p:grpSp>
          <p:grpSp>
            <p:nvGrpSpPr>
              <p:cNvPr id="94" name="Google Shape;94;p15"/>
              <p:cNvGrpSpPr/>
              <p:nvPr/>
            </p:nvGrpSpPr>
            <p:grpSpPr>
              <a:xfrm>
                <a:off x="4267200" y="2333625"/>
                <a:ext cx="4419600" cy="762000"/>
                <a:chOff x="4267200" y="2333625"/>
                <a:chExt cx="4419600" cy="762000"/>
              </a:xfrm>
            </p:grpSpPr>
            <p:sp>
              <p:nvSpPr>
                <p:cNvPr id="95" name="Google Shape;95;p15"/>
                <p:cNvSpPr/>
                <p:nvPr/>
              </p:nvSpPr>
              <p:spPr>
                <a:xfrm>
                  <a:off x="4267200" y="2333625"/>
                  <a:ext cx="4419600" cy="762000"/>
                </a:xfrm>
                <a:prstGeom prst="roundRect">
                  <a:avLst>
                    <a:gd fmla="val 10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p:nvPr/>
              </p:nvSpPr>
              <p:spPr>
                <a:xfrm>
                  <a:off x="4267200" y="2333625"/>
                  <a:ext cx="38100" cy="7620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7" name="Google Shape;97;p15"/>
                <p:cNvGrpSpPr/>
                <p:nvPr/>
              </p:nvGrpSpPr>
              <p:grpSpPr>
                <a:xfrm>
                  <a:off x="4457700" y="2600325"/>
                  <a:ext cx="228600" cy="228600"/>
                  <a:chOff x="0" y="0"/>
                  <a:chExt cx="228600" cy="228600"/>
                </a:xfrm>
              </p:grpSpPr>
              <p:sp>
                <p:nvSpPr>
                  <p:cNvPr id="98" name="Google Shape;98;p15"/>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 name="Google Shape;99;p15"/>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00" name="Google Shape;100;p15"/>
                <p:cNvSpPr txBox="1"/>
                <p:nvPr/>
              </p:nvSpPr>
              <p:spPr>
                <a:xfrm>
                  <a:off x="4838700" y="2476500"/>
                  <a:ext cx="36576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600"/>
                    </a:spcAft>
                    <a:buNone/>
                  </a:pPr>
                  <a:r>
                    <a:rPr b="0" lang="en" sz="1125">
                      <a:solidFill>
                        <a:srgbClr val="111827"/>
                      </a:solidFill>
                      <a:latin typeface="Inter SemiBold"/>
                      <a:ea typeface="Inter SemiBold"/>
                      <a:cs typeface="Inter SemiBold"/>
                      <a:sym typeface="Inter SemiBold"/>
                    </a:rPr>
                    <a:t>Memahami secara mendalam mengapa perubahan sistem ini sangat dibutuhkan saat ini.</a:t>
                  </a:r>
                  <a:endParaRPr b="0" sz="1125">
                    <a:solidFill>
                      <a:srgbClr val="111827"/>
                    </a:solidFill>
                    <a:latin typeface="Inter SemiBold"/>
                    <a:ea typeface="Inter SemiBold"/>
                    <a:cs typeface="Inter SemiBold"/>
                    <a:sym typeface="Inter SemiBold"/>
                  </a:endParaRPr>
                </a:p>
              </p:txBody>
            </p:sp>
          </p:grpSp>
          <p:grpSp>
            <p:nvGrpSpPr>
              <p:cNvPr id="101" name="Google Shape;101;p15"/>
              <p:cNvGrpSpPr/>
              <p:nvPr/>
            </p:nvGrpSpPr>
            <p:grpSpPr>
              <a:xfrm>
                <a:off x="4267200" y="3238500"/>
                <a:ext cx="4419600" cy="762000"/>
                <a:chOff x="4267200" y="3238500"/>
                <a:chExt cx="4419600" cy="762000"/>
              </a:xfrm>
            </p:grpSpPr>
            <p:sp>
              <p:nvSpPr>
                <p:cNvPr id="102" name="Google Shape;102;p15"/>
                <p:cNvSpPr/>
                <p:nvPr/>
              </p:nvSpPr>
              <p:spPr>
                <a:xfrm>
                  <a:off x="4267200" y="3238500"/>
                  <a:ext cx="4419600" cy="762000"/>
                </a:xfrm>
                <a:prstGeom prst="roundRect">
                  <a:avLst>
                    <a:gd fmla="val 10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5"/>
                <p:cNvSpPr/>
                <p:nvPr/>
              </p:nvSpPr>
              <p:spPr>
                <a:xfrm>
                  <a:off x="4267200" y="3238500"/>
                  <a:ext cx="38100" cy="7620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04" name="Google Shape;104;p15"/>
                <p:cNvGrpSpPr/>
                <p:nvPr/>
              </p:nvGrpSpPr>
              <p:grpSpPr>
                <a:xfrm>
                  <a:off x="4457700" y="3505200"/>
                  <a:ext cx="228600" cy="228600"/>
                  <a:chOff x="0" y="0"/>
                  <a:chExt cx="228600" cy="228600"/>
                </a:xfrm>
              </p:grpSpPr>
              <p:sp>
                <p:nvSpPr>
                  <p:cNvPr id="105" name="Google Shape;105;p15"/>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5"/>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07" name="Google Shape;107;p15"/>
                <p:cNvSpPr txBox="1"/>
                <p:nvPr/>
              </p:nvSpPr>
              <p:spPr>
                <a:xfrm>
                  <a:off x="4838700" y="3381375"/>
                  <a:ext cx="36576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600"/>
                    </a:spcAft>
                    <a:buNone/>
                  </a:pPr>
                  <a:r>
                    <a:rPr b="0" lang="en" sz="1125">
                      <a:solidFill>
                        <a:srgbClr val="111827"/>
                      </a:solidFill>
                      <a:latin typeface="Inter SemiBold"/>
                      <a:ea typeface="Inter SemiBold"/>
                      <a:cs typeface="Inter SemiBold"/>
                      <a:sym typeface="Inter SemiBold"/>
                    </a:rPr>
                    <a:t>Mengenal dan meresapi kerangka kerja sistem pembinaan yang baru.</a:t>
                  </a:r>
                  <a:endParaRPr b="0" sz="1125">
                    <a:solidFill>
                      <a:srgbClr val="111827"/>
                    </a:solidFill>
                    <a:latin typeface="Inter SemiBold"/>
                    <a:ea typeface="Inter SemiBold"/>
                    <a:cs typeface="Inter SemiBold"/>
                    <a:sym typeface="Inter SemiBold"/>
                  </a:endParaRPr>
                </a:p>
              </p:txBody>
            </p:sp>
          </p:grpSp>
        </p:gr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6"/>
          <p:cNvSpPr/>
          <p:nvPr/>
        </p:nvSpPr>
        <p:spPr>
          <a:xfrm>
            <a:off x="0" y="0"/>
            <a:ext cx="9144000" cy="51435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3" name="Google Shape;113;p16"/>
          <p:cNvGrpSpPr/>
          <p:nvPr/>
        </p:nvGrpSpPr>
        <p:grpSpPr>
          <a:xfrm>
            <a:off x="8458200" y="457200"/>
            <a:ext cx="228600" cy="228600"/>
            <a:chOff x="0" y="0"/>
            <a:chExt cx="228600" cy="228600"/>
          </a:xfrm>
        </p:grpSpPr>
        <p:sp>
          <p:nvSpPr>
            <p:cNvPr id="114" name="Google Shape;114;p16"/>
            <p:cNvSpPr/>
            <p:nvPr/>
          </p:nvSpPr>
          <p:spPr>
            <a:xfrm>
              <a:off x="0" y="0"/>
              <a:ext cx="228600" cy="2286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16"/>
            <p:cNvSpPr/>
            <p:nvPr/>
          </p:nvSpPr>
          <p:spPr>
            <a:xfrm>
              <a:off x="38100" y="38100"/>
              <a:ext cx="152400" cy="1524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16"/>
            <p:cNvSpPr/>
            <p:nvPr/>
          </p:nvSpPr>
          <p:spPr>
            <a:xfrm>
              <a:off x="85725" y="85725"/>
              <a:ext cx="57300" cy="573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17" name="Google Shape;117;p16"/>
          <p:cNvSpPr/>
          <p:nvPr/>
        </p:nvSpPr>
        <p:spPr>
          <a:xfrm>
            <a:off x="457200" y="4762500"/>
            <a:ext cx="82296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 name="Google Shape;118;p16"/>
          <p:cNvSpPr txBox="1"/>
          <p:nvPr/>
        </p:nvSpPr>
        <p:spPr>
          <a:xfrm>
            <a:off x="457200" y="762000"/>
            <a:ext cx="3619500" cy="361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059669"/>
                </a:solidFill>
                <a:latin typeface="Plus Jakarta Sans"/>
                <a:ea typeface="Plus Jakarta Sans"/>
                <a:cs typeface="Plus Jakarta Sans"/>
                <a:sym typeface="Plus Jakarta Sans"/>
              </a:rPr>
              <a:t>Visi Pembinaan</a:t>
            </a:r>
            <a:endParaRPr b="1" sz="1000">
              <a:solidFill>
                <a:srgbClr val="059669"/>
              </a:solidFill>
              <a:latin typeface="Plus Jakarta Sans"/>
              <a:ea typeface="Plus Jakarta Sans"/>
              <a:cs typeface="Plus Jakarta Sans"/>
              <a:sym typeface="Plus Jakarta Sans"/>
            </a:endParaRPr>
          </a:p>
          <a:p>
            <a:pPr indent="0" lvl="0" marL="0" rtl="0" algn="l">
              <a:spcBef>
                <a:spcPts val="750"/>
              </a:spcBef>
              <a:spcAft>
                <a:spcPts val="0"/>
              </a:spcAft>
              <a:buNone/>
            </a:pPr>
            <a:r>
              <a:rPr b="0" lang="en" sz="2600">
                <a:solidFill>
                  <a:srgbClr val="111827"/>
                </a:solidFill>
                <a:latin typeface="Plus Jakarta Sans ExtraBold"/>
                <a:ea typeface="Plus Jakarta Sans ExtraBold"/>
                <a:cs typeface="Plus Jakarta Sans ExtraBold"/>
                <a:sym typeface="Plus Jakarta Sans ExtraBold"/>
              </a:rPr>
              <a:t>Visi Pembinaan Pesantren</a:t>
            </a:r>
            <a:endParaRPr b="0" sz="2600">
              <a:solidFill>
                <a:srgbClr val="111827"/>
              </a:solidFill>
              <a:latin typeface="Plus Jakarta Sans ExtraBold"/>
              <a:ea typeface="Plus Jakarta Sans ExtraBold"/>
              <a:cs typeface="Plus Jakarta Sans ExtraBold"/>
              <a:sym typeface="Plus Jakarta Sans ExtraBold"/>
            </a:endParaRPr>
          </a:p>
          <a:p>
            <a:pPr indent="0" lvl="0" marL="0" rtl="0" algn="l">
              <a:spcBef>
                <a:spcPts val="1500"/>
              </a:spcBef>
              <a:spcAft>
                <a:spcPts val="0"/>
              </a:spcAft>
              <a:buNone/>
            </a:pPr>
            <a:r>
              <a:rPr b="0" lang="en" sz="1200">
                <a:solidFill>
                  <a:srgbClr val="059669"/>
                </a:solidFill>
                <a:latin typeface="Inter SemiBold"/>
                <a:ea typeface="Inter SemiBold"/>
                <a:cs typeface="Inter SemiBold"/>
                <a:sym typeface="Inter SemiBold"/>
              </a:rPr>
              <a:t>Membentuk Karakter Santri Holistik</a:t>
            </a:r>
            <a:endParaRPr b="0" sz="1200">
              <a:solidFill>
                <a:srgbClr val="059669"/>
              </a:solidFill>
              <a:latin typeface="Inter SemiBold"/>
              <a:ea typeface="Inter SemiBold"/>
              <a:cs typeface="Inter SemiBold"/>
              <a:sym typeface="Inter SemiBold"/>
            </a:endParaRPr>
          </a:p>
          <a:p>
            <a:pPr indent="0" lvl="0" marL="0" rtl="0" algn="l">
              <a:spcBef>
                <a:spcPts val="900"/>
              </a:spcBef>
              <a:spcAft>
                <a:spcPts val="1125"/>
              </a:spcAft>
              <a:buNone/>
            </a:pPr>
            <a:r>
              <a:rPr lang="en" sz="1150">
                <a:solidFill>
                  <a:srgbClr val="4B5563"/>
                </a:solidFill>
                <a:latin typeface="Inter"/>
                <a:ea typeface="Inter"/>
                <a:cs typeface="Inter"/>
                <a:sym typeface="Inter"/>
              </a:rPr>
              <a:t>Tujuan utama dari seluruh upaya pembinaan kita adalah melahirkan santri yang holistik, tidak hanya cerdas secara akademis, tetapi juga matang secara karakter.</a:t>
            </a:r>
            <a:endParaRPr>
              <a:highlight>
                <a:srgbClr val="ECFDF5"/>
              </a:highlight>
              <a:latin typeface="Plus Jakarta Sans"/>
              <a:ea typeface="Plus Jakarta Sans"/>
              <a:cs typeface="Plus Jakarta Sans"/>
              <a:sym typeface="Plus Jakarta Sans"/>
            </a:endParaRPr>
          </a:p>
        </p:txBody>
      </p:sp>
      <p:grpSp>
        <p:nvGrpSpPr>
          <p:cNvPr id="119" name="Google Shape;119;p16"/>
          <p:cNvGrpSpPr/>
          <p:nvPr/>
        </p:nvGrpSpPr>
        <p:grpSpPr>
          <a:xfrm>
            <a:off x="4381500" y="762000"/>
            <a:ext cx="4305300" cy="3619500"/>
            <a:chOff x="4381500" y="762000"/>
            <a:chExt cx="4305300" cy="3619500"/>
          </a:xfrm>
        </p:grpSpPr>
        <p:sp>
          <p:nvSpPr>
            <p:cNvPr id="120" name="Google Shape;120;p16"/>
            <p:cNvSpPr/>
            <p:nvPr/>
          </p:nvSpPr>
          <p:spPr>
            <a:xfrm>
              <a:off x="4381500" y="762000"/>
              <a:ext cx="4305300" cy="3619500"/>
            </a:xfrm>
            <a:prstGeom prst="roundRect">
              <a:avLst>
                <a:gd fmla="val 3157"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 name="Google Shape;121;p16"/>
            <p:cNvSpPr/>
            <p:nvPr/>
          </p:nvSpPr>
          <p:spPr>
            <a:xfrm>
              <a:off x="4381500" y="762000"/>
              <a:ext cx="4305300" cy="573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6"/>
            <p:cNvSpPr txBox="1"/>
            <p:nvPr/>
          </p:nvSpPr>
          <p:spPr>
            <a:xfrm>
              <a:off x="4619625" y="1000125"/>
              <a:ext cx="3829200" cy="314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050">
                  <a:solidFill>
                    <a:srgbClr val="4B5563"/>
                  </a:solidFill>
                  <a:latin typeface="Inter SemiBold"/>
                  <a:ea typeface="Inter SemiBold"/>
                  <a:cs typeface="Inter SemiBold"/>
                  <a:sym typeface="Inter SemiBold"/>
                </a:rPr>
                <a:t>Karakter utama yang ingin kita bangun meliputi:</a:t>
              </a:r>
              <a:endParaRPr b="0" sz="1050">
                <a:solidFill>
                  <a:srgbClr val="4B5563"/>
                </a:solidFill>
                <a:latin typeface="Inter SemiBold"/>
                <a:ea typeface="Inter SemiBold"/>
                <a:cs typeface="Inter SemiBold"/>
                <a:sym typeface="Inter SemiBold"/>
              </a:endParaRPr>
            </a:p>
            <a:p>
              <a:pPr indent="0" lvl="0" marL="0" rtl="0" algn="l">
                <a:spcBef>
                  <a:spcPts val="750"/>
                </a:spcBef>
                <a:spcAft>
                  <a:spcPts val="0"/>
                </a:spcAft>
                <a:buNone/>
              </a:pPr>
              <a:r>
                <a:rPr b="0" lang="en" sz="1300">
                  <a:solidFill>
                    <a:srgbClr val="10B981"/>
                  </a:solidFill>
                  <a:latin typeface="Material Icons"/>
                  <a:ea typeface="Material Icons"/>
                  <a:cs typeface="Material Icons"/>
                  <a:sym typeface="Material Icons"/>
                </a:rPr>
                <a:t>check_circle</a:t>
              </a:r>
              <a:r>
                <a:rPr b="0" lang="en" sz="1000">
                  <a:solidFill>
                    <a:srgbClr val="111827"/>
                  </a:solidFill>
                  <a:latin typeface="Inter Medium"/>
                  <a:ea typeface="Inter Medium"/>
                  <a:cs typeface="Inter Medium"/>
                  <a:sym typeface="Inter Medium"/>
                </a:rPr>
                <a:t>1. Aqidah yang Lurus</a:t>
              </a:r>
              <a:endParaRPr b="0" sz="1050">
                <a:solidFill>
                  <a:srgbClr val="4B5563"/>
                </a:solidFill>
                <a:latin typeface="Inter SemiBold"/>
                <a:ea typeface="Inter SemiBold"/>
                <a:cs typeface="Inter SemiBold"/>
                <a:sym typeface="Inter SemiBold"/>
              </a:endParaRPr>
            </a:p>
            <a:p>
              <a:pPr indent="0" lvl="0" marL="0" rtl="0" algn="l">
                <a:spcBef>
                  <a:spcPts val="450"/>
                </a:spcBef>
                <a:spcAft>
                  <a:spcPts val="0"/>
                </a:spcAft>
                <a:buNone/>
              </a:pPr>
              <a:r>
                <a:rPr b="0" lang="en" sz="1300">
                  <a:solidFill>
                    <a:srgbClr val="10B981"/>
                  </a:solidFill>
                  <a:latin typeface="Material Icons"/>
                  <a:ea typeface="Material Icons"/>
                  <a:cs typeface="Material Icons"/>
                  <a:sym typeface="Material Icons"/>
                </a:rPr>
                <a:t>check_circle</a:t>
              </a:r>
              <a:r>
                <a:rPr b="0" lang="en" sz="1000">
                  <a:solidFill>
                    <a:srgbClr val="111827"/>
                  </a:solidFill>
                  <a:latin typeface="Inter Medium"/>
                  <a:ea typeface="Inter Medium"/>
                  <a:cs typeface="Inter Medium"/>
                  <a:sym typeface="Inter Medium"/>
                </a:rPr>
                <a:t>2. Ibadah yang Benar</a:t>
              </a:r>
              <a:endParaRPr b="0" sz="1050">
                <a:solidFill>
                  <a:srgbClr val="4B5563"/>
                </a:solidFill>
                <a:latin typeface="Inter SemiBold"/>
                <a:ea typeface="Inter SemiBold"/>
                <a:cs typeface="Inter SemiBold"/>
                <a:sym typeface="Inter SemiBold"/>
              </a:endParaRPr>
            </a:p>
            <a:p>
              <a:pPr indent="0" lvl="0" marL="0" rtl="0" algn="l">
                <a:spcBef>
                  <a:spcPts val="450"/>
                </a:spcBef>
                <a:spcAft>
                  <a:spcPts val="0"/>
                </a:spcAft>
                <a:buNone/>
              </a:pPr>
              <a:r>
                <a:rPr b="0" lang="en" sz="1300">
                  <a:solidFill>
                    <a:srgbClr val="10B981"/>
                  </a:solidFill>
                  <a:latin typeface="Material Icons"/>
                  <a:ea typeface="Material Icons"/>
                  <a:cs typeface="Material Icons"/>
                  <a:sym typeface="Material Icons"/>
                </a:rPr>
                <a:t>check_circle</a:t>
              </a:r>
              <a:r>
                <a:rPr b="0" lang="en" sz="1000">
                  <a:solidFill>
                    <a:srgbClr val="111827"/>
                  </a:solidFill>
                  <a:latin typeface="Inter Medium"/>
                  <a:ea typeface="Inter Medium"/>
                  <a:cs typeface="Inter Medium"/>
                  <a:sym typeface="Inter Medium"/>
                </a:rPr>
                <a:t>3. Akhlak yang Mulia</a:t>
              </a:r>
              <a:endParaRPr b="0" sz="1050">
                <a:solidFill>
                  <a:srgbClr val="4B5563"/>
                </a:solidFill>
                <a:latin typeface="Inter SemiBold"/>
                <a:ea typeface="Inter SemiBold"/>
                <a:cs typeface="Inter SemiBold"/>
                <a:sym typeface="Inter SemiBold"/>
              </a:endParaRPr>
            </a:p>
            <a:p>
              <a:pPr indent="0" lvl="0" marL="0" rtl="0" algn="l">
                <a:spcBef>
                  <a:spcPts val="450"/>
                </a:spcBef>
                <a:spcAft>
                  <a:spcPts val="0"/>
                </a:spcAft>
                <a:buNone/>
              </a:pPr>
              <a:r>
                <a:rPr b="0" lang="en" sz="1300">
                  <a:solidFill>
                    <a:srgbClr val="10B981"/>
                  </a:solidFill>
                  <a:latin typeface="Material Icons"/>
                  <a:ea typeface="Material Icons"/>
                  <a:cs typeface="Material Icons"/>
                  <a:sym typeface="Material Icons"/>
                </a:rPr>
                <a:t>check_circle</a:t>
              </a:r>
              <a:r>
                <a:rPr b="0" lang="en" sz="1000">
                  <a:solidFill>
                    <a:srgbClr val="111827"/>
                  </a:solidFill>
                  <a:latin typeface="Inter Medium"/>
                  <a:ea typeface="Inter Medium"/>
                  <a:cs typeface="Inter Medium"/>
                  <a:sym typeface="Inter Medium"/>
                </a:rPr>
                <a:t>4. Fisik yang Sehat dan Kuat</a:t>
              </a:r>
              <a:endParaRPr b="0" sz="1050">
                <a:solidFill>
                  <a:srgbClr val="4B5563"/>
                </a:solidFill>
                <a:latin typeface="Inter SemiBold"/>
                <a:ea typeface="Inter SemiBold"/>
                <a:cs typeface="Inter SemiBold"/>
                <a:sym typeface="Inter SemiBold"/>
              </a:endParaRPr>
            </a:p>
            <a:p>
              <a:pPr indent="0" lvl="0" marL="0" rtl="0" algn="l">
                <a:spcBef>
                  <a:spcPts val="450"/>
                </a:spcBef>
                <a:spcAft>
                  <a:spcPts val="0"/>
                </a:spcAft>
                <a:buNone/>
              </a:pPr>
              <a:r>
                <a:rPr b="0" lang="en" sz="1300">
                  <a:solidFill>
                    <a:srgbClr val="10B981"/>
                  </a:solidFill>
                  <a:latin typeface="Material Icons"/>
                  <a:ea typeface="Material Icons"/>
                  <a:cs typeface="Material Icons"/>
                  <a:sym typeface="Material Icons"/>
                </a:rPr>
                <a:t>check_circle</a:t>
              </a:r>
              <a:r>
                <a:rPr b="0" lang="en" sz="1000">
                  <a:solidFill>
                    <a:srgbClr val="111827"/>
                  </a:solidFill>
                  <a:latin typeface="Inter Medium"/>
                  <a:ea typeface="Inter Medium"/>
                  <a:cs typeface="Inter Medium"/>
                  <a:sym typeface="Inter Medium"/>
                </a:rPr>
                <a:t>5. Wawasan yang Luas</a:t>
              </a:r>
              <a:endParaRPr b="0" sz="1050">
                <a:solidFill>
                  <a:srgbClr val="4B5563"/>
                </a:solidFill>
                <a:latin typeface="Inter SemiBold"/>
                <a:ea typeface="Inter SemiBold"/>
                <a:cs typeface="Inter SemiBold"/>
                <a:sym typeface="Inter SemiBold"/>
              </a:endParaRPr>
            </a:p>
            <a:p>
              <a:pPr indent="0" lvl="0" marL="0" rtl="0" algn="l">
                <a:spcBef>
                  <a:spcPts val="450"/>
                </a:spcBef>
                <a:spcAft>
                  <a:spcPts val="0"/>
                </a:spcAft>
                <a:buNone/>
              </a:pPr>
              <a:r>
                <a:rPr b="0" lang="en" sz="1300">
                  <a:solidFill>
                    <a:srgbClr val="10B981"/>
                  </a:solidFill>
                  <a:latin typeface="Material Icons"/>
                  <a:ea typeface="Material Icons"/>
                  <a:cs typeface="Material Icons"/>
                  <a:sym typeface="Material Icons"/>
                </a:rPr>
                <a:t>check_circle</a:t>
              </a:r>
              <a:r>
                <a:rPr b="0" lang="en" sz="1000">
                  <a:solidFill>
                    <a:srgbClr val="111827"/>
                  </a:solidFill>
                  <a:latin typeface="Inter Medium"/>
                  <a:ea typeface="Inter Medium"/>
                  <a:cs typeface="Inter Medium"/>
                  <a:sym typeface="Inter Medium"/>
                </a:rPr>
                <a:t>6. Mampu Mengendalikan Diri</a:t>
              </a:r>
              <a:endParaRPr b="0" sz="1050">
                <a:solidFill>
                  <a:srgbClr val="4B5563"/>
                </a:solidFill>
                <a:latin typeface="Inter SemiBold"/>
                <a:ea typeface="Inter SemiBold"/>
                <a:cs typeface="Inter SemiBold"/>
                <a:sym typeface="Inter SemiBold"/>
              </a:endParaRPr>
            </a:p>
            <a:p>
              <a:pPr indent="0" lvl="0" marL="0" rtl="0" algn="l">
                <a:spcBef>
                  <a:spcPts val="450"/>
                </a:spcBef>
                <a:spcAft>
                  <a:spcPts val="0"/>
                </a:spcAft>
                <a:buNone/>
              </a:pPr>
              <a:r>
                <a:rPr b="0" lang="en" sz="1300">
                  <a:solidFill>
                    <a:srgbClr val="10B981"/>
                  </a:solidFill>
                  <a:latin typeface="Material Icons"/>
                  <a:ea typeface="Material Icons"/>
                  <a:cs typeface="Material Icons"/>
                  <a:sym typeface="Material Icons"/>
                </a:rPr>
                <a:t>check_circle</a:t>
              </a:r>
              <a:r>
                <a:rPr b="0" lang="en" sz="1000">
                  <a:solidFill>
                    <a:srgbClr val="111827"/>
                  </a:solidFill>
                  <a:latin typeface="Inter Medium"/>
                  <a:ea typeface="Inter Medium"/>
                  <a:cs typeface="Inter Medium"/>
                  <a:sym typeface="Inter Medium"/>
                </a:rPr>
                <a:t>7. Disiplin Mengelola Waktu</a:t>
              </a:r>
              <a:endParaRPr b="0" sz="1050">
                <a:solidFill>
                  <a:srgbClr val="4B5563"/>
                </a:solidFill>
                <a:latin typeface="Inter SemiBold"/>
                <a:ea typeface="Inter SemiBold"/>
                <a:cs typeface="Inter SemiBold"/>
                <a:sym typeface="Inter SemiBold"/>
              </a:endParaRPr>
            </a:p>
            <a:p>
              <a:pPr indent="0" lvl="0" marL="0" rtl="0" algn="l">
                <a:spcBef>
                  <a:spcPts val="450"/>
                </a:spcBef>
                <a:spcAft>
                  <a:spcPts val="0"/>
                </a:spcAft>
                <a:buNone/>
              </a:pPr>
              <a:r>
                <a:rPr b="0" lang="en" sz="1300">
                  <a:solidFill>
                    <a:srgbClr val="10B981"/>
                  </a:solidFill>
                  <a:latin typeface="Material Icons"/>
                  <a:ea typeface="Material Icons"/>
                  <a:cs typeface="Material Icons"/>
                  <a:sym typeface="Material Icons"/>
                </a:rPr>
                <a:t>check_circle</a:t>
              </a:r>
              <a:r>
                <a:rPr b="0" lang="en" sz="1000">
                  <a:solidFill>
                    <a:srgbClr val="111827"/>
                  </a:solidFill>
                  <a:latin typeface="Inter Medium"/>
                  <a:ea typeface="Inter Medium"/>
                  <a:cs typeface="Inter Medium"/>
                  <a:sym typeface="Inter Medium"/>
                </a:rPr>
                <a:t>8. Tertib dan Bertanggung Jawab</a:t>
              </a:r>
              <a:endParaRPr b="0" sz="1050">
                <a:solidFill>
                  <a:srgbClr val="4B5563"/>
                </a:solidFill>
                <a:latin typeface="Inter SemiBold"/>
                <a:ea typeface="Inter SemiBold"/>
                <a:cs typeface="Inter SemiBold"/>
                <a:sym typeface="Inter SemiBold"/>
              </a:endParaRPr>
            </a:p>
            <a:p>
              <a:pPr indent="0" lvl="0" marL="0" rtl="0" algn="l">
                <a:spcBef>
                  <a:spcPts val="450"/>
                </a:spcBef>
                <a:spcAft>
                  <a:spcPts val="0"/>
                </a:spcAft>
                <a:buNone/>
              </a:pPr>
              <a:r>
                <a:rPr b="0" lang="en" sz="1300">
                  <a:solidFill>
                    <a:srgbClr val="10B981"/>
                  </a:solidFill>
                  <a:latin typeface="Material Icons"/>
                  <a:ea typeface="Material Icons"/>
                  <a:cs typeface="Material Icons"/>
                  <a:sym typeface="Material Icons"/>
                </a:rPr>
                <a:t>check_circle</a:t>
              </a:r>
              <a:r>
                <a:rPr b="0" lang="en" sz="1000">
                  <a:solidFill>
                    <a:srgbClr val="111827"/>
                  </a:solidFill>
                  <a:latin typeface="Inter Medium"/>
                  <a:ea typeface="Inter Medium"/>
                  <a:cs typeface="Inter Medium"/>
                  <a:sym typeface="Inter Medium"/>
                </a:rPr>
                <a:t>9. Mandiri dan Produktif</a:t>
              </a:r>
              <a:endParaRPr b="0" sz="1050">
                <a:solidFill>
                  <a:srgbClr val="4B5563"/>
                </a:solidFill>
                <a:latin typeface="Inter SemiBold"/>
                <a:ea typeface="Inter SemiBold"/>
                <a:cs typeface="Inter SemiBold"/>
                <a:sym typeface="Inter SemiBold"/>
              </a:endParaRPr>
            </a:p>
            <a:p>
              <a:pPr indent="0" lvl="0" marL="0" rtl="0" algn="l">
                <a:spcBef>
                  <a:spcPts val="450"/>
                </a:spcBef>
                <a:spcAft>
                  <a:spcPts val="0"/>
                </a:spcAft>
                <a:buNone/>
              </a:pPr>
              <a:r>
                <a:rPr b="0" lang="en" sz="1300">
                  <a:solidFill>
                    <a:srgbClr val="10B981"/>
                  </a:solidFill>
                  <a:latin typeface="Material Icons"/>
                  <a:ea typeface="Material Icons"/>
                  <a:cs typeface="Material Icons"/>
                  <a:sym typeface="Material Icons"/>
                </a:rPr>
                <a:t>check_circle</a:t>
              </a:r>
              <a:r>
                <a:rPr b="0" lang="en" sz="1000">
                  <a:solidFill>
                    <a:srgbClr val="111827"/>
                  </a:solidFill>
                  <a:latin typeface="Inter Medium"/>
                  <a:ea typeface="Inter Medium"/>
                  <a:cs typeface="Inter Medium"/>
                  <a:sym typeface="Inter Medium"/>
                </a:rPr>
                <a:t>10. Bermanfaat bagi Sesama</a:t>
              </a:r>
              <a:endParaRPr b="0" sz="1050">
                <a:solidFill>
                  <a:srgbClr val="4B5563"/>
                </a:solidFill>
                <a:latin typeface="Inter SemiBold"/>
                <a:ea typeface="Inter SemiBold"/>
                <a:cs typeface="Inter SemiBold"/>
                <a:sym typeface="Inter SemiBold"/>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7"/>
          <p:cNvSpPr/>
          <p:nvPr/>
        </p:nvSpPr>
        <p:spPr>
          <a:xfrm>
            <a:off x="0" y="0"/>
            <a:ext cx="9144000" cy="51435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28" name="Google Shape;128;p17"/>
          <p:cNvGrpSpPr/>
          <p:nvPr/>
        </p:nvGrpSpPr>
        <p:grpSpPr>
          <a:xfrm>
            <a:off x="8458200" y="457200"/>
            <a:ext cx="228600" cy="228600"/>
            <a:chOff x="0" y="0"/>
            <a:chExt cx="228600" cy="228600"/>
          </a:xfrm>
        </p:grpSpPr>
        <p:sp>
          <p:nvSpPr>
            <p:cNvPr id="129" name="Google Shape;129;p17"/>
            <p:cNvSpPr/>
            <p:nvPr/>
          </p:nvSpPr>
          <p:spPr>
            <a:xfrm>
              <a:off x="0" y="0"/>
              <a:ext cx="228600" cy="2286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7"/>
            <p:cNvSpPr/>
            <p:nvPr/>
          </p:nvSpPr>
          <p:spPr>
            <a:xfrm>
              <a:off x="38100" y="38100"/>
              <a:ext cx="152400" cy="1524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 name="Google Shape;131;p17"/>
            <p:cNvSpPr/>
            <p:nvPr/>
          </p:nvSpPr>
          <p:spPr>
            <a:xfrm>
              <a:off x="85725" y="85725"/>
              <a:ext cx="57300" cy="573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32" name="Google Shape;132;p17"/>
          <p:cNvSpPr/>
          <p:nvPr/>
        </p:nvSpPr>
        <p:spPr>
          <a:xfrm>
            <a:off x="457200" y="4762500"/>
            <a:ext cx="82296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7"/>
          <p:cNvSpPr txBox="1"/>
          <p:nvPr/>
        </p:nvSpPr>
        <p:spPr>
          <a:xfrm>
            <a:off x="457200" y="419100"/>
            <a:ext cx="7810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900"/>
              </a:spcAft>
              <a:buNone/>
            </a:pPr>
            <a:r>
              <a:rPr b="1" lang="en" sz="2100">
                <a:solidFill>
                  <a:srgbClr val="111827"/>
                </a:solidFill>
                <a:latin typeface="Plus Jakarta Sans"/>
                <a:ea typeface="Plus Jakarta Sans"/>
                <a:cs typeface="Plus Jakarta Sans"/>
                <a:sym typeface="Plus Jakarta Sans"/>
              </a:rPr>
              <a:t>Kondisi Ideal Pembinaan</a:t>
            </a:r>
            <a:endParaRPr b="1" sz="2100">
              <a:solidFill>
                <a:srgbClr val="111827"/>
              </a:solidFill>
              <a:latin typeface="Plus Jakarta Sans"/>
              <a:ea typeface="Plus Jakarta Sans"/>
              <a:cs typeface="Plus Jakarta Sans"/>
              <a:sym typeface="Plus Jakarta Sans"/>
            </a:endParaRPr>
          </a:p>
        </p:txBody>
      </p:sp>
      <p:sp>
        <p:nvSpPr>
          <p:cNvPr id="134" name="Google Shape;134;p17"/>
          <p:cNvSpPr txBox="1"/>
          <p:nvPr/>
        </p:nvSpPr>
        <p:spPr>
          <a:xfrm>
            <a:off x="457200" y="1000125"/>
            <a:ext cx="82296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900"/>
              </a:spcAft>
              <a:buNone/>
            </a:pPr>
            <a:r>
              <a:rPr b="0" lang="en" sz="1050">
                <a:solidFill>
                  <a:srgbClr val="4B5563"/>
                </a:solidFill>
                <a:latin typeface="Inter"/>
                <a:ea typeface="Inter"/>
                <a:cs typeface="Inter"/>
                <a:sym typeface="Inter"/>
              </a:rPr>
              <a:t>Kita mendambakan sebuah ekosistem pembinaan yang berjalan secara optimal dan sinergis. Kondisi ideal yang menjadi target kita mencakup:</a:t>
            </a:r>
            <a:endParaRPr b="0" sz="1050">
              <a:solidFill>
                <a:srgbClr val="4B5563"/>
              </a:solidFill>
              <a:latin typeface="Inter"/>
              <a:ea typeface="Inter"/>
              <a:cs typeface="Inter"/>
              <a:sym typeface="Inter"/>
            </a:endParaRPr>
          </a:p>
        </p:txBody>
      </p:sp>
      <p:grpSp>
        <p:nvGrpSpPr>
          <p:cNvPr id="135" name="Google Shape;135;p17"/>
          <p:cNvGrpSpPr/>
          <p:nvPr/>
        </p:nvGrpSpPr>
        <p:grpSpPr>
          <a:xfrm>
            <a:off x="357188" y="1462088"/>
            <a:ext cx="2809800" cy="1724100"/>
            <a:chOff x="357188" y="1462088"/>
            <a:chExt cx="2809800" cy="1724100"/>
          </a:xfrm>
        </p:grpSpPr>
        <p:pic>
          <p:nvPicPr>
            <p:cNvPr id="136" name="Google Shape;136;p17"/>
            <p:cNvPicPr preferRelativeResize="0"/>
            <p:nvPr/>
          </p:nvPicPr>
          <p:blipFill rotWithShape="1">
            <a:blip r:embed="rId3">
              <a:alphaModFix/>
            </a:blip>
            <a:srcRect b="0" l="0" r="0" t="0"/>
            <a:stretch/>
          </p:blipFill>
          <p:spPr>
            <a:xfrm>
              <a:off x="357188" y="1462088"/>
              <a:ext cx="2809800" cy="1724100"/>
            </a:xfrm>
            <a:prstGeom prst="rect">
              <a:avLst/>
            </a:prstGeom>
            <a:noFill/>
            <a:ln>
              <a:noFill/>
            </a:ln>
          </p:spPr>
        </p:pic>
        <p:sp>
          <p:nvSpPr>
            <p:cNvPr id="137" name="Google Shape;137;p17"/>
            <p:cNvSpPr/>
            <p:nvPr/>
          </p:nvSpPr>
          <p:spPr>
            <a:xfrm>
              <a:off x="457200" y="1524000"/>
              <a:ext cx="2610000" cy="477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38" name="Google Shape;138;p17"/>
            <p:cNvGrpSpPr/>
            <p:nvPr/>
          </p:nvGrpSpPr>
          <p:grpSpPr>
            <a:xfrm>
              <a:off x="647700" y="1714500"/>
              <a:ext cx="228600" cy="228600"/>
              <a:chOff x="0" y="0"/>
              <a:chExt cx="228600" cy="228600"/>
            </a:xfrm>
          </p:grpSpPr>
          <p:sp>
            <p:nvSpPr>
              <p:cNvPr id="139" name="Google Shape;139;p17"/>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 name="Google Shape;140;p17"/>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41" name="Google Shape;141;p17"/>
            <p:cNvSpPr txBox="1"/>
            <p:nvPr/>
          </p:nvSpPr>
          <p:spPr>
            <a:xfrm>
              <a:off x="2305050" y="1676400"/>
              <a:ext cx="571500" cy="2859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b="1" lang="en" sz="1050">
                  <a:solidFill>
                    <a:srgbClr val="10B981"/>
                  </a:solidFill>
                  <a:latin typeface="Plus Jakarta Sans"/>
                  <a:ea typeface="Plus Jakarta Sans"/>
                  <a:cs typeface="Plus Jakarta Sans"/>
                  <a:sym typeface="Plus Jakarta Sans"/>
                </a:rPr>
                <a:t>01</a:t>
              </a:r>
              <a:endParaRPr/>
            </a:p>
          </p:txBody>
        </p:sp>
        <p:sp>
          <p:nvSpPr>
            <p:cNvPr id="142" name="Google Shape;142;p17"/>
            <p:cNvSpPr txBox="1"/>
            <p:nvPr/>
          </p:nvSpPr>
          <p:spPr>
            <a:xfrm>
              <a:off x="647700" y="2038350"/>
              <a:ext cx="2229000" cy="8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111827"/>
                  </a:solidFill>
                  <a:latin typeface="Inter Medium"/>
                  <a:ea typeface="Inter Medium"/>
                  <a:cs typeface="Inter Medium"/>
                  <a:sym typeface="Inter Medium"/>
                </a:rPr>
                <a:t>Semua unit memiliki pemahaman dan tujuan yang sama.</a:t>
              </a:r>
              <a:endParaRPr b="0" sz="1050">
                <a:solidFill>
                  <a:srgbClr val="111827"/>
                </a:solidFill>
                <a:latin typeface="Inter Medium"/>
                <a:ea typeface="Inter Medium"/>
                <a:cs typeface="Inter Medium"/>
                <a:sym typeface="Inter Medium"/>
              </a:endParaRPr>
            </a:p>
          </p:txBody>
        </p:sp>
      </p:grpSp>
      <p:grpSp>
        <p:nvGrpSpPr>
          <p:cNvPr id="143" name="Google Shape;143;p17"/>
          <p:cNvGrpSpPr/>
          <p:nvPr/>
        </p:nvGrpSpPr>
        <p:grpSpPr>
          <a:xfrm>
            <a:off x="3167063" y="1462088"/>
            <a:ext cx="2809800" cy="1724100"/>
            <a:chOff x="3167063" y="1462088"/>
            <a:chExt cx="2809800" cy="1724100"/>
          </a:xfrm>
        </p:grpSpPr>
        <p:pic>
          <p:nvPicPr>
            <p:cNvPr id="144" name="Google Shape;144;p17"/>
            <p:cNvPicPr preferRelativeResize="0"/>
            <p:nvPr/>
          </p:nvPicPr>
          <p:blipFill rotWithShape="1">
            <a:blip r:embed="rId4">
              <a:alphaModFix/>
            </a:blip>
            <a:srcRect b="0" l="0" r="0" t="0"/>
            <a:stretch/>
          </p:blipFill>
          <p:spPr>
            <a:xfrm>
              <a:off x="3167063" y="1462088"/>
              <a:ext cx="2809800" cy="1724100"/>
            </a:xfrm>
            <a:prstGeom prst="rect">
              <a:avLst/>
            </a:prstGeom>
            <a:noFill/>
            <a:ln>
              <a:noFill/>
            </a:ln>
          </p:spPr>
        </p:pic>
        <p:sp>
          <p:nvSpPr>
            <p:cNvPr id="145" name="Google Shape;145;p17"/>
            <p:cNvSpPr/>
            <p:nvPr/>
          </p:nvSpPr>
          <p:spPr>
            <a:xfrm>
              <a:off x="3267075" y="1524000"/>
              <a:ext cx="2610000" cy="477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46" name="Google Shape;146;p17"/>
            <p:cNvGrpSpPr/>
            <p:nvPr/>
          </p:nvGrpSpPr>
          <p:grpSpPr>
            <a:xfrm>
              <a:off x="3457575" y="1714500"/>
              <a:ext cx="228600" cy="228600"/>
              <a:chOff x="0" y="0"/>
              <a:chExt cx="228600" cy="228600"/>
            </a:xfrm>
          </p:grpSpPr>
          <p:sp>
            <p:nvSpPr>
              <p:cNvPr id="147" name="Google Shape;147;p17"/>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17"/>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49" name="Google Shape;149;p17"/>
            <p:cNvSpPr txBox="1"/>
            <p:nvPr/>
          </p:nvSpPr>
          <p:spPr>
            <a:xfrm>
              <a:off x="5114925" y="1676400"/>
              <a:ext cx="571500" cy="2859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b="1" lang="en" sz="1050">
                  <a:solidFill>
                    <a:srgbClr val="10B981"/>
                  </a:solidFill>
                  <a:latin typeface="Plus Jakarta Sans"/>
                  <a:ea typeface="Plus Jakarta Sans"/>
                  <a:cs typeface="Plus Jakarta Sans"/>
                  <a:sym typeface="Plus Jakarta Sans"/>
                </a:rPr>
                <a:t>02</a:t>
              </a:r>
              <a:endParaRPr/>
            </a:p>
          </p:txBody>
        </p:sp>
        <p:sp>
          <p:nvSpPr>
            <p:cNvPr id="150" name="Google Shape;150;p17"/>
            <p:cNvSpPr txBox="1"/>
            <p:nvPr/>
          </p:nvSpPr>
          <p:spPr>
            <a:xfrm>
              <a:off x="3457575" y="2038350"/>
              <a:ext cx="2229000" cy="8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111827"/>
                  </a:solidFill>
                  <a:latin typeface="Inter Medium"/>
                  <a:ea typeface="Inter Medium"/>
                  <a:cs typeface="Inter Medium"/>
                  <a:sym typeface="Inter Medium"/>
                </a:rPr>
                <a:t>Peran dan tanggung jawab setiap individu terdefinisi dengan jelas.</a:t>
              </a:r>
              <a:endParaRPr b="0" sz="1050">
                <a:solidFill>
                  <a:srgbClr val="111827"/>
                </a:solidFill>
                <a:latin typeface="Inter Medium"/>
                <a:ea typeface="Inter Medium"/>
                <a:cs typeface="Inter Medium"/>
                <a:sym typeface="Inter Medium"/>
              </a:endParaRPr>
            </a:p>
          </p:txBody>
        </p:sp>
      </p:grpSp>
      <p:grpSp>
        <p:nvGrpSpPr>
          <p:cNvPr id="151" name="Google Shape;151;p17"/>
          <p:cNvGrpSpPr/>
          <p:nvPr/>
        </p:nvGrpSpPr>
        <p:grpSpPr>
          <a:xfrm>
            <a:off x="5976938" y="1462088"/>
            <a:ext cx="2809800" cy="1724100"/>
            <a:chOff x="5976938" y="1462088"/>
            <a:chExt cx="2809800" cy="1724100"/>
          </a:xfrm>
        </p:grpSpPr>
        <p:pic>
          <p:nvPicPr>
            <p:cNvPr id="152" name="Google Shape;152;p17"/>
            <p:cNvPicPr preferRelativeResize="0"/>
            <p:nvPr/>
          </p:nvPicPr>
          <p:blipFill rotWithShape="1">
            <a:blip r:embed="rId3">
              <a:alphaModFix/>
            </a:blip>
            <a:srcRect b="0" l="0" r="0" t="0"/>
            <a:stretch/>
          </p:blipFill>
          <p:spPr>
            <a:xfrm>
              <a:off x="5976938" y="1462088"/>
              <a:ext cx="2809800" cy="1724100"/>
            </a:xfrm>
            <a:prstGeom prst="rect">
              <a:avLst/>
            </a:prstGeom>
            <a:noFill/>
            <a:ln>
              <a:noFill/>
            </a:ln>
          </p:spPr>
        </p:pic>
        <p:sp>
          <p:nvSpPr>
            <p:cNvPr id="153" name="Google Shape;153;p17"/>
            <p:cNvSpPr/>
            <p:nvPr/>
          </p:nvSpPr>
          <p:spPr>
            <a:xfrm>
              <a:off x="6076950" y="1524000"/>
              <a:ext cx="2610000" cy="477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54" name="Google Shape;154;p17"/>
            <p:cNvGrpSpPr/>
            <p:nvPr/>
          </p:nvGrpSpPr>
          <p:grpSpPr>
            <a:xfrm>
              <a:off x="6267450" y="1714500"/>
              <a:ext cx="228600" cy="228600"/>
              <a:chOff x="0" y="0"/>
              <a:chExt cx="228600" cy="228600"/>
            </a:xfrm>
          </p:grpSpPr>
          <p:sp>
            <p:nvSpPr>
              <p:cNvPr id="155" name="Google Shape;155;p17"/>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17"/>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57" name="Google Shape;157;p17"/>
            <p:cNvSpPr txBox="1"/>
            <p:nvPr/>
          </p:nvSpPr>
          <p:spPr>
            <a:xfrm>
              <a:off x="7924800" y="1676400"/>
              <a:ext cx="571500" cy="2859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b="1" lang="en" sz="1050">
                  <a:solidFill>
                    <a:srgbClr val="10B981"/>
                  </a:solidFill>
                  <a:latin typeface="Plus Jakarta Sans"/>
                  <a:ea typeface="Plus Jakarta Sans"/>
                  <a:cs typeface="Plus Jakarta Sans"/>
                  <a:sym typeface="Plus Jakarta Sans"/>
                </a:rPr>
                <a:t>03</a:t>
              </a:r>
              <a:endParaRPr/>
            </a:p>
          </p:txBody>
        </p:sp>
        <p:sp>
          <p:nvSpPr>
            <p:cNvPr id="158" name="Google Shape;158;p17"/>
            <p:cNvSpPr txBox="1"/>
            <p:nvPr/>
          </p:nvSpPr>
          <p:spPr>
            <a:xfrm>
              <a:off x="6267450" y="2038350"/>
              <a:ext cx="2229000" cy="8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111827"/>
                  </a:solidFill>
                  <a:latin typeface="Inter Medium"/>
                  <a:ea typeface="Inter Medium"/>
                  <a:cs typeface="Inter Medium"/>
                  <a:sym typeface="Inter Medium"/>
                </a:rPr>
                <a:t>Proses pembinaan berlangsung terus menerus, bukan musiman.</a:t>
              </a:r>
              <a:endParaRPr b="0" sz="1050">
                <a:solidFill>
                  <a:srgbClr val="111827"/>
                </a:solidFill>
                <a:latin typeface="Inter Medium"/>
                <a:ea typeface="Inter Medium"/>
                <a:cs typeface="Inter Medium"/>
                <a:sym typeface="Inter Medium"/>
              </a:endParaRPr>
            </a:p>
          </p:txBody>
        </p:sp>
      </p:grpSp>
      <p:grpSp>
        <p:nvGrpSpPr>
          <p:cNvPr id="159" name="Google Shape;159;p17"/>
          <p:cNvGrpSpPr/>
          <p:nvPr/>
        </p:nvGrpSpPr>
        <p:grpSpPr>
          <a:xfrm>
            <a:off x="357188" y="3128963"/>
            <a:ext cx="2809800" cy="1724100"/>
            <a:chOff x="357188" y="3128963"/>
            <a:chExt cx="2809800" cy="1724100"/>
          </a:xfrm>
        </p:grpSpPr>
        <p:pic>
          <p:nvPicPr>
            <p:cNvPr id="160" name="Google Shape;160;p17"/>
            <p:cNvPicPr preferRelativeResize="0"/>
            <p:nvPr/>
          </p:nvPicPr>
          <p:blipFill rotWithShape="1">
            <a:blip r:embed="rId3">
              <a:alphaModFix/>
            </a:blip>
            <a:srcRect b="0" l="0" r="0" t="0"/>
            <a:stretch/>
          </p:blipFill>
          <p:spPr>
            <a:xfrm>
              <a:off x="357188" y="3128963"/>
              <a:ext cx="2809800" cy="1724100"/>
            </a:xfrm>
            <a:prstGeom prst="rect">
              <a:avLst/>
            </a:prstGeom>
            <a:noFill/>
            <a:ln>
              <a:noFill/>
            </a:ln>
          </p:spPr>
        </p:pic>
        <p:sp>
          <p:nvSpPr>
            <p:cNvPr id="161" name="Google Shape;161;p17"/>
            <p:cNvSpPr/>
            <p:nvPr/>
          </p:nvSpPr>
          <p:spPr>
            <a:xfrm>
              <a:off x="457200" y="3190875"/>
              <a:ext cx="2610000" cy="477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62" name="Google Shape;162;p17"/>
            <p:cNvGrpSpPr/>
            <p:nvPr/>
          </p:nvGrpSpPr>
          <p:grpSpPr>
            <a:xfrm>
              <a:off x="647700" y="3381375"/>
              <a:ext cx="228600" cy="228600"/>
              <a:chOff x="0" y="0"/>
              <a:chExt cx="228600" cy="228600"/>
            </a:xfrm>
          </p:grpSpPr>
          <p:sp>
            <p:nvSpPr>
              <p:cNvPr id="163" name="Google Shape;163;p17"/>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17"/>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65" name="Google Shape;165;p17"/>
            <p:cNvSpPr txBox="1"/>
            <p:nvPr/>
          </p:nvSpPr>
          <p:spPr>
            <a:xfrm>
              <a:off x="2305050" y="3343275"/>
              <a:ext cx="571500" cy="2859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b="1" lang="en" sz="1050">
                  <a:solidFill>
                    <a:srgbClr val="10B981"/>
                  </a:solidFill>
                  <a:latin typeface="Plus Jakarta Sans"/>
                  <a:ea typeface="Plus Jakarta Sans"/>
                  <a:cs typeface="Plus Jakarta Sans"/>
                  <a:sym typeface="Plus Jakarta Sans"/>
                </a:rPr>
                <a:t>04</a:t>
              </a:r>
              <a:endParaRPr/>
            </a:p>
          </p:txBody>
        </p:sp>
        <p:sp>
          <p:nvSpPr>
            <p:cNvPr id="166" name="Google Shape;166;p17"/>
            <p:cNvSpPr txBox="1"/>
            <p:nvPr/>
          </p:nvSpPr>
          <p:spPr>
            <a:xfrm>
              <a:off x="647700" y="3705225"/>
              <a:ext cx="2229000" cy="8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111827"/>
                  </a:solidFill>
                  <a:latin typeface="Inter Medium"/>
                  <a:ea typeface="Inter Medium"/>
                  <a:cs typeface="Inter Medium"/>
                  <a:sym typeface="Inter Medium"/>
                </a:rPr>
                <a:t>Orang tua secara aktif menjadi mitra strategis pesantren.</a:t>
              </a:r>
              <a:endParaRPr b="0" sz="1050">
                <a:solidFill>
                  <a:srgbClr val="111827"/>
                </a:solidFill>
                <a:latin typeface="Inter Medium"/>
                <a:ea typeface="Inter Medium"/>
                <a:cs typeface="Inter Medium"/>
                <a:sym typeface="Inter Medium"/>
              </a:endParaRPr>
            </a:p>
          </p:txBody>
        </p:sp>
      </p:grpSp>
      <p:grpSp>
        <p:nvGrpSpPr>
          <p:cNvPr id="167" name="Google Shape;167;p17"/>
          <p:cNvGrpSpPr/>
          <p:nvPr/>
        </p:nvGrpSpPr>
        <p:grpSpPr>
          <a:xfrm>
            <a:off x="3167063" y="3128963"/>
            <a:ext cx="2809800" cy="1724100"/>
            <a:chOff x="3167063" y="3128963"/>
            <a:chExt cx="2809800" cy="1724100"/>
          </a:xfrm>
        </p:grpSpPr>
        <p:pic>
          <p:nvPicPr>
            <p:cNvPr id="168" name="Google Shape;168;p17"/>
            <p:cNvPicPr preferRelativeResize="0"/>
            <p:nvPr/>
          </p:nvPicPr>
          <p:blipFill rotWithShape="1">
            <a:blip r:embed="rId4">
              <a:alphaModFix/>
            </a:blip>
            <a:srcRect b="0" l="0" r="0" t="0"/>
            <a:stretch/>
          </p:blipFill>
          <p:spPr>
            <a:xfrm>
              <a:off x="3167063" y="3128963"/>
              <a:ext cx="2809800" cy="1724100"/>
            </a:xfrm>
            <a:prstGeom prst="rect">
              <a:avLst/>
            </a:prstGeom>
            <a:noFill/>
            <a:ln>
              <a:noFill/>
            </a:ln>
          </p:spPr>
        </p:pic>
        <p:sp>
          <p:nvSpPr>
            <p:cNvPr id="169" name="Google Shape;169;p17"/>
            <p:cNvSpPr/>
            <p:nvPr/>
          </p:nvSpPr>
          <p:spPr>
            <a:xfrm>
              <a:off x="3267075" y="3190875"/>
              <a:ext cx="2610000" cy="477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70" name="Google Shape;170;p17"/>
            <p:cNvGrpSpPr/>
            <p:nvPr/>
          </p:nvGrpSpPr>
          <p:grpSpPr>
            <a:xfrm>
              <a:off x="3457575" y="3381375"/>
              <a:ext cx="228600" cy="228600"/>
              <a:chOff x="0" y="0"/>
              <a:chExt cx="228600" cy="228600"/>
            </a:xfrm>
          </p:grpSpPr>
          <p:sp>
            <p:nvSpPr>
              <p:cNvPr id="171" name="Google Shape;171;p17"/>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17"/>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73" name="Google Shape;173;p17"/>
            <p:cNvSpPr txBox="1"/>
            <p:nvPr/>
          </p:nvSpPr>
          <p:spPr>
            <a:xfrm>
              <a:off x="5114925" y="3343275"/>
              <a:ext cx="571500" cy="2859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b="1" lang="en" sz="1050">
                  <a:solidFill>
                    <a:srgbClr val="10B981"/>
                  </a:solidFill>
                  <a:latin typeface="Plus Jakarta Sans"/>
                  <a:ea typeface="Plus Jakarta Sans"/>
                  <a:cs typeface="Plus Jakarta Sans"/>
                  <a:sym typeface="Plus Jakarta Sans"/>
                </a:rPr>
                <a:t>05</a:t>
              </a:r>
              <a:endParaRPr/>
            </a:p>
          </p:txBody>
        </p:sp>
        <p:sp>
          <p:nvSpPr>
            <p:cNvPr id="174" name="Google Shape;174;p17"/>
            <p:cNvSpPr txBox="1"/>
            <p:nvPr/>
          </p:nvSpPr>
          <p:spPr>
            <a:xfrm>
              <a:off x="3457575" y="3705225"/>
              <a:ext cx="2229000" cy="8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111827"/>
                  </a:solidFill>
                  <a:latin typeface="Inter Medium"/>
                  <a:ea typeface="Inter Medium"/>
                  <a:cs typeface="Inter Medium"/>
                  <a:sym typeface="Inter Medium"/>
                </a:rPr>
                <a:t>Perkembangan setiap santri dapat dipantau secara objektif.</a:t>
              </a:r>
              <a:endParaRPr b="0" sz="1050">
                <a:solidFill>
                  <a:srgbClr val="111827"/>
                </a:solidFill>
                <a:latin typeface="Inter Medium"/>
                <a:ea typeface="Inter Medium"/>
                <a:cs typeface="Inter Medium"/>
                <a:sym typeface="Inter Medium"/>
              </a:endParaRPr>
            </a:p>
          </p:txBody>
        </p:sp>
      </p:grpSp>
      <p:grpSp>
        <p:nvGrpSpPr>
          <p:cNvPr id="175" name="Google Shape;175;p17"/>
          <p:cNvGrpSpPr/>
          <p:nvPr/>
        </p:nvGrpSpPr>
        <p:grpSpPr>
          <a:xfrm>
            <a:off x="5976938" y="3128963"/>
            <a:ext cx="2809800" cy="1724100"/>
            <a:chOff x="5976938" y="3128963"/>
            <a:chExt cx="2809800" cy="1724100"/>
          </a:xfrm>
        </p:grpSpPr>
        <p:pic>
          <p:nvPicPr>
            <p:cNvPr id="176" name="Google Shape;176;p17"/>
            <p:cNvPicPr preferRelativeResize="0"/>
            <p:nvPr/>
          </p:nvPicPr>
          <p:blipFill rotWithShape="1">
            <a:blip r:embed="rId3">
              <a:alphaModFix/>
            </a:blip>
            <a:srcRect b="0" l="0" r="0" t="0"/>
            <a:stretch/>
          </p:blipFill>
          <p:spPr>
            <a:xfrm>
              <a:off x="5976938" y="3128963"/>
              <a:ext cx="2809800" cy="1724100"/>
            </a:xfrm>
            <a:prstGeom prst="rect">
              <a:avLst/>
            </a:prstGeom>
            <a:noFill/>
            <a:ln>
              <a:noFill/>
            </a:ln>
          </p:spPr>
        </p:pic>
        <p:sp>
          <p:nvSpPr>
            <p:cNvPr id="177" name="Google Shape;177;p17"/>
            <p:cNvSpPr/>
            <p:nvPr/>
          </p:nvSpPr>
          <p:spPr>
            <a:xfrm>
              <a:off x="6076950" y="3190875"/>
              <a:ext cx="2610000" cy="477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78" name="Google Shape;178;p17"/>
            <p:cNvGrpSpPr/>
            <p:nvPr/>
          </p:nvGrpSpPr>
          <p:grpSpPr>
            <a:xfrm>
              <a:off x="6267450" y="3381375"/>
              <a:ext cx="228600" cy="228600"/>
              <a:chOff x="0" y="0"/>
              <a:chExt cx="228600" cy="228600"/>
            </a:xfrm>
          </p:grpSpPr>
          <p:sp>
            <p:nvSpPr>
              <p:cNvPr id="179" name="Google Shape;179;p17"/>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 name="Google Shape;180;p17"/>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81" name="Google Shape;181;p17"/>
            <p:cNvSpPr txBox="1"/>
            <p:nvPr/>
          </p:nvSpPr>
          <p:spPr>
            <a:xfrm>
              <a:off x="7924800" y="3343275"/>
              <a:ext cx="571500" cy="2859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b="1" lang="en" sz="1050">
                  <a:solidFill>
                    <a:srgbClr val="10B981"/>
                  </a:solidFill>
                  <a:latin typeface="Plus Jakarta Sans"/>
                  <a:ea typeface="Plus Jakarta Sans"/>
                  <a:cs typeface="Plus Jakarta Sans"/>
                  <a:sym typeface="Plus Jakarta Sans"/>
                </a:rPr>
                <a:t>06</a:t>
              </a:r>
              <a:endParaRPr/>
            </a:p>
          </p:txBody>
        </p:sp>
        <p:sp>
          <p:nvSpPr>
            <p:cNvPr id="182" name="Google Shape;182;p17"/>
            <p:cNvSpPr txBox="1"/>
            <p:nvPr/>
          </p:nvSpPr>
          <p:spPr>
            <a:xfrm>
              <a:off x="6267450" y="3705225"/>
              <a:ext cx="2229000" cy="8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111827"/>
                  </a:solidFill>
                  <a:latin typeface="Inter Medium"/>
                  <a:ea typeface="Inter Medium"/>
                  <a:cs typeface="Inter Medium"/>
                  <a:sym typeface="Inter Medium"/>
                </a:rPr>
                <a:t>Sistem tetap berjalan kokoh meskipun terjadi pergantian SDM.</a:t>
              </a:r>
              <a:endParaRPr b="0" sz="1050">
                <a:solidFill>
                  <a:srgbClr val="111827"/>
                </a:solidFill>
                <a:latin typeface="Inter Medium"/>
                <a:ea typeface="Inter Medium"/>
                <a:cs typeface="Inter Medium"/>
                <a:sym typeface="Inter Medium"/>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8"/>
          <p:cNvSpPr/>
          <p:nvPr/>
        </p:nvSpPr>
        <p:spPr>
          <a:xfrm>
            <a:off x="0" y="0"/>
            <a:ext cx="9144000" cy="51435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88" name="Google Shape;188;p18"/>
          <p:cNvGrpSpPr/>
          <p:nvPr/>
        </p:nvGrpSpPr>
        <p:grpSpPr>
          <a:xfrm>
            <a:off x="8458200" y="457200"/>
            <a:ext cx="228600" cy="228600"/>
            <a:chOff x="0" y="0"/>
            <a:chExt cx="228600" cy="228600"/>
          </a:xfrm>
        </p:grpSpPr>
        <p:sp>
          <p:nvSpPr>
            <p:cNvPr id="189" name="Google Shape;189;p18"/>
            <p:cNvSpPr/>
            <p:nvPr/>
          </p:nvSpPr>
          <p:spPr>
            <a:xfrm>
              <a:off x="0" y="0"/>
              <a:ext cx="228600" cy="2286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18"/>
            <p:cNvSpPr/>
            <p:nvPr/>
          </p:nvSpPr>
          <p:spPr>
            <a:xfrm>
              <a:off x="38100" y="38100"/>
              <a:ext cx="152400" cy="1524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 name="Google Shape;191;p18"/>
            <p:cNvSpPr/>
            <p:nvPr/>
          </p:nvSpPr>
          <p:spPr>
            <a:xfrm>
              <a:off x="85725" y="85725"/>
              <a:ext cx="57300" cy="573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92" name="Google Shape;192;p18"/>
          <p:cNvSpPr/>
          <p:nvPr/>
        </p:nvSpPr>
        <p:spPr>
          <a:xfrm>
            <a:off x="457200" y="4762500"/>
            <a:ext cx="82296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18"/>
          <p:cNvSpPr txBox="1"/>
          <p:nvPr/>
        </p:nvSpPr>
        <p:spPr>
          <a:xfrm>
            <a:off x="457200" y="381000"/>
            <a:ext cx="76200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111827"/>
                </a:solidFill>
                <a:latin typeface="Plus Jakarta Sans"/>
                <a:ea typeface="Plus Jakarta Sans"/>
                <a:cs typeface="Plus Jakarta Sans"/>
                <a:sym typeface="Plus Jakarta Sans"/>
              </a:rPr>
              <a:t>Realita Lapangan Saat Ini</a:t>
            </a:r>
            <a:endParaRPr b="1" sz="2400">
              <a:solidFill>
                <a:srgbClr val="111827"/>
              </a:solidFill>
              <a:latin typeface="Plus Jakarta Sans"/>
              <a:ea typeface="Plus Jakarta Sans"/>
              <a:cs typeface="Plus Jakarta Sans"/>
              <a:sym typeface="Plus Jakarta Sans"/>
            </a:endParaRPr>
          </a:p>
          <a:p>
            <a:pPr indent="0" lvl="0" marL="0" rtl="0" algn="l">
              <a:spcBef>
                <a:spcPts val="900"/>
              </a:spcBef>
              <a:spcAft>
                <a:spcPts val="900"/>
              </a:spcAft>
              <a:buNone/>
            </a:pPr>
            <a:r>
              <a:rPr b="0" lang="en" sz="1050">
                <a:solidFill>
                  <a:srgbClr val="4B5563"/>
                </a:solidFill>
                <a:latin typeface="Inter"/>
                <a:ea typeface="Inter"/>
                <a:cs typeface="Inter"/>
                <a:sym typeface="Inter"/>
              </a:rPr>
              <a:t>Namun, kita harus jujur melihat tantangan nyata di lapangan saat ini. Permasalahan dapat dikelompokkan ke dalam empat area utama yang memerlukan perbaikan segera:</a:t>
            </a:r>
            <a:endParaRPr b="0" sz="1050">
              <a:solidFill>
                <a:srgbClr val="4B5563"/>
              </a:solidFill>
              <a:latin typeface="Inter"/>
              <a:ea typeface="Inter"/>
              <a:cs typeface="Inter"/>
              <a:sym typeface="Inter"/>
            </a:endParaRPr>
          </a:p>
        </p:txBody>
      </p:sp>
      <p:grpSp>
        <p:nvGrpSpPr>
          <p:cNvPr id="194" name="Google Shape;194;p18"/>
          <p:cNvGrpSpPr/>
          <p:nvPr/>
        </p:nvGrpSpPr>
        <p:grpSpPr>
          <a:xfrm>
            <a:off x="457200" y="1524000"/>
            <a:ext cx="4000500" cy="1381200"/>
            <a:chOff x="0" y="0"/>
            <a:chExt cx="4000500" cy="1381200"/>
          </a:xfrm>
        </p:grpSpPr>
        <p:sp>
          <p:nvSpPr>
            <p:cNvPr id="195" name="Google Shape;195;p18"/>
            <p:cNvSpPr/>
            <p:nvPr/>
          </p:nvSpPr>
          <p:spPr>
            <a:xfrm>
              <a:off x="0" y="0"/>
              <a:ext cx="4000500" cy="1381200"/>
            </a:xfrm>
            <a:prstGeom prst="roundRect">
              <a:avLst>
                <a:gd fmla="val 5517"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 name="Google Shape;196;p18"/>
            <p:cNvSpPr/>
            <p:nvPr/>
          </p:nvSpPr>
          <p:spPr>
            <a:xfrm>
              <a:off x="0" y="0"/>
              <a:ext cx="4000500" cy="573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7" name="Google Shape;197;p18"/>
            <p:cNvSpPr txBox="1"/>
            <p:nvPr/>
          </p:nvSpPr>
          <p:spPr>
            <a:xfrm>
              <a:off x="190500" y="190500"/>
              <a:ext cx="3619500" cy="10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50">
                  <a:solidFill>
                    <a:srgbClr val="111827"/>
                  </a:solidFill>
                  <a:latin typeface="Plus Jakarta Sans"/>
                  <a:ea typeface="Plus Jakarta Sans"/>
                  <a:cs typeface="Plus Jakarta Sans"/>
                  <a:sym typeface="Plus Jakarta Sans"/>
                </a:rPr>
                <a:t>Organisasi</a:t>
              </a:r>
              <a:endParaRPr b="1" sz="1350">
                <a:solidFill>
                  <a:srgbClr val="111827"/>
                </a:solidFill>
                <a:latin typeface="Plus Jakarta Sans"/>
                <a:ea typeface="Plus Jakarta Sans"/>
                <a:cs typeface="Plus Jakarta Sans"/>
                <a:sym typeface="Plus Jakarta Sans"/>
              </a:endParaRPr>
            </a:p>
            <a:p>
              <a:pPr indent="0" lvl="0" marL="0" rtl="0" algn="l">
                <a:spcBef>
                  <a:spcPts val="600"/>
                </a:spcBef>
                <a:spcAft>
                  <a:spcPts val="0"/>
                </a:spcAft>
                <a:buNone/>
              </a:pPr>
              <a:r>
                <a:rPr b="0" lang="en" sz="1050">
                  <a:solidFill>
                    <a:srgbClr val="4B5563"/>
                  </a:solidFill>
                  <a:latin typeface="Inter"/>
                  <a:ea typeface="Inter"/>
                  <a:cs typeface="Inter"/>
                  <a:sym typeface="Inter"/>
                </a:rPr>
                <a:t>Fungsi antar bagian belum sepenuhnya jelas, menyebabkan koordinasi yang belum optimal.</a:t>
              </a:r>
              <a:endParaRPr b="0" sz="1050">
                <a:solidFill>
                  <a:srgbClr val="4B5563"/>
                </a:solidFill>
                <a:latin typeface="Inter"/>
                <a:ea typeface="Inter"/>
                <a:cs typeface="Inter"/>
                <a:sym typeface="Inter"/>
              </a:endParaRPr>
            </a:p>
          </p:txBody>
        </p:sp>
      </p:grpSp>
      <p:grpSp>
        <p:nvGrpSpPr>
          <p:cNvPr id="198" name="Google Shape;198;p18"/>
          <p:cNvGrpSpPr/>
          <p:nvPr/>
        </p:nvGrpSpPr>
        <p:grpSpPr>
          <a:xfrm>
            <a:off x="4686300" y="1524000"/>
            <a:ext cx="4000500" cy="1381200"/>
            <a:chOff x="0" y="0"/>
            <a:chExt cx="4000500" cy="1381200"/>
          </a:xfrm>
        </p:grpSpPr>
        <p:sp>
          <p:nvSpPr>
            <p:cNvPr id="199" name="Google Shape;199;p18"/>
            <p:cNvSpPr/>
            <p:nvPr/>
          </p:nvSpPr>
          <p:spPr>
            <a:xfrm>
              <a:off x="0" y="0"/>
              <a:ext cx="4000500" cy="1381200"/>
            </a:xfrm>
            <a:prstGeom prst="roundRect">
              <a:avLst>
                <a:gd fmla="val 5517"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18"/>
            <p:cNvSpPr/>
            <p:nvPr/>
          </p:nvSpPr>
          <p:spPr>
            <a:xfrm>
              <a:off x="0" y="0"/>
              <a:ext cx="4000500" cy="573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1" name="Google Shape;201;p18"/>
            <p:cNvSpPr txBox="1"/>
            <p:nvPr/>
          </p:nvSpPr>
          <p:spPr>
            <a:xfrm>
              <a:off x="190500" y="190500"/>
              <a:ext cx="3619500" cy="10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50">
                  <a:solidFill>
                    <a:srgbClr val="111827"/>
                  </a:solidFill>
                  <a:latin typeface="Plus Jakarta Sans"/>
                  <a:ea typeface="Plus Jakarta Sans"/>
                  <a:cs typeface="Plus Jakarta Sans"/>
                  <a:sym typeface="Plus Jakarta Sans"/>
                </a:rPr>
                <a:t>Kurikulum</a:t>
              </a:r>
              <a:endParaRPr b="1" sz="1350">
                <a:solidFill>
                  <a:srgbClr val="111827"/>
                </a:solidFill>
                <a:latin typeface="Plus Jakarta Sans"/>
                <a:ea typeface="Plus Jakarta Sans"/>
                <a:cs typeface="Plus Jakarta Sans"/>
                <a:sym typeface="Plus Jakarta Sans"/>
              </a:endParaRPr>
            </a:p>
            <a:p>
              <a:pPr indent="0" lvl="0" marL="0" rtl="0" algn="l">
                <a:spcBef>
                  <a:spcPts val="600"/>
                </a:spcBef>
                <a:spcAft>
                  <a:spcPts val="0"/>
                </a:spcAft>
                <a:buNone/>
              </a:pPr>
              <a:r>
                <a:rPr b="0" lang="en" sz="1050">
                  <a:solidFill>
                    <a:srgbClr val="4B5563"/>
                  </a:solidFill>
                  <a:latin typeface="Inter"/>
                  <a:ea typeface="Inter"/>
                  <a:cs typeface="Inter"/>
                  <a:sym typeface="Inter"/>
                </a:rPr>
                <a:t>Roadmap pembinaan belum utuh dan target pencapaian tiap jenjang masih kabur.</a:t>
              </a:r>
              <a:endParaRPr b="0" sz="1050">
                <a:solidFill>
                  <a:srgbClr val="4B5563"/>
                </a:solidFill>
                <a:latin typeface="Inter"/>
                <a:ea typeface="Inter"/>
                <a:cs typeface="Inter"/>
                <a:sym typeface="Inter"/>
              </a:endParaRPr>
            </a:p>
          </p:txBody>
        </p:sp>
      </p:grpSp>
      <p:grpSp>
        <p:nvGrpSpPr>
          <p:cNvPr id="202" name="Google Shape;202;p18"/>
          <p:cNvGrpSpPr/>
          <p:nvPr/>
        </p:nvGrpSpPr>
        <p:grpSpPr>
          <a:xfrm>
            <a:off x="457200" y="3095625"/>
            <a:ext cx="4000500" cy="1381200"/>
            <a:chOff x="0" y="0"/>
            <a:chExt cx="4000500" cy="1381200"/>
          </a:xfrm>
        </p:grpSpPr>
        <p:sp>
          <p:nvSpPr>
            <p:cNvPr id="203" name="Google Shape;203;p18"/>
            <p:cNvSpPr/>
            <p:nvPr/>
          </p:nvSpPr>
          <p:spPr>
            <a:xfrm>
              <a:off x="0" y="0"/>
              <a:ext cx="4000500" cy="1381200"/>
            </a:xfrm>
            <a:prstGeom prst="roundRect">
              <a:avLst>
                <a:gd fmla="val 5517"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18"/>
            <p:cNvSpPr/>
            <p:nvPr/>
          </p:nvSpPr>
          <p:spPr>
            <a:xfrm>
              <a:off x="0" y="0"/>
              <a:ext cx="4000500" cy="573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p18"/>
            <p:cNvSpPr txBox="1"/>
            <p:nvPr/>
          </p:nvSpPr>
          <p:spPr>
            <a:xfrm>
              <a:off x="190500" y="190500"/>
              <a:ext cx="3619500" cy="10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50">
                  <a:solidFill>
                    <a:srgbClr val="111827"/>
                  </a:solidFill>
                  <a:latin typeface="Plus Jakarta Sans"/>
                  <a:ea typeface="Plus Jakarta Sans"/>
                  <a:cs typeface="Plus Jakarta Sans"/>
                  <a:sym typeface="Plus Jakarta Sans"/>
                </a:rPr>
                <a:t>Pembinaan</a:t>
              </a:r>
              <a:endParaRPr b="1" sz="1350">
                <a:solidFill>
                  <a:srgbClr val="111827"/>
                </a:solidFill>
                <a:latin typeface="Plus Jakarta Sans"/>
                <a:ea typeface="Plus Jakarta Sans"/>
                <a:cs typeface="Plus Jakarta Sans"/>
                <a:sym typeface="Plus Jakarta Sans"/>
              </a:endParaRPr>
            </a:p>
            <a:p>
              <a:pPr indent="0" lvl="0" marL="0" rtl="0" algn="l">
                <a:spcBef>
                  <a:spcPts val="600"/>
                </a:spcBef>
                <a:spcAft>
                  <a:spcPts val="0"/>
                </a:spcAft>
                <a:buNone/>
              </a:pPr>
              <a:r>
                <a:rPr b="0" lang="en" sz="1050">
                  <a:solidFill>
                    <a:srgbClr val="4B5563"/>
                  </a:solidFill>
                  <a:latin typeface="Inter"/>
                  <a:ea typeface="Inter"/>
                  <a:cs typeface="Inter"/>
                  <a:sym typeface="Inter"/>
                </a:rPr>
                <a:t>Pendekatan kita masih sering reaktif terhadap masalah; budaya preventif belum mengakar.</a:t>
              </a:r>
              <a:endParaRPr b="0" sz="1050">
                <a:solidFill>
                  <a:srgbClr val="4B5563"/>
                </a:solidFill>
                <a:latin typeface="Inter"/>
                <a:ea typeface="Inter"/>
                <a:cs typeface="Inter"/>
                <a:sym typeface="Inter"/>
              </a:endParaRPr>
            </a:p>
          </p:txBody>
        </p:sp>
      </p:grpSp>
      <p:grpSp>
        <p:nvGrpSpPr>
          <p:cNvPr id="206" name="Google Shape;206;p18"/>
          <p:cNvGrpSpPr/>
          <p:nvPr/>
        </p:nvGrpSpPr>
        <p:grpSpPr>
          <a:xfrm>
            <a:off x="4686300" y="3095625"/>
            <a:ext cx="4000500" cy="1381200"/>
            <a:chOff x="0" y="0"/>
            <a:chExt cx="4000500" cy="1381200"/>
          </a:xfrm>
        </p:grpSpPr>
        <p:sp>
          <p:nvSpPr>
            <p:cNvPr id="207" name="Google Shape;207;p18"/>
            <p:cNvSpPr/>
            <p:nvPr/>
          </p:nvSpPr>
          <p:spPr>
            <a:xfrm>
              <a:off x="0" y="0"/>
              <a:ext cx="4000500" cy="1381200"/>
            </a:xfrm>
            <a:prstGeom prst="roundRect">
              <a:avLst>
                <a:gd fmla="val 5517"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8" name="Google Shape;208;p18"/>
            <p:cNvSpPr/>
            <p:nvPr/>
          </p:nvSpPr>
          <p:spPr>
            <a:xfrm>
              <a:off x="0" y="0"/>
              <a:ext cx="4000500" cy="573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9" name="Google Shape;209;p18"/>
            <p:cNvSpPr txBox="1"/>
            <p:nvPr/>
          </p:nvSpPr>
          <p:spPr>
            <a:xfrm>
              <a:off x="190500" y="190500"/>
              <a:ext cx="3619500" cy="10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50">
                  <a:solidFill>
                    <a:srgbClr val="111827"/>
                  </a:solidFill>
                  <a:latin typeface="Plus Jakarta Sans"/>
                  <a:ea typeface="Plus Jakarta Sans"/>
                  <a:cs typeface="Plus Jakarta Sans"/>
                  <a:sym typeface="Plus Jakarta Sans"/>
                </a:rPr>
                <a:t>Komunikasi</a:t>
              </a:r>
              <a:endParaRPr b="1" sz="1350">
                <a:solidFill>
                  <a:srgbClr val="111827"/>
                </a:solidFill>
                <a:latin typeface="Plus Jakarta Sans"/>
                <a:ea typeface="Plus Jakarta Sans"/>
                <a:cs typeface="Plus Jakarta Sans"/>
                <a:sym typeface="Plus Jakarta Sans"/>
              </a:endParaRPr>
            </a:p>
            <a:p>
              <a:pPr indent="0" lvl="0" marL="0" rtl="0" algn="l">
                <a:spcBef>
                  <a:spcPts val="600"/>
                </a:spcBef>
                <a:spcAft>
                  <a:spcPts val="0"/>
                </a:spcAft>
                <a:buNone/>
              </a:pPr>
              <a:r>
                <a:rPr b="0" lang="en" sz="1050">
                  <a:solidFill>
                    <a:srgbClr val="4B5563"/>
                  </a:solidFill>
                  <a:latin typeface="Inter"/>
                  <a:ea typeface="Inter"/>
                  <a:cs typeface="Inter"/>
                  <a:sym typeface="Inter"/>
                </a:rPr>
                <a:t>Pelaporan perkembangan santri kepada orang tua belum terstruktur dengan baik.</a:t>
              </a:r>
              <a:endParaRPr b="0" sz="1050">
                <a:solidFill>
                  <a:srgbClr val="4B5563"/>
                </a:solidFill>
                <a:latin typeface="Inter"/>
                <a:ea typeface="Inter"/>
                <a:cs typeface="Inter"/>
                <a:sym typeface="Inte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9"/>
          <p:cNvSpPr/>
          <p:nvPr/>
        </p:nvSpPr>
        <p:spPr>
          <a:xfrm>
            <a:off x="0" y="0"/>
            <a:ext cx="9144000" cy="51435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15" name="Google Shape;215;p19"/>
          <p:cNvGrpSpPr/>
          <p:nvPr/>
        </p:nvGrpSpPr>
        <p:grpSpPr>
          <a:xfrm>
            <a:off x="8458200" y="457200"/>
            <a:ext cx="228600" cy="228600"/>
            <a:chOff x="0" y="0"/>
            <a:chExt cx="228600" cy="228600"/>
          </a:xfrm>
        </p:grpSpPr>
        <p:sp>
          <p:nvSpPr>
            <p:cNvPr id="216" name="Google Shape;216;p19"/>
            <p:cNvSpPr/>
            <p:nvPr/>
          </p:nvSpPr>
          <p:spPr>
            <a:xfrm>
              <a:off x="0" y="0"/>
              <a:ext cx="228600" cy="2286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 name="Google Shape;217;p19"/>
            <p:cNvSpPr/>
            <p:nvPr/>
          </p:nvSpPr>
          <p:spPr>
            <a:xfrm>
              <a:off x="38100" y="38100"/>
              <a:ext cx="152400" cy="1524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19"/>
            <p:cNvSpPr/>
            <p:nvPr/>
          </p:nvSpPr>
          <p:spPr>
            <a:xfrm>
              <a:off x="85725" y="85725"/>
              <a:ext cx="57300" cy="573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19" name="Google Shape;219;p19"/>
          <p:cNvSpPr/>
          <p:nvPr/>
        </p:nvSpPr>
        <p:spPr>
          <a:xfrm>
            <a:off x="457200" y="4762500"/>
            <a:ext cx="82296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0" name="Google Shape;220;p19"/>
          <p:cNvSpPr txBox="1"/>
          <p:nvPr/>
        </p:nvSpPr>
        <p:spPr>
          <a:xfrm>
            <a:off x="457200" y="457200"/>
            <a:ext cx="7620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900"/>
              </a:spcAft>
              <a:buNone/>
            </a:pPr>
            <a:r>
              <a:rPr b="1" lang="en" sz="2400">
                <a:solidFill>
                  <a:srgbClr val="111827"/>
                </a:solidFill>
                <a:latin typeface="Plus Jakarta Sans"/>
                <a:ea typeface="Plus Jakarta Sans"/>
                <a:cs typeface="Plus Jakarta Sans"/>
                <a:sym typeface="Plus Jakarta Sans"/>
              </a:rPr>
              <a:t>Contoh Permasalahan Operasional</a:t>
            </a:r>
            <a:endParaRPr b="1" sz="2400">
              <a:solidFill>
                <a:srgbClr val="111827"/>
              </a:solidFill>
              <a:latin typeface="Plus Jakarta Sans"/>
              <a:ea typeface="Plus Jakarta Sans"/>
              <a:cs typeface="Plus Jakarta Sans"/>
              <a:sym typeface="Plus Jakarta Sans"/>
            </a:endParaRPr>
          </a:p>
        </p:txBody>
      </p:sp>
      <p:sp>
        <p:nvSpPr>
          <p:cNvPr id="221" name="Google Shape;221;p19"/>
          <p:cNvSpPr txBox="1"/>
          <p:nvPr/>
        </p:nvSpPr>
        <p:spPr>
          <a:xfrm>
            <a:off x="457200" y="1066800"/>
            <a:ext cx="82296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900"/>
              </a:spcAft>
              <a:buNone/>
            </a:pPr>
            <a:r>
              <a:rPr b="0" lang="en" sz="1125">
                <a:solidFill>
                  <a:srgbClr val="4B5563"/>
                </a:solidFill>
                <a:latin typeface="Inter"/>
                <a:ea typeface="Inter"/>
                <a:cs typeface="Inter"/>
                <a:sym typeface="Inter"/>
              </a:rPr>
              <a:t>Ketidakjelasan sistem seringkali memunculkan isu operasional harian yang menguras waktu dan tenaga. Beberapa contoh konkrit di lapangan:</a:t>
            </a:r>
            <a:endParaRPr b="0" sz="1125">
              <a:solidFill>
                <a:srgbClr val="4B5563"/>
              </a:solidFill>
              <a:latin typeface="Inter"/>
              <a:ea typeface="Inter"/>
              <a:cs typeface="Inter"/>
              <a:sym typeface="Inter"/>
            </a:endParaRPr>
          </a:p>
        </p:txBody>
      </p:sp>
      <p:pic>
        <p:nvPicPr>
          <p:cNvPr id="222" name="Google Shape;222;p19"/>
          <p:cNvPicPr preferRelativeResize="0"/>
          <p:nvPr/>
        </p:nvPicPr>
        <p:blipFill rotWithShape="1">
          <a:blip r:embed="rId3">
            <a:alphaModFix/>
          </a:blip>
          <a:srcRect b="0" l="0" r="0" t="0"/>
          <a:stretch/>
        </p:blipFill>
        <p:spPr>
          <a:xfrm>
            <a:off x="561975" y="1790700"/>
            <a:ext cx="19200" cy="2381400"/>
          </a:xfrm>
          <a:prstGeom prst="rect">
            <a:avLst/>
          </a:prstGeom>
          <a:noFill/>
          <a:ln>
            <a:noFill/>
          </a:ln>
        </p:spPr>
      </p:pic>
      <p:grpSp>
        <p:nvGrpSpPr>
          <p:cNvPr id="223" name="Google Shape;223;p19"/>
          <p:cNvGrpSpPr/>
          <p:nvPr/>
        </p:nvGrpSpPr>
        <p:grpSpPr>
          <a:xfrm>
            <a:off x="457200" y="1676400"/>
            <a:ext cx="8229600" cy="228600"/>
            <a:chOff x="0" y="0"/>
            <a:chExt cx="8229600" cy="228600"/>
          </a:xfrm>
        </p:grpSpPr>
        <p:grpSp>
          <p:nvGrpSpPr>
            <p:cNvPr id="224" name="Google Shape;224;p19"/>
            <p:cNvGrpSpPr/>
            <p:nvPr/>
          </p:nvGrpSpPr>
          <p:grpSpPr>
            <a:xfrm>
              <a:off x="0" y="0"/>
              <a:ext cx="228600" cy="228600"/>
              <a:chOff x="0" y="0"/>
              <a:chExt cx="228600" cy="228600"/>
            </a:xfrm>
          </p:grpSpPr>
          <p:sp>
            <p:nvSpPr>
              <p:cNvPr id="225" name="Google Shape;225;p19"/>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19"/>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27" name="Google Shape;227;p19"/>
            <p:cNvSpPr txBox="1"/>
            <p:nvPr/>
          </p:nvSpPr>
          <p:spPr>
            <a:xfrm>
              <a:off x="342900" y="0"/>
              <a:ext cx="78867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900"/>
                </a:spcAft>
                <a:buNone/>
              </a:pPr>
              <a:r>
                <a:rPr b="0" lang="en" sz="1125">
                  <a:solidFill>
                    <a:srgbClr val="4B5563"/>
                  </a:solidFill>
                  <a:latin typeface="Inter"/>
                  <a:ea typeface="Inter"/>
                  <a:cs typeface="Inter"/>
                  <a:sym typeface="Inter"/>
                </a:rPr>
                <a:t>Pengurus OSIS terkadang harus menangani pelanggaran berat yang seharusnya ranah pembina.</a:t>
              </a:r>
              <a:endParaRPr b="0" sz="1125">
                <a:solidFill>
                  <a:srgbClr val="4B5563"/>
                </a:solidFill>
                <a:latin typeface="Inter"/>
                <a:ea typeface="Inter"/>
                <a:cs typeface="Inter"/>
                <a:sym typeface="Inter"/>
              </a:endParaRPr>
            </a:p>
          </p:txBody>
        </p:sp>
      </p:grpSp>
      <p:grpSp>
        <p:nvGrpSpPr>
          <p:cNvPr id="228" name="Google Shape;228;p19"/>
          <p:cNvGrpSpPr/>
          <p:nvPr/>
        </p:nvGrpSpPr>
        <p:grpSpPr>
          <a:xfrm>
            <a:off x="457200" y="2152650"/>
            <a:ext cx="8229600" cy="228600"/>
            <a:chOff x="0" y="0"/>
            <a:chExt cx="8229600" cy="228600"/>
          </a:xfrm>
        </p:grpSpPr>
        <p:grpSp>
          <p:nvGrpSpPr>
            <p:cNvPr id="229" name="Google Shape;229;p19"/>
            <p:cNvGrpSpPr/>
            <p:nvPr/>
          </p:nvGrpSpPr>
          <p:grpSpPr>
            <a:xfrm>
              <a:off x="0" y="0"/>
              <a:ext cx="228600" cy="228600"/>
              <a:chOff x="0" y="0"/>
              <a:chExt cx="228600" cy="228600"/>
            </a:xfrm>
          </p:grpSpPr>
          <p:sp>
            <p:nvSpPr>
              <p:cNvPr id="230" name="Google Shape;230;p19"/>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19"/>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32" name="Google Shape;232;p19"/>
            <p:cNvSpPr txBox="1"/>
            <p:nvPr/>
          </p:nvSpPr>
          <p:spPr>
            <a:xfrm>
              <a:off x="342900" y="0"/>
              <a:ext cx="78867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900"/>
                </a:spcAft>
                <a:buNone/>
              </a:pPr>
              <a:r>
                <a:rPr b="0" lang="en" sz="1125">
                  <a:solidFill>
                    <a:srgbClr val="4B5563"/>
                  </a:solidFill>
                  <a:latin typeface="Inter"/>
                  <a:ea typeface="Inter"/>
                  <a:cs typeface="Inter"/>
                  <a:sym typeface="Inter"/>
                </a:rPr>
                <a:t>Musyrif di asrama dan wali kelas di sekolah belum memiliki sinkronisasi data dan penanganan.</a:t>
              </a:r>
              <a:endParaRPr b="0" sz="1125">
                <a:solidFill>
                  <a:srgbClr val="4B5563"/>
                </a:solidFill>
                <a:latin typeface="Inter"/>
                <a:ea typeface="Inter"/>
                <a:cs typeface="Inter"/>
                <a:sym typeface="Inter"/>
              </a:endParaRPr>
            </a:p>
          </p:txBody>
        </p:sp>
      </p:grpSp>
      <p:grpSp>
        <p:nvGrpSpPr>
          <p:cNvPr id="233" name="Google Shape;233;p19"/>
          <p:cNvGrpSpPr/>
          <p:nvPr/>
        </p:nvGrpSpPr>
        <p:grpSpPr>
          <a:xfrm>
            <a:off x="457200" y="2628900"/>
            <a:ext cx="8229600" cy="228600"/>
            <a:chOff x="0" y="0"/>
            <a:chExt cx="8229600" cy="228600"/>
          </a:xfrm>
        </p:grpSpPr>
        <p:grpSp>
          <p:nvGrpSpPr>
            <p:cNvPr id="234" name="Google Shape;234;p19"/>
            <p:cNvGrpSpPr/>
            <p:nvPr/>
          </p:nvGrpSpPr>
          <p:grpSpPr>
            <a:xfrm>
              <a:off x="0" y="0"/>
              <a:ext cx="228600" cy="228600"/>
              <a:chOff x="0" y="0"/>
              <a:chExt cx="228600" cy="228600"/>
            </a:xfrm>
          </p:grpSpPr>
          <p:sp>
            <p:nvSpPr>
              <p:cNvPr id="235" name="Google Shape;235;p19"/>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19"/>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37" name="Google Shape;237;p19"/>
            <p:cNvSpPr txBox="1"/>
            <p:nvPr/>
          </p:nvSpPr>
          <p:spPr>
            <a:xfrm>
              <a:off x="342900" y="0"/>
              <a:ext cx="78867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900"/>
                </a:spcAft>
                <a:buNone/>
              </a:pPr>
              <a:r>
                <a:rPr b="0" lang="en" sz="1125">
                  <a:solidFill>
                    <a:srgbClr val="4B5563"/>
                  </a:solidFill>
                  <a:latin typeface="Inter"/>
                  <a:ea typeface="Inter"/>
                  <a:cs typeface="Inter"/>
                  <a:sym typeface="Inter"/>
                </a:rPr>
                <a:t>Masih ditemukan santri kelas XII yang pemahaman dasarnya berada di tingkat Ula atau Wustho.</a:t>
              </a:r>
              <a:endParaRPr b="0" sz="1125">
                <a:solidFill>
                  <a:srgbClr val="4B5563"/>
                </a:solidFill>
                <a:latin typeface="Inter"/>
                <a:ea typeface="Inter"/>
                <a:cs typeface="Inter"/>
                <a:sym typeface="Inter"/>
              </a:endParaRPr>
            </a:p>
          </p:txBody>
        </p:sp>
      </p:grpSp>
      <p:grpSp>
        <p:nvGrpSpPr>
          <p:cNvPr id="238" name="Google Shape;238;p19"/>
          <p:cNvGrpSpPr/>
          <p:nvPr/>
        </p:nvGrpSpPr>
        <p:grpSpPr>
          <a:xfrm>
            <a:off x="457200" y="3105150"/>
            <a:ext cx="8229600" cy="228600"/>
            <a:chOff x="0" y="0"/>
            <a:chExt cx="8229600" cy="228600"/>
          </a:xfrm>
        </p:grpSpPr>
        <p:grpSp>
          <p:nvGrpSpPr>
            <p:cNvPr id="239" name="Google Shape;239;p19"/>
            <p:cNvGrpSpPr/>
            <p:nvPr/>
          </p:nvGrpSpPr>
          <p:grpSpPr>
            <a:xfrm>
              <a:off x="0" y="0"/>
              <a:ext cx="228600" cy="228600"/>
              <a:chOff x="0" y="0"/>
              <a:chExt cx="228600" cy="228600"/>
            </a:xfrm>
          </p:grpSpPr>
          <p:sp>
            <p:nvSpPr>
              <p:cNvPr id="240" name="Google Shape;240;p19"/>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19"/>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42" name="Google Shape;242;p19"/>
            <p:cNvSpPr txBox="1"/>
            <p:nvPr/>
          </p:nvSpPr>
          <p:spPr>
            <a:xfrm>
              <a:off x="342900" y="0"/>
              <a:ext cx="78867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900"/>
                </a:spcAft>
                <a:buNone/>
              </a:pPr>
              <a:r>
                <a:rPr b="0" lang="en" sz="1125">
                  <a:solidFill>
                    <a:srgbClr val="4B5563"/>
                  </a:solidFill>
                  <a:latin typeface="Inter"/>
                  <a:ea typeface="Inter"/>
                  <a:cs typeface="Inter"/>
                  <a:sym typeface="Inter"/>
                </a:rPr>
                <a:t>Kekosongan roadmap kegiatan pasca ujian kelas IX.</a:t>
              </a:r>
              <a:endParaRPr b="0" sz="1125">
                <a:solidFill>
                  <a:srgbClr val="4B5563"/>
                </a:solidFill>
                <a:latin typeface="Inter"/>
                <a:ea typeface="Inter"/>
                <a:cs typeface="Inter"/>
                <a:sym typeface="Inter"/>
              </a:endParaRPr>
            </a:p>
          </p:txBody>
        </p:sp>
      </p:grpSp>
      <p:grpSp>
        <p:nvGrpSpPr>
          <p:cNvPr id="243" name="Google Shape;243;p19"/>
          <p:cNvGrpSpPr/>
          <p:nvPr/>
        </p:nvGrpSpPr>
        <p:grpSpPr>
          <a:xfrm>
            <a:off x="457200" y="3581400"/>
            <a:ext cx="8229600" cy="228600"/>
            <a:chOff x="0" y="0"/>
            <a:chExt cx="8229600" cy="228600"/>
          </a:xfrm>
        </p:grpSpPr>
        <p:grpSp>
          <p:nvGrpSpPr>
            <p:cNvPr id="244" name="Google Shape;244;p19"/>
            <p:cNvGrpSpPr/>
            <p:nvPr/>
          </p:nvGrpSpPr>
          <p:grpSpPr>
            <a:xfrm>
              <a:off x="0" y="0"/>
              <a:ext cx="228600" cy="228600"/>
              <a:chOff x="0" y="0"/>
              <a:chExt cx="228600" cy="228600"/>
            </a:xfrm>
          </p:grpSpPr>
          <p:sp>
            <p:nvSpPr>
              <p:cNvPr id="245" name="Google Shape;245;p19"/>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6" name="Google Shape;246;p19"/>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47" name="Google Shape;247;p19"/>
            <p:cNvSpPr txBox="1"/>
            <p:nvPr/>
          </p:nvSpPr>
          <p:spPr>
            <a:xfrm>
              <a:off x="342900" y="0"/>
              <a:ext cx="78867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900"/>
                </a:spcAft>
                <a:buNone/>
              </a:pPr>
              <a:r>
                <a:rPr b="0" lang="en" sz="1125">
                  <a:solidFill>
                    <a:srgbClr val="4B5563"/>
                  </a:solidFill>
                  <a:latin typeface="Inter"/>
                  <a:ea typeface="Inter"/>
                  <a:cs typeface="Inter"/>
                  <a:sym typeface="Inter"/>
                </a:rPr>
                <a:t>Data santri tersebar di berbagai catatan pribadi, tidak terpusat.</a:t>
              </a:r>
              <a:endParaRPr b="0" sz="1125">
                <a:solidFill>
                  <a:srgbClr val="4B5563"/>
                </a:solidFill>
                <a:latin typeface="Inter"/>
                <a:ea typeface="Inter"/>
                <a:cs typeface="Inter"/>
                <a:sym typeface="Inter"/>
              </a:endParaRPr>
            </a:p>
          </p:txBody>
        </p:sp>
      </p:grpSp>
      <p:grpSp>
        <p:nvGrpSpPr>
          <p:cNvPr id="248" name="Google Shape;248;p19"/>
          <p:cNvGrpSpPr/>
          <p:nvPr/>
        </p:nvGrpSpPr>
        <p:grpSpPr>
          <a:xfrm>
            <a:off x="457200" y="4057650"/>
            <a:ext cx="8229600" cy="228600"/>
            <a:chOff x="0" y="0"/>
            <a:chExt cx="8229600" cy="228600"/>
          </a:xfrm>
        </p:grpSpPr>
        <p:grpSp>
          <p:nvGrpSpPr>
            <p:cNvPr id="249" name="Google Shape;249;p19"/>
            <p:cNvGrpSpPr/>
            <p:nvPr/>
          </p:nvGrpSpPr>
          <p:grpSpPr>
            <a:xfrm>
              <a:off x="0" y="0"/>
              <a:ext cx="228600" cy="228600"/>
              <a:chOff x="0" y="0"/>
              <a:chExt cx="228600" cy="228600"/>
            </a:xfrm>
          </p:grpSpPr>
          <p:sp>
            <p:nvSpPr>
              <p:cNvPr id="250" name="Google Shape;250;p19"/>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1" name="Google Shape;251;p19"/>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52" name="Google Shape;252;p19"/>
            <p:cNvSpPr txBox="1"/>
            <p:nvPr/>
          </p:nvSpPr>
          <p:spPr>
            <a:xfrm>
              <a:off x="342900" y="0"/>
              <a:ext cx="78867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900"/>
                </a:spcAft>
                <a:buNone/>
              </a:pPr>
              <a:r>
                <a:rPr b="0" lang="en" sz="1125">
                  <a:solidFill>
                    <a:srgbClr val="4B5563"/>
                  </a:solidFill>
                  <a:latin typeface="Inter"/>
                  <a:ea typeface="Inter"/>
                  <a:cs typeface="Inter"/>
                  <a:sym typeface="Inter"/>
                </a:rPr>
                <a:t>Standar pembinaan dan sanksi berbeda-beda antar pembina.</a:t>
              </a:r>
              <a:endParaRPr b="0" sz="1125">
                <a:solidFill>
                  <a:srgbClr val="4B5563"/>
                </a:solidFill>
                <a:latin typeface="Inter"/>
                <a:ea typeface="Inter"/>
                <a:cs typeface="Inter"/>
                <a:sym typeface="Inte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grpSp>
        <p:nvGrpSpPr>
          <p:cNvPr id="257" name="Google Shape;257;p20"/>
          <p:cNvGrpSpPr/>
          <p:nvPr/>
        </p:nvGrpSpPr>
        <p:grpSpPr>
          <a:xfrm>
            <a:off x="0" y="0"/>
            <a:ext cx="9144000" cy="5143500"/>
            <a:chOff x="0" y="0"/>
            <a:chExt cx="9144000" cy="5143500"/>
          </a:xfrm>
        </p:grpSpPr>
        <p:sp>
          <p:nvSpPr>
            <p:cNvPr id="258" name="Google Shape;258;p20"/>
            <p:cNvSpPr/>
            <p:nvPr/>
          </p:nvSpPr>
          <p:spPr>
            <a:xfrm>
              <a:off x="0" y="0"/>
              <a:ext cx="9144000" cy="51435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59" name="Google Shape;259;p20"/>
            <p:cNvGrpSpPr/>
            <p:nvPr/>
          </p:nvGrpSpPr>
          <p:grpSpPr>
            <a:xfrm>
              <a:off x="8458200" y="457200"/>
              <a:ext cx="228600" cy="228600"/>
              <a:chOff x="0" y="0"/>
              <a:chExt cx="228600" cy="228600"/>
            </a:xfrm>
          </p:grpSpPr>
          <p:sp>
            <p:nvSpPr>
              <p:cNvPr id="260" name="Google Shape;260;p20"/>
              <p:cNvSpPr/>
              <p:nvPr/>
            </p:nvSpPr>
            <p:spPr>
              <a:xfrm>
                <a:off x="0" y="0"/>
                <a:ext cx="228600" cy="2286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1" name="Google Shape;261;p20"/>
              <p:cNvSpPr/>
              <p:nvPr/>
            </p:nvSpPr>
            <p:spPr>
              <a:xfrm>
                <a:off x="38100" y="38100"/>
                <a:ext cx="152400" cy="1524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2" name="Google Shape;262;p20"/>
              <p:cNvSpPr/>
              <p:nvPr/>
            </p:nvSpPr>
            <p:spPr>
              <a:xfrm>
                <a:off x="85725" y="85725"/>
                <a:ext cx="57300" cy="573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63" name="Google Shape;263;p20"/>
            <p:cNvSpPr/>
            <p:nvPr/>
          </p:nvSpPr>
          <p:spPr>
            <a:xfrm>
              <a:off x="457200" y="4762500"/>
              <a:ext cx="82296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64" name="Google Shape;264;p20"/>
          <p:cNvGrpSpPr/>
          <p:nvPr/>
        </p:nvGrpSpPr>
        <p:grpSpPr>
          <a:xfrm>
            <a:off x="571500" y="762000"/>
            <a:ext cx="2667150" cy="3429000"/>
            <a:chOff x="571500" y="762000"/>
            <a:chExt cx="2667150" cy="3429000"/>
          </a:xfrm>
        </p:grpSpPr>
        <p:sp>
          <p:nvSpPr>
            <p:cNvPr id="265" name="Google Shape;265;p20"/>
            <p:cNvSpPr txBox="1"/>
            <p:nvPr/>
          </p:nvSpPr>
          <p:spPr>
            <a:xfrm>
              <a:off x="571500" y="762000"/>
              <a:ext cx="26670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111827"/>
                  </a:solidFill>
                  <a:latin typeface="Plus Jakarta Sans"/>
                  <a:ea typeface="Plus Jakarta Sans"/>
                  <a:cs typeface="Plus Jakarta Sans"/>
                  <a:sym typeface="Plus Jakarta Sans"/>
                </a:rPr>
                <a:t>Dampak</a:t>
              </a:r>
              <a:br>
                <a:rPr b="1" lang="en" sz="2400">
                  <a:solidFill>
                    <a:srgbClr val="111827"/>
                  </a:solidFill>
                  <a:latin typeface="Plus Jakarta Sans"/>
                  <a:ea typeface="Plus Jakarta Sans"/>
                  <a:cs typeface="Plus Jakarta Sans"/>
                  <a:sym typeface="Plus Jakarta Sans"/>
                </a:rPr>
              </a:br>
              <a:r>
                <a:rPr b="1" lang="en" sz="2400">
                  <a:solidFill>
                    <a:srgbClr val="111827"/>
                  </a:solidFill>
                  <a:latin typeface="Plus Jakarta Sans"/>
                  <a:ea typeface="Plus Jakarta Sans"/>
                  <a:cs typeface="Plus Jakarta Sans"/>
                  <a:sym typeface="Plus Jakarta Sans"/>
                </a:rPr>
                <a:t>Permasalahan</a:t>
              </a:r>
              <a:endParaRPr b="1" sz="2400">
                <a:solidFill>
                  <a:srgbClr val="111827"/>
                </a:solidFill>
                <a:latin typeface="Plus Jakarta Sans"/>
                <a:ea typeface="Plus Jakarta Sans"/>
                <a:cs typeface="Plus Jakarta Sans"/>
                <a:sym typeface="Plus Jakarta Sans"/>
              </a:endParaRPr>
            </a:p>
          </p:txBody>
        </p:sp>
        <p:sp>
          <p:nvSpPr>
            <p:cNvPr id="266" name="Google Shape;266;p20"/>
            <p:cNvSpPr/>
            <p:nvPr/>
          </p:nvSpPr>
          <p:spPr>
            <a:xfrm>
              <a:off x="571500" y="1905000"/>
              <a:ext cx="28500" cy="14289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7" name="Google Shape;267;p20"/>
            <p:cNvSpPr txBox="1"/>
            <p:nvPr/>
          </p:nvSpPr>
          <p:spPr>
            <a:xfrm>
              <a:off x="742950" y="1905000"/>
              <a:ext cx="24957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1125">
                  <a:solidFill>
                    <a:srgbClr val="4B5563"/>
                  </a:solidFill>
                  <a:latin typeface="Inter Medium"/>
                  <a:ea typeface="Inter Medium"/>
                  <a:cs typeface="Inter Medium"/>
                  <a:sym typeface="Inter Medium"/>
                </a:rPr>
                <a:t>Jika permasalahan operasional ini dibiarkan tanpa adanya sistem yang terstruktur, efek negatifnya akan sangat merugikan institusi dan santri:</a:t>
              </a:r>
              <a:endParaRPr b="0" i="1" sz="1125">
                <a:solidFill>
                  <a:srgbClr val="4B5563"/>
                </a:solidFill>
                <a:latin typeface="Inter Medium"/>
                <a:ea typeface="Inter Medium"/>
                <a:cs typeface="Inter Medium"/>
                <a:sym typeface="Inter Medium"/>
              </a:endParaRPr>
            </a:p>
          </p:txBody>
        </p:sp>
      </p:grpSp>
      <p:grpSp>
        <p:nvGrpSpPr>
          <p:cNvPr id="268" name="Google Shape;268;p20"/>
          <p:cNvGrpSpPr/>
          <p:nvPr/>
        </p:nvGrpSpPr>
        <p:grpSpPr>
          <a:xfrm>
            <a:off x="3638550" y="762000"/>
            <a:ext cx="4933950" cy="3571950"/>
            <a:chOff x="3638550" y="762000"/>
            <a:chExt cx="4933950" cy="3571950"/>
          </a:xfrm>
        </p:grpSpPr>
        <p:grpSp>
          <p:nvGrpSpPr>
            <p:cNvPr id="269" name="Google Shape;269;p20"/>
            <p:cNvGrpSpPr/>
            <p:nvPr/>
          </p:nvGrpSpPr>
          <p:grpSpPr>
            <a:xfrm>
              <a:off x="3638550" y="762000"/>
              <a:ext cx="4933950" cy="428700"/>
              <a:chOff x="19050" y="0"/>
              <a:chExt cx="4933950" cy="428700"/>
            </a:xfrm>
          </p:grpSpPr>
          <p:sp>
            <p:nvSpPr>
              <p:cNvPr id="270" name="Google Shape;270;p20"/>
              <p:cNvSpPr/>
              <p:nvPr/>
            </p:nvSpPr>
            <p:spPr>
              <a:xfrm>
                <a:off x="19050" y="19050"/>
                <a:ext cx="152400" cy="152400"/>
              </a:xfrm>
              <a:prstGeom prst="ellipse">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1" name="Google Shape;271;p20"/>
              <p:cNvSpPr/>
              <p:nvPr/>
            </p:nvSpPr>
            <p:spPr>
              <a:xfrm>
                <a:off x="95250" y="57150"/>
                <a:ext cx="0" cy="76200"/>
              </a:xfrm>
              <a:custGeom>
                <a:rect b="b" l="l" r="r" t="t"/>
                <a:pathLst>
                  <a:path extrusionOk="0" h="120000" w="120000">
                    <a:moveTo>
                      <a:pt x="0" y="0"/>
                    </a:moveTo>
                    <a:lnTo>
                      <a:pt x="0" y="75000"/>
                    </a:lnTo>
                    <a:moveTo>
                      <a:pt x="0" y="120000"/>
                    </a:moveTo>
                    <a:lnTo>
                      <a:pt x="120000" y="120000"/>
                    </a:lnTo>
                  </a:path>
                </a:pathLst>
              </a:custGeom>
              <a:solidFill>
                <a:srgbClr val="000000">
                  <a:alpha val="0"/>
                </a:srgbClr>
              </a:solidFill>
              <a:ln cap="rnd" cmpd="sng" w="14300">
                <a:solidFill>
                  <a:srgbClr val="4B556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2" name="Google Shape;272;p20"/>
              <p:cNvSpPr txBox="1"/>
              <p:nvPr/>
            </p:nvSpPr>
            <p:spPr>
              <a:xfrm>
                <a:off x="266700" y="0"/>
                <a:ext cx="46863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4B5563"/>
                    </a:solidFill>
                    <a:latin typeface="Inter Medium"/>
                    <a:ea typeface="Inter Medium"/>
                    <a:cs typeface="Inter Medium"/>
                    <a:sym typeface="Inter Medium"/>
                  </a:rPr>
                  <a:t>Beban kerja menjadi tidak merata, memicu kelelahan (burnout) pada individu tertentu.</a:t>
                </a:r>
                <a:endParaRPr b="0" sz="1050">
                  <a:solidFill>
                    <a:srgbClr val="4B5563"/>
                  </a:solidFill>
                  <a:latin typeface="Inter Medium"/>
                  <a:ea typeface="Inter Medium"/>
                  <a:cs typeface="Inter Medium"/>
                  <a:sym typeface="Inter Medium"/>
                </a:endParaRPr>
              </a:p>
            </p:txBody>
          </p:sp>
        </p:grpSp>
        <p:grpSp>
          <p:nvGrpSpPr>
            <p:cNvPr id="273" name="Google Shape;273;p20"/>
            <p:cNvGrpSpPr/>
            <p:nvPr/>
          </p:nvGrpSpPr>
          <p:grpSpPr>
            <a:xfrm>
              <a:off x="3638550" y="1285875"/>
              <a:ext cx="4933950" cy="428700"/>
              <a:chOff x="19050" y="0"/>
              <a:chExt cx="4933950" cy="428700"/>
            </a:xfrm>
          </p:grpSpPr>
          <p:sp>
            <p:nvSpPr>
              <p:cNvPr id="274" name="Google Shape;274;p20"/>
              <p:cNvSpPr/>
              <p:nvPr/>
            </p:nvSpPr>
            <p:spPr>
              <a:xfrm>
                <a:off x="19050" y="19050"/>
                <a:ext cx="152400" cy="152400"/>
              </a:xfrm>
              <a:prstGeom prst="ellipse">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5" name="Google Shape;275;p20"/>
              <p:cNvSpPr/>
              <p:nvPr/>
            </p:nvSpPr>
            <p:spPr>
              <a:xfrm>
                <a:off x="95250" y="57150"/>
                <a:ext cx="0" cy="76200"/>
              </a:xfrm>
              <a:custGeom>
                <a:rect b="b" l="l" r="r" t="t"/>
                <a:pathLst>
                  <a:path extrusionOk="0" h="120000" w="120000">
                    <a:moveTo>
                      <a:pt x="0" y="0"/>
                    </a:moveTo>
                    <a:lnTo>
                      <a:pt x="0" y="75000"/>
                    </a:lnTo>
                    <a:moveTo>
                      <a:pt x="0" y="120000"/>
                    </a:moveTo>
                    <a:lnTo>
                      <a:pt x="120000" y="120000"/>
                    </a:lnTo>
                  </a:path>
                </a:pathLst>
              </a:custGeom>
              <a:solidFill>
                <a:srgbClr val="000000">
                  <a:alpha val="0"/>
                </a:srgbClr>
              </a:solidFill>
              <a:ln cap="rnd" cmpd="sng" w="14300">
                <a:solidFill>
                  <a:srgbClr val="4B556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6" name="Google Shape;276;p20"/>
              <p:cNvSpPr txBox="1"/>
              <p:nvPr/>
            </p:nvSpPr>
            <p:spPr>
              <a:xfrm>
                <a:off x="266700" y="0"/>
                <a:ext cx="46863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4B5563"/>
                    </a:solidFill>
                    <a:latin typeface="Inter Medium"/>
                    <a:ea typeface="Inter Medium"/>
                    <a:cs typeface="Inter Medium"/>
                    <a:sym typeface="Inter Medium"/>
                  </a:rPr>
                  <a:t>Fungsi pendidik bergeser menjadi sekadar penghukum.</a:t>
                </a:r>
                <a:endParaRPr b="0" sz="1050">
                  <a:solidFill>
                    <a:srgbClr val="4B5563"/>
                  </a:solidFill>
                  <a:latin typeface="Inter Medium"/>
                  <a:ea typeface="Inter Medium"/>
                  <a:cs typeface="Inter Medium"/>
                  <a:sym typeface="Inter Medium"/>
                </a:endParaRPr>
              </a:p>
            </p:txBody>
          </p:sp>
        </p:grpSp>
        <p:grpSp>
          <p:nvGrpSpPr>
            <p:cNvPr id="277" name="Google Shape;277;p20"/>
            <p:cNvGrpSpPr/>
            <p:nvPr/>
          </p:nvGrpSpPr>
          <p:grpSpPr>
            <a:xfrm>
              <a:off x="3638550" y="1809750"/>
              <a:ext cx="4933950" cy="428700"/>
              <a:chOff x="19050" y="0"/>
              <a:chExt cx="4933950" cy="428700"/>
            </a:xfrm>
          </p:grpSpPr>
          <p:sp>
            <p:nvSpPr>
              <p:cNvPr id="278" name="Google Shape;278;p20"/>
              <p:cNvSpPr/>
              <p:nvPr/>
            </p:nvSpPr>
            <p:spPr>
              <a:xfrm>
                <a:off x="19050" y="19050"/>
                <a:ext cx="152400" cy="152400"/>
              </a:xfrm>
              <a:prstGeom prst="ellipse">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9" name="Google Shape;279;p20"/>
              <p:cNvSpPr/>
              <p:nvPr/>
            </p:nvSpPr>
            <p:spPr>
              <a:xfrm>
                <a:off x="95250" y="57150"/>
                <a:ext cx="0" cy="76200"/>
              </a:xfrm>
              <a:custGeom>
                <a:rect b="b" l="l" r="r" t="t"/>
                <a:pathLst>
                  <a:path extrusionOk="0" h="120000" w="120000">
                    <a:moveTo>
                      <a:pt x="0" y="0"/>
                    </a:moveTo>
                    <a:lnTo>
                      <a:pt x="0" y="75000"/>
                    </a:lnTo>
                    <a:moveTo>
                      <a:pt x="0" y="120000"/>
                    </a:moveTo>
                    <a:lnTo>
                      <a:pt x="120000" y="120000"/>
                    </a:lnTo>
                  </a:path>
                </a:pathLst>
              </a:custGeom>
              <a:solidFill>
                <a:srgbClr val="000000">
                  <a:alpha val="0"/>
                </a:srgbClr>
              </a:solidFill>
              <a:ln cap="rnd" cmpd="sng" w="14300">
                <a:solidFill>
                  <a:srgbClr val="4B556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0" name="Google Shape;280;p20"/>
              <p:cNvSpPr txBox="1"/>
              <p:nvPr/>
            </p:nvSpPr>
            <p:spPr>
              <a:xfrm>
                <a:off x="266700" y="0"/>
                <a:ext cx="46863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4B5563"/>
                    </a:solidFill>
                    <a:latin typeface="Inter Medium"/>
                    <a:ea typeface="Inter Medium"/>
                    <a:cs typeface="Inter Medium"/>
                    <a:sym typeface="Inter Medium"/>
                  </a:rPr>
                  <a:t>Perkembangan santri sulit dipantau secara akurat dan objektif.</a:t>
                </a:r>
                <a:endParaRPr b="0" sz="1050">
                  <a:solidFill>
                    <a:srgbClr val="4B5563"/>
                  </a:solidFill>
                  <a:latin typeface="Inter Medium"/>
                  <a:ea typeface="Inter Medium"/>
                  <a:cs typeface="Inter Medium"/>
                  <a:sym typeface="Inter Medium"/>
                </a:endParaRPr>
              </a:p>
            </p:txBody>
          </p:sp>
        </p:grpSp>
        <p:grpSp>
          <p:nvGrpSpPr>
            <p:cNvPr id="281" name="Google Shape;281;p20"/>
            <p:cNvGrpSpPr/>
            <p:nvPr/>
          </p:nvGrpSpPr>
          <p:grpSpPr>
            <a:xfrm>
              <a:off x="3638550" y="2333625"/>
              <a:ext cx="4933950" cy="428700"/>
              <a:chOff x="19050" y="0"/>
              <a:chExt cx="4933950" cy="428700"/>
            </a:xfrm>
          </p:grpSpPr>
          <p:sp>
            <p:nvSpPr>
              <p:cNvPr id="282" name="Google Shape;282;p20"/>
              <p:cNvSpPr/>
              <p:nvPr/>
            </p:nvSpPr>
            <p:spPr>
              <a:xfrm>
                <a:off x="19050" y="19050"/>
                <a:ext cx="152400" cy="152400"/>
              </a:xfrm>
              <a:prstGeom prst="ellipse">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20"/>
              <p:cNvSpPr/>
              <p:nvPr/>
            </p:nvSpPr>
            <p:spPr>
              <a:xfrm>
                <a:off x="95250" y="57150"/>
                <a:ext cx="0" cy="76200"/>
              </a:xfrm>
              <a:custGeom>
                <a:rect b="b" l="l" r="r" t="t"/>
                <a:pathLst>
                  <a:path extrusionOk="0" h="120000" w="120000">
                    <a:moveTo>
                      <a:pt x="0" y="0"/>
                    </a:moveTo>
                    <a:lnTo>
                      <a:pt x="0" y="75000"/>
                    </a:lnTo>
                    <a:moveTo>
                      <a:pt x="0" y="120000"/>
                    </a:moveTo>
                    <a:lnTo>
                      <a:pt x="120000" y="120000"/>
                    </a:lnTo>
                  </a:path>
                </a:pathLst>
              </a:custGeom>
              <a:solidFill>
                <a:srgbClr val="000000">
                  <a:alpha val="0"/>
                </a:srgbClr>
              </a:solidFill>
              <a:ln cap="rnd" cmpd="sng" w="14300">
                <a:solidFill>
                  <a:srgbClr val="4B556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4" name="Google Shape;284;p20"/>
              <p:cNvSpPr txBox="1"/>
              <p:nvPr/>
            </p:nvSpPr>
            <p:spPr>
              <a:xfrm>
                <a:off x="266700" y="0"/>
                <a:ext cx="46863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4B5563"/>
                    </a:solidFill>
                    <a:latin typeface="Inter Medium"/>
                    <a:ea typeface="Inter Medium"/>
                    <a:cs typeface="Inter Medium"/>
                    <a:sym typeface="Inter Medium"/>
                  </a:rPr>
                  <a:t>Penanganan masalah yang berbeda-beda memunculkan rasa ketidakadilan.</a:t>
                </a:r>
                <a:endParaRPr b="0" sz="1050">
                  <a:solidFill>
                    <a:srgbClr val="4B5563"/>
                  </a:solidFill>
                  <a:latin typeface="Inter Medium"/>
                  <a:ea typeface="Inter Medium"/>
                  <a:cs typeface="Inter Medium"/>
                  <a:sym typeface="Inter Medium"/>
                </a:endParaRPr>
              </a:p>
            </p:txBody>
          </p:sp>
        </p:grpSp>
        <p:grpSp>
          <p:nvGrpSpPr>
            <p:cNvPr id="285" name="Google Shape;285;p20"/>
            <p:cNvGrpSpPr/>
            <p:nvPr/>
          </p:nvGrpSpPr>
          <p:grpSpPr>
            <a:xfrm>
              <a:off x="3638550" y="2857500"/>
              <a:ext cx="4933950" cy="428700"/>
              <a:chOff x="19050" y="0"/>
              <a:chExt cx="4933950" cy="428700"/>
            </a:xfrm>
          </p:grpSpPr>
          <p:sp>
            <p:nvSpPr>
              <p:cNvPr id="286" name="Google Shape;286;p20"/>
              <p:cNvSpPr/>
              <p:nvPr/>
            </p:nvSpPr>
            <p:spPr>
              <a:xfrm>
                <a:off x="19050" y="19050"/>
                <a:ext cx="152400" cy="152400"/>
              </a:xfrm>
              <a:prstGeom prst="ellipse">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7" name="Google Shape;287;p20"/>
              <p:cNvSpPr/>
              <p:nvPr/>
            </p:nvSpPr>
            <p:spPr>
              <a:xfrm>
                <a:off x="95250" y="57150"/>
                <a:ext cx="0" cy="76200"/>
              </a:xfrm>
              <a:custGeom>
                <a:rect b="b" l="l" r="r" t="t"/>
                <a:pathLst>
                  <a:path extrusionOk="0" h="120000" w="120000">
                    <a:moveTo>
                      <a:pt x="0" y="0"/>
                    </a:moveTo>
                    <a:lnTo>
                      <a:pt x="0" y="75000"/>
                    </a:lnTo>
                    <a:moveTo>
                      <a:pt x="0" y="120000"/>
                    </a:moveTo>
                    <a:lnTo>
                      <a:pt x="120000" y="120000"/>
                    </a:lnTo>
                  </a:path>
                </a:pathLst>
              </a:custGeom>
              <a:solidFill>
                <a:srgbClr val="000000">
                  <a:alpha val="0"/>
                </a:srgbClr>
              </a:solidFill>
              <a:ln cap="rnd" cmpd="sng" w="14300">
                <a:solidFill>
                  <a:srgbClr val="4B556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20"/>
              <p:cNvSpPr txBox="1"/>
              <p:nvPr/>
            </p:nvSpPr>
            <p:spPr>
              <a:xfrm>
                <a:off x="266700" y="0"/>
                <a:ext cx="46863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4B5563"/>
                    </a:solidFill>
                    <a:latin typeface="Inter Medium"/>
                    <a:ea typeface="Inter Medium"/>
                    <a:cs typeface="Inter Medium"/>
                    <a:sym typeface="Inter Medium"/>
                  </a:rPr>
                  <a:t>Orang tua menjadi bingung dan berpotensi kehilangan kepercayaan.</a:t>
                </a:r>
                <a:endParaRPr b="0" sz="1050">
                  <a:solidFill>
                    <a:srgbClr val="4B5563"/>
                  </a:solidFill>
                  <a:latin typeface="Inter Medium"/>
                  <a:ea typeface="Inter Medium"/>
                  <a:cs typeface="Inter Medium"/>
                  <a:sym typeface="Inter Medium"/>
                </a:endParaRPr>
              </a:p>
            </p:txBody>
          </p:sp>
        </p:grpSp>
        <p:grpSp>
          <p:nvGrpSpPr>
            <p:cNvPr id="289" name="Google Shape;289;p20"/>
            <p:cNvGrpSpPr/>
            <p:nvPr/>
          </p:nvGrpSpPr>
          <p:grpSpPr>
            <a:xfrm>
              <a:off x="3638550" y="3381375"/>
              <a:ext cx="4933950" cy="428700"/>
              <a:chOff x="19050" y="0"/>
              <a:chExt cx="4933950" cy="428700"/>
            </a:xfrm>
          </p:grpSpPr>
          <p:sp>
            <p:nvSpPr>
              <p:cNvPr id="290" name="Google Shape;290;p20"/>
              <p:cNvSpPr/>
              <p:nvPr/>
            </p:nvSpPr>
            <p:spPr>
              <a:xfrm>
                <a:off x="19050" y="19050"/>
                <a:ext cx="152400" cy="152400"/>
              </a:xfrm>
              <a:prstGeom prst="ellipse">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1" name="Google Shape;291;p20"/>
              <p:cNvSpPr/>
              <p:nvPr/>
            </p:nvSpPr>
            <p:spPr>
              <a:xfrm>
                <a:off x="95250" y="57150"/>
                <a:ext cx="0" cy="76200"/>
              </a:xfrm>
              <a:custGeom>
                <a:rect b="b" l="l" r="r" t="t"/>
                <a:pathLst>
                  <a:path extrusionOk="0" h="120000" w="120000">
                    <a:moveTo>
                      <a:pt x="0" y="0"/>
                    </a:moveTo>
                    <a:lnTo>
                      <a:pt x="0" y="75000"/>
                    </a:lnTo>
                    <a:moveTo>
                      <a:pt x="0" y="120000"/>
                    </a:moveTo>
                    <a:lnTo>
                      <a:pt x="120000" y="120000"/>
                    </a:lnTo>
                  </a:path>
                </a:pathLst>
              </a:custGeom>
              <a:solidFill>
                <a:srgbClr val="000000">
                  <a:alpha val="0"/>
                </a:srgbClr>
              </a:solidFill>
              <a:ln cap="rnd" cmpd="sng" w="14300">
                <a:solidFill>
                  <a:srgbClr val="4B556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2" name="Google Shape;292;p20"/>
              <p:cNvSpPr txBox="1"/>
              <p:nvPr/>
            </p:nvSpPr>
            <p:spPr>
              <a:xfrm>
                <a:off x="266700" y="0"/>
                <a:ext cx="46863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4B5563"/>
                    </a:solidFill>
                    <a:latin typeface="Inter Medium"/>
                    <a:ea typeface="Inter Medium"/>
                    <a:cs typeface="Inter Medium"/>
                    <a:sym typeface="Inter Medium"/>
                  </a:rPr>
                  <a:t>Regenerasi kepemimpinan dan pembina menjadi sulit.</a:t>
                </a:r>
                <a:endParaRPr b="0" sz="1050">
                  <a:solidFill>
                    <a:srgbClr val="4B5563"/>
                  </a:solidFill>
                  <a:latin typeface="Inter Medium"/>
                  <a:ea typeface="Inter Medium"/>
                  <a:cs typeface="Inter Medium"/>
                  <a:sym typeface="Inter Medium"/>
                </a:endParaRPr>
              </a:p>
            </p:txBody>
          </p:sp>
        </p:grpSp>
        <p:grpSp>
          <p:nvGrpSpPr>
            <p:cNvPr id="293" name="Google Shape;293;p20"/>
            <p:cNvGrpSpPr/>
            <p:nvPr/>
          </p:nvGrpSpPr>
          <p:grpSpPr>
            <a:xfrm>
              <a:off x="3638550" y="3905250"/>
              <a:ext cx="4933950" cy="428700"/>
              <a:chOff x="19050" y="0"/>
              <a:chExt cx="4933950" cy="428700"/>
            </a:xfrm>
          </p:grpSpPr>
          <p:sp>
            <p:nvSpPr>
              <p:cNvPr id="294" name="Google Shape;294;p20"/>
              <p:cNvSpPr/>
              <p:nvPr/>
            </p:nvSpPr>
            <p:spPr>
              <a:xfrm>
                <a:off x="19050" y="19050"/>
                <a:ext cx="152400" cy="152400"/>
              </a:xfrm>
              <a:prstGeom prst="ellipse">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20"/>
              <p:cNvSpPr/>
              <p:nvPr/>
            </p:nvSpPr>
            <p:spPr>
              <a:xfrm>
                <a:off x="95250" y="57150"/>
                <a:ext cx="0" cy="76200"/>
              </a:xfrm>
              <a:custGeom>
                <a:rect b="b" l="l" r="r" t="t"/>
                <a:pathLst>
                  <a:path extrusionOk="0" h="120000" w="120000">
                    <a:moveTo>
                      <a:pt x="0" y="0"/>
                    </a:moveTo>
                    <a:lnTo>
                      <a:pt x="0" y="75000"/>
                    </a:lnTo>
                    <a:moveTo>
                      <a:pt x="0" y="120000"/>
                    </a:moveTo>
                    <a:lnTo>
                      <a:pt x="120000" y="120000"/>
                    </a:lnTo>
                  </a:path>
                </a:pathLst>
              </a:custGeom>
              <a:solidFill>
                <a:srgbClr val="000000">
                  <a:alpha val="0"/>
                </a:srgbClr>
              </a:solidFill>
              <a:ln cap="rnd" cmpd="sng" w="14300">
                <a:solidFill>
                  <a:srgbClr val="4B556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6" name="Google Shape;296;p20"/>
              <p:cNvSpPr txBox="1"/>
              <p:nvPr/>
            </p:nvSpPr>
            <p:spPr>
              <a:xfrm>
                <a:off x="266700" y="0"/>
                <a:ext cx="46863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4B5563"/>
                    </a:solidFill>
                    <a:latin typeface="Inter Medium"/>
                    <a:ea typeface="Inter Medium"/>
                    <a:cs typeface="Inter Medium"/>
                    <a:sym typeface="Inter Medium"/>
                  </a:rPr>
                  <a:t>Keberhasilan sistem sangat bergantung pada figur individu, bukan pada institusi.</a:t>
                </a:r>
                <a:endParaRPr b="0" sz="1050">
                  <a:solidFill>
                    <a:srgbClr val="4B5563"/>
                  </a:solidFill>
                  <a:latin typeface="Inter Medium"/>
                  <a:ea typeface="Inter Medium"/>
                  <a:cs typeface="Inter Medium"/>
                  <a:sym typeface="Inter Medium"/>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grpSp>
        <p:nvGrpSpPr>
          <p:cNvPr id="301" name="Google Shape;301;p21"/>
          <p:cNvGrpSpPr/>
          <p:nvPr/>
        </p:nvGrpSpPr>
        <p:grpSpPr>
          <a:xfrm>
            <a:off x="0" y="0"/>
            <a:ext cx="9144000" cy="5143500"/>
            <a:chOff x="0" y="0"/>
            <a:chExt cx="9144000" cy="5143500"/>
          </a:xfrm>
        </p:grpSpPr>
        <p:sp>
          <p:nvSpPr>
            <p:cNvPr id="302" name="Google Shape;302;p21"/>
            <p:cNvSpPr/>
            <p:nvPr/>
          </p:nvSpPr>
          <p:spPr>
            <a:xfrm>
              <a:off x="0" y="0"/>
              <a:ext cx="9144000" cy="51435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03" name="Google Shape;303;p21"/>
            <p:cNvGrpSpPr/>
            <p:nvPr/>
          </p:nvGrpSpPr>
          <p:grpSpPr>
            <a:xfrm>
              <a:off x="8458200" y="457200"/>
              <a:ext cx="228600" cy="228600"/>
              <a:chOff x="0" y="0"/>
              <a:chExt cx="228600" cy="228600"/>
            </a:xfrm>
          </p:grpSpPr>
          <p:sp>
            <p:nvSpPr>
              <p:cNvPr id="304" name="Google Shape;304;p21"/>
              <p:cNvSpPr/>
              <p:nvPr/>
            </p:nvSpPr>
            <p:spPr>
              <a:xfrm>
                <a:off x="0" y="0"/>
                <a:ext cx="228600" cy="2286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5" name="Google Shape;305;p21"/>
              <p:cNvSpPr/>
              <p:nvPr/>
            </p:nvSpPr>
            <p:spPr>
              <a:xfrm>
                <a:off x="38100" y="38100"/>
                <a:ext cx="152400" cy="1524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6" name="Google Shape;306;p21"/>
              <p:cNvSpPr/>
              <p:nvPr/>
            </p:nvSpPr>
            <p:spPr>
              <a:xfrm>
                <a:off x="85725" y="85725"/>
                <a:ext cx="57300" cy="573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07" name="Google Shape;307;p21"/>
            <p:cNvSpPr/>
            <p:nvPr/>
          </p:nvSpPr>
          <p:spPr>
            <a:xfrm>
              <a:off x="457200" y="4762500"/>
              <a:ext cx="82296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08" name="Google Shape;308;p21"/>
          <p:cNvSpPr txBox="1"/>
          <p:nvPr/>
        </p:nvSpPr>
        <p:spPr>
          <a:xfrm>
            <a:off x="457200" y="457200"/>
            <a:ext cx="7620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111827"/>
                </a:solidFill>
                <a:latin typeface="Plus Jakarta Sans"/>
                <a:ea typeface="Plus Jakarta Sans"/>
                <a:cs typeface="Plus Jakarta Sans"/>
                <a:sym typeface="Plus Jakarta Sans"/>
              </a:rPr>
              <a:t>Akar Masalah Pembinaan</a:t>
            </a:r>
            <a:endParaRPr b="1" sz="2400">
              <a:solidFill>
                <a:srgbClr val="111827"/>
              </a:solidFill>
              <a:latin typeface="Plus Jakarta Sans"/>
              <a:ea typeface="Plus Jakarta Sans"/>
              <a:cs typeface="Plus Jakarta Sans"/>
              <a:sym typeface="Plus Jakarta Sans"/>
            </a:endParaRPr>
          </a:p>
          <a:p>
            <a:pPr indent="0" lvl="0" marL="0" rtl="0" algn="l">
              <a:spcBef>
                <a:spcPts val="300"/>
              </a:spcBef>
              <a:spcAft>
                <a:spcPts val="0"/>
              </a:spcAft>
              <a:buNone/>
            </a:pPr>
            <a:r>
              <a:rPr b="0" lang="en" sz="1050">
                <a:solidFill>
                  <a:srgbClr val="059669"/>
                </a:solidFill>
                <a:latin typeface="Plus Jakarta Sans SemiBold"/>
                <a:ea typeface="Plus Jakarta Sans SemiBold"/>
                <a:cs typeface="Plus Jakarta Sans SemiBold"/>
                <a:sym typeface="Plus Jakarta Sans SemiBold"/>
              </a:rPr>
              <a:t>Analisis Sistem Penunjang</a:t>
            </a:r>
            <a:endParaRPr b="0" sz="1050">
              <a:solidFill>
                <a:srgbClr val="059669"/>
              </a:solidFill>
              <a:latin typeface="Plus Jakarta Sans SemiBold"/>
              <a:ea typeface="Plus Jakarta Sans SemiBold"/>
              <a:cs typeface="Plus Jakarta Sans SemiBold"/>
              <a:sym typeface="Plus Jakarta Sans SemiBold"/>
            </a:endParaRPr>
          </a:p>
        </p:txBody>
      </p:sp>
      <p:grpSp>
        <p:nvGrpSpPr>
          <p:cNvPr id="309" name="Google Shape;309;p21"/>
          <p:cNvGrpSpPr/>
          <p:nvPr/>
        </p:nvGrpSpPr>
        <p:grpSpPr>
          <a:xfrm>
            <a:off x="457200" y="1428750"/>
            <a:ext cx="3429000" cy="3048000"/>
            <a:chOff x="457200" y="1428750"/>
            <a:chExt cx="3429000" cy="3048000"/>
          </a:xfrm>
        </p:grpSpPr>
        <p:sp>
          <p:nvSpPr>
            <p:cNvPr id="310" name="Google Shape;310;p21"/>
            <p:cNvSpPr/>
            <p:nvPr/>
          </p:nvSpPr>
          <p:spPr>
            <a:xfrm>
              <a:off x="457200" y="1428750"/>
              <a:ext cx="3429000" cy="3048000"/>
            </a:xfrm>
            <a:prstGeom prst="roundRect">
              <a:avLst>
                <a:gd fmla="val 3750" name="adj"/>
              </a:avLst>
            </a:prstGeom>
            <a:solidFill>
              <a:srgbClr val="ECFDF5"/>
            </a:solidFill>
            <a:ln cap="flat" cmpd="sng" w="14300">
              <a:solidFill>
                <a:srgbClr val="D1FAE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21"/>
            <p:cNvSpPr/>
            <p:nvPr/>
          </p:nvSpPr>
          <p:spPr>
            <a:xfrm>
              <a:off x="685800" y="1676400"/>
              <a:ext cx="857400" cy="2286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21"/>
            <p:cNvSpPr txBox="1"/>
            <p:nvPr/>
          </p:nvSpPr>
          <p:spPr>
            <a:xfrm>
              <a:off x="685800" y="1676400"/>
              <a:ext cx="8574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750">
                  <a:solidFill>
                    <a:srgbClr val="FFFFFF"/>
                  </a:solidFill>
                  <a:latin typeface="Plus Jakarta Sans"/>
                  <a:ea typeface="Plus Jakarta Sans"/>
                  <a:cs typeface="Plus Jakarta Sans"/>
                  <a:sym typeface="Plus Jakarta Sans"/>
                </a:rPr>
                <a:t>Temuan</a:t>
              </a:r>
              <a:endParaRPr b="1" sz="750">
                <a:solidFill>
                  <a:srgbClr val="FFFFFF"/>
                </a:solidFill>
                <a:latin typeface="Plus Jakarta Sans"/>
                <a:ea typeface="Plus Jakarta Sans"/>
                <a:cs typeface="Plus Jakarta Sans"/>
                <a:sym typeface="Plus Jakarta Sans"/>
              </a:endParaRPr>
            </a:p>
          </p:txBody>
        </p:sp>
        <p:sp>
          <p:nvSpPr>
            <p:cNvPr id="313" name="Google Shape;313;p21"/>
            <p:cNvSpPr txBox="1"/>
            <p:nvPr/>
          </p:nvSpPr>
          <p:spPr>
            <a:xfrm>
              <a:off x="685800" y="2057400"/>
              <a:ext cx="29718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50">
                  <a:solidFill>
                    <a:srgbClr val="111827"/>
                  </a:solidFill>
                  <a:latin typeface="Plus Jakarta Sans"/>
                  <a:ea typeface="Plus Jakarta Sans"/>
                  <a:cs typeface="Plus Jakarta Sans"/>
                  <a:sym typeface="Plus Jakarta Sans"/>
                </a:rPr>
                <a:t>Masalahnya Bukan Orang, Tapi Sistem</a:t>
              </a:r>
              <a:endParaRPr b="1" sz="1650">
                <a:solidFill>
                  <a:srgbClr val="111827"/>
                </a:solidFill>
                <a:latin typeface="Plus Jakarta Sans"/>
                <a:ea typeface="Plus Jakarta Sans"/>
                <a:cs typeface="Plus Jakarta Sans"/>
                <a:sym typeface="Plus Jakarta Sans"/>
              </a:endParaRPr>
            </a:p>
          </p:txBody>
        </p:sp>
        <p:sp>
          <p:nvSpPr>
            <p:cNvPr id="314" name="Google Shape;314;p21"/>
            <p:cNvSpPr txBox="1"/>
            <p:nvPr/>
          </p:nvSpPr>
          <p:spPr>
            <a:xfrm>
              <a:off x="685800" y="2857500"/>
              <a:ext cx="29718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13">
                  <a:solidFill>
                    <a:srgbClr val="4B5563"/>
                  </a:solidFill>
                  <a:latin typeface="Inter"/>
                  <a:ea typeface="Inter"/>
                  <a:cs typeface="Inter"/>
                  <a:sym typeface="Inter"/>
                </a:rPr>
                <a:t>Setelah dianalisis, masalah utamanya bukanlah pada dedikasi atau kualitas orang-orangnya.</a:t>
              </a:r>
              <a:endParaRPr b="0" sz="1013">
                <a:solidFill>
                  <a:srgbClr val="4B5563"/>
                </a:solidFill>
                <a:latin typeface="Inter"/>
                <a:ea typeface="Inter"/>
                <a:cs typeface="Inter"/>
                <a:sym typeface="Inter"/>
              </a:endParaRPr>
            </a:p>
            <a:p>
              <a:pPr indent="0" lvl="0" marL="0" rtl="0" algn="l">
                <a:spcBef>
                  <a:spcPts val="900"/>
                </a:spcBef>
                <a:spcAft>
                  <a:spcPts val="0"/>
                </a:spcAft>
                <a:buNone/>
              </a:pPr>
              <a:r>
                <a:rPr b="0" lang="en" sz="1013">
                  <a:solidFill>
                    <a:srgbClr val="059669"/>
                  </a:solidFill>
                  <a:latin typeface="Inter SemiBold"/>
                  <a:ea typeface="Inter SemiBold"/>
                  <a:cs typeface="Inter SemiBold"/>
                  <a:sym typeface="Inter SemiBold"/>
                </a:rPr>
                <a:t>Akar masalahnya adalah tiadanya sistem penunjang yang solid.</a:t>
              </a:r>
              <a:endParaRPr b="0" sz="1013">
                <a:solidFill>
                  <a:srgbClr val="059669"/>
                </a:solidFill>
                <a:latin typeface="Inter SemiBold"/>
                <a:ea typeface="Inter SemiBold"/>
                <a:cs typeface="Inter SemiBold"/>
                <a:sym typeface="Inter SemiBold"/>
              </a:endParaRPr>
            </a:p>
          </p:txBody>
        </p:sp>
      </p:grpSp>
      <p:grpSp>
        <p:nvGrpSpPr>
          <p:cNvPr id="315" name="Google Shape;315;p21"/>
          <p:cNvGrpSpPr/>
          <p:nvPr/>
        </p:nvGrpSpPr>
        <p:grpSpPr>
          <a:xfrm>
            <a:off x="4305300" y="1428750"/>
            <a:ext cx="4381500" cy="3019575"/>
            <a:chOff x="4305300" y="1428750"/>
            <a:chExt cx="4381500" cy="3019575"/>
          </a:xfrm>
        </p:grpSpPr>
        <p:sp>
          <p:nvSpPr>
            <p:cNvPr id="316" name="Google Shape;316;p21"/>
            <p:cNvSpPr txBox="1"/>
            <p:nvPr/>
          </p:nvSpPr>
          <p:spPr>
            <a:xfrm>
              <a:off x="4305300" y="1428750"/>
              <a:ext cx="43815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111827"/>
                  </a:solidFill>
                  <a:latin typeface="Inter SemiBold"/>
                  <a:ea typeface="Inter SemiBold"/>
                  <a:cs typeface="Inter SemiBold"/>
                  <a:sym typeface="Inter SemiBold"/>
                </a:rPr>
                <a:t>Kita belum memiliki sebuah sistem komprehensif yang mampu:</a:t>
              </a:r>
              <a:endParaRPr b="0" sz="1050">
                <a:solidFill>
                  <a:srgbClr val="111827"/>
                </a:solidFill>
                <a:latin typeface="Inter SemiBold"/>
                <a:ea typeface="Inter SemiBold"/>
                <a:cs typeface="Inter SemiBold"/>
                <a:sym typeface="Inter SemiBold"/>
              </a:endParaRPr>
            </a:p>
          </p:txBody>
        </p:sp>
        <p:grpSp>
          <p:nvGrpSpPr>
            <p:cNvPr id="317" name="Google Shape;317;p21"/>
            <p:cNvGrpSpPr/>
            <p:nvPr/>
          </p:nvGrpSpPr>
          <p:grpSpPr>
            <a:xfrm>
              <a:off x="4305300" y="1857375"/>
              <a:ext cx="4381500" cy="590700"/>
              <a:chOff x="4305300" y="1857375"/>
              <a:chExt cx="4381500" cy="590700"/>
            </a:xfrm>
          </p:grpSpPr>
          <p:sp>
            <p:nvSpPr>
              <p:cNvPr id="318" name="Google Shape;318;p21"/>
              <p:cNvSpPr/>
              <p:nvPr/>
            </p:nvSpPr>
            <p:spPr>
              <a:xfrm>
                <a:off x="4305300" y="1857375"/>
                <a:ext cx="4381500" cy="590700"/>
              </a:xfrm>
              <a:prstGeom prst="roundRect">
                <a:avLst>
                  <a:gd fmla="val 1290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21"/>
              <p:cNvSpPr/>
              <p:nvPr/>
            </p:nvSpPr>
            <p:spPr>
              <a:xfrm>
                <a:off x="4305300" y="1857375"/>
                <a:ext cx="38100" cy="5907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20" name="Google Shape;320;p21"/>
              <p:cNvGrpSpPr/>
              <p:nvPr/>
            </p:nvGrpSpPr>
            <p:grpSpPr>
              <a:xfrm>
                <a:off x="4457700" y="2038350"/>
                <a:ext cx="228600" cy="228600"/>
                <a:chOff x="0" y="0"/>
                <a:chExt cx="228600" cy="228600"/>
              </a:xfrm>
            </p:grpSpPr>
            <p:sp>
              <p:nvSpPr>
                <p:cNvPr id="321" name="Google Shape;321;p21"/>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2" name="Google Shape;322;p21"/>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23" name="Google Shape;323;p21"/>
              <p:cNvSpPr txBox="1"/>
              <p:nvPr/>
            </p:nvSpPr>
            <p:spPr>
              <a:xfrm>
                <a:off x="4800600" y="1952625"/>
                <a:ext cx="3733800" cy="400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050">
                    <a:solidFill>
                      <a:srgbClr val="111827"/>
                    </a:solidFill>
                    <a:latin typeface="Inter SemiBold"/>
                    <a:ea typeface="Inter SemiBold"/>
                    <a:cs typeface="Inter SemiBold"/>
                    <a:sym typeface="Inter SemiBold"/>
                  </a:rPr>
                  <a:t>Menyatukan langkah seluruh elemen pesantren.</a:t>
                </a:r>
                <a:endParaRPr/>
              </a:p>
            </p:txBody>
          </p:sp>
        </p:grpSp>
        <p:grpSp>
          <p:nvGrpSpPr>
            <p:cNvPr id="324" name="Google Shape;324;p21"/>
            <p:cNvGrpSpPr/>
            <p:nvPr/>
          </p:nvGrpSpPr>
          <p:grpSpPr>
            <a:xfrm>
              <a:off x="4305300" y="2524125"/>
              <a:ext cx="4381500" cy="590700"/>
              <a:chOff x="4305300" y="2524125"/>
              <a:chExt cx="4381500" cy="590700"/>
            </a:xfrm>
          </p:grpSpPr>
          <p:sp>
            <p:nvSpPr>
              <p:cNvPr id="325" name="Google Shape;325;p21"/>
              <p:cNvSpPr/>
              <p:nvPr/>
            </p:nvSpPr>
            <p:spPr>
              <a:xfrm>
                <a:off x="4305300" y="2524125"/>
                <a:ext cx="4381500" cy="590700"/>
              </a:xfrm>
              <a:prstGeom prst="roundRect">
                <a:avLst>
                  <a:gd fmla="val 1290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6" name="Google Shape;326;p21"/>
              <p:cNvSpPr/>
              <p:nvPr/>
            </p:nvSpPr>
            <p:spPr>
              <a:xfrm>
                <a:off x="4305300" y="2524125"/>
                <a:ext cx="38100" cy="5907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27" name="Google Shape;327;p21"/>
              <p:cNvGrpSpPr/>
              <p:nvPr/>
            </p:nvGrpSpPr>
            <p:grpSpPr>
              <a:xfrm>
                <a:off x="4457700" y="2705100"/>
                <a:ext cx="228600" cy="228600"/>
                <a:chOff x="0" y="0"/>
                <a:chExt cx="228600" cy="228600"/>
              </a:xfrm>
            </p:grpSpPr>
            <p:sp>
              <p:nvSpPr>
                <p:cNvPr id="328" name="Google Shape;328;p21"/>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9" name="Google Shape;329;p21"/>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30" name="Google Shape;330;p21"/>
              <p:cNvSpPr txBox="1"/>
              <p:nvPr/>
            </p:nvSpPr>
            <p:spPr>
              <a:xfrm>
                <a:off x="4800600" y="2619375"/>
                <a:ext cx="3733800" cy="400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050">
                    <a:solidFill>
                      <a:srgbClr val="111827"/>
                    </a:solidFill>
                    <a:latin typeface="Inter SemiBold"/>
                    <a:ea typeface="Inter SemiBold"/>
                    <a:cs typeface="Inter SemiBold"/>
                    <a:sym typeface="Inter SemiBold"/>
                  </a:rPr>
                  <a:t>Mengarahkan program secara terstruktur.</a:t>
                </a:r>
                <a:endParaRPr/>
              </a:p>
            </p:txBody>
          </p:sp>
        </p:grpSp>
        <p:grpSp>
          <p:nvGrpSpPr>
            <p:cNvPr id="331" name="Google Shape;331;p21"/>
            <p:cNvGrpSpPr/>
            <p:nvPr/>
          </p:nvGrpSpPr>
          <p:grpSpPr>
            <a:xfrm>
              <a:off x="4305300" y="3190875"/>
              <a:ext cx="4381500" cy="590700"/>
              <a:chOff x="4305300" y="3190875"/>
              <a:chExt cx="4381500" cy="590700"/>
            </a:xfrm>
          </p:grpSpPr>
          <p:sp>
            <p:nvSpPr>
              <p:cNvPr id="332" name="Google Shape;332;p21"/>
              <p:cNvSpPr/>
              <p:nvPr/>
            </p:nvSpPr>
            <p:spPr>
              <a:xfrm>
                <a:off x="4305300" y="3190875"/>
                <a:ext cx="4381500" cy="590700"/>
              </a:xfrm>
              <a:prstGeom prst="roundRect">
                <a:avLst>
                  <a:gd fmla="val 1290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 name="Google Shape;333;p21"/>
              <p:cNvSpPr/>
              <p:nvPr/>
            </p:nvSpPr>
            <p:spPr>
              <a:xfrm>
                <a:off x="4305300" y="3190875"/>
                <a:ext cx="38100" cy="5907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34" name="Google Shape;334;p21"/>
              <p:cNvGrpSpPr/>
              <p:nvPr/>
            </p:nvGrpSpPr>
            <p:grpSpPr>
              <a:xfrm>
                <a:off x="4457700" y="3371850"/>
                <a:ext cx="228600" cy="228600"/>
                <a:chOff x="0" y="0"/>
                <a:chExt cx="228600" cy="228600"/>
              </a:xfrm>
            </p:grpSpPr>
            <p:sp>
              <p:nvSpPr>
                <p:cNvPr id="335" name="Google Shape;335;p21"/>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6" name="Google Shape;336;p21"/>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37" name="Google Shape;337;p21"/>
              <p:cNvSpPr txBox="1"/>
              <p:nvPr/>
            </p:nvSpPr>
            <p:spPr>
              <a:xfrm>
                <a:off x="4800600" y="3286125"/>
                <a:ext cx="3733800" cy="400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050">
                    <a:solidFill>
                      <a:srgbClr val="111827"/>
                    </a:solidFill>
                    <a:latin typeface="Inter SemiBold"/>
                    <a:ea typeface="Inter SemiBold"/>
                    <a:cs typeface="Inter SemiBold"/>
                    <a:sym typeface="Inter SemiBold"/>
                  </a:rPr>
                  <a:t>Mengukur tingkat keberhasilan secara objektif.</a:t>
                </a:r>
                <a:endParaRPr/>
              </a:p>
            </p:txBody>
          </p:sp>
        </p:grpSp>
        <p:grpSp>
          <p:nvGrpSpPr>
            <p:cNvPr id="338" name="Google Shape;338;p21"/>
            <p:cNvGrpSpPr/>
            <p:nvPr/>
          </p:nvGrpSpPr>
          <p:grpSpPr>
            <a:xfrm>
              <a:off x="4305300" y="3857625"/>
              <a:ext cx="4381500" cy="590700"/>
              <a:chOff x="4305300" y="3857625"/>
              <a:chExt cx="4381500" cy="590700"/>
            </a:xfrm>
          </p:grpSpPr>
          <p:sp>
            <p:nvSpPr>
              <p:cNvPr id="339" name="Google Shape;339;p21"/>
              <p:cNvSpPr/>
              <p:nvPr/>
            </p:nvSpPr>
            <p:spPr>
              <a:xfrm>
                <a:off x="4305300" y="3857625"/>
                <a:ext cx="4381500" cy="590700"/>
              </a:xfrm>
              <a:prstGeom prst="roundRect">
                <a:avLst>
                  <a:gd fmla="val 1290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0" name="Google Shape;340;p21"/>
              <p:cNvSpPr/>
              <p:nvPr/>
            </p:nvSpPr>
            <p:spPr>
              <a:xfrm>
                <a:off x="4305300" y="3857625"/>
                <a:ext cx="38100" cy="5907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41" name="Google Shape;341;p21"/>
              <p:cNvGrpSpPr/>
              <p:nvPr/>
            </p:nvGrpSpPr>
            <p:grpSpPr>
              <a:xfrm>
                <a:off x="4457700" y="4038600"/>
                <a:ext cx="228600" cy="228600"/>
                <a:chOff x="0" y="0"/>
                <a:chExt cx="228600" cy="228600"/>
              </a:xfrm>
            </p:grpSpPr>
            <p:sp>
              <p:nvSpPr>
                <p:cNvPr id="342" name="Google Shape;342;p21"/>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3" name="Google Shape;343;p21"/>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44" name="Google Shape;344;p21"/>
              <p:cNvSpPr txBox="1"/>
              <p:nvPr/>
            </p:nvSpPr>
            <p:spPr>
              <a:xfrm>
                <a:off x="4800600" y="3952875"/>
                <a:ext cx="3733800" cy="400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050">
                    <a:solidFill>
                      <a:srgbClr val="111827"/>
                    </a:solidFill>
                    <a:latin typeface="Inter SemiBold"/>
                    <a:ea typeface="Inter SemiBold"/>
                    <a:cs typeface="Inter SemiBold"/>
                    <a:sym typeface="Inter SemiBold"/>
                  </a:rPr>
                  <a:t>Mengembangkan kapasitas pembinaan secara berkelanjutan.</a:t>
                </a:r>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2"/>
          <p:cNvSpPr/>
          <p:nvPr/>
        </p:nvSpPr>
        <p:spPr>
          <a:xfrm>
            <a:off x="0" y="0"/>
            <a:ext cx="9144000" cy="51435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50" name="Google Shape;350;p22"/>
          <p:cNvGrpSpPr/>
          <p:nvPr/>
        </p:nvGrpSpPr>
        <p:grpSpPr>
          <a:xfrm>
            <a:off x="8458200" y="457200"/>
            <a:ext cx="228600" cy="228600"/>
            <a:chOff x="0" y="0"/>
            <a:chExt cx="228600" cy="228600"/>
          </a:xfrm>
        </p:grpSpPr>
        <p:sp>
          <p:nvSpPr>
            <p:cNvPr id="351" name="Google Shape;351;p22"/>
            <p:cNvSpPr/>
            <p:nvPr/>
          </p:nvSpPr>
          <p:spPr>
            <a:xfrm>
              <a:off x="0" y="0"/>
              <a:ext cx="228600" cy="2286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2" name="Google Shape;352;p22"/>
            <p:cNvSpPr/>
            <p:nvPr/>
          </p:nvSpPr>
          <p:spPr>
            <a:xfrm>
              <a:off x="38100" y="38100"/>
              <a:ext cx="152400" cy="1524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3" name="Google Shape;353;p22"/>
            <p:cNvSpPr/>
            <p:nvPr/>
          </p:nvSpPr>
          <p:spPr>
            <a:xfrm>
              <a:off x="85725" y="85725"/>
              <a:ext cx="57300" cy="573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54" name="Google Shape;354;p22"/>
          <p:cNvSpPr/>
          <p:nvPr/>
        </p:nvSpPr>
        <p:spPr>
          <a:xfrm>
            <a:off x="457200" y="4762500"/>
            <a:ext cx="82296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5" name="Google Shape;355;p22"/>
          <p:cNvSpPr txBox="1"/>
          <p:nvPr/>
        </p:nvSpPr>
        <p:spPr>
          <a:xfrm>
            <a:off x="457200" y="457200"/>
            <a:ext cx="7620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900"/>
              </a:spcAft>
              <a:buNone/>
            </a:pPr>
            <a:r>
              <a:rPr b="1" lang="en" sz="2400">
                <a:solidFill>
                  <a:srgbClr val="111827"/>
                </a:solidFill>
                <a:latin typeface="Plus Jakarta Sans"/>
                <a:ea typeface="Plus Jakarta Sans"/>
                <a:cs typeface="Plus Jakarta Sans"/>
                <a:sym typeface="Plus Jakarta Sans"/>
              </a:rPr>
              <a:t>Sistem Pembinaan 2026</a:t>
            </a:r>
            <a:endParaRPr b="1" sz="2400">
              <a:solidFill>
                <a:srgbClr val="111827"/>
              </a:solidFill>
              <a:latin typeface="Plus Jakarta Sans"/>
              <a:ea typeface="Plus Jakarta Sans"/>
              <a:cs typeface="Plus Jakarta Sans"/>
              <a:sym typeface="Plus Jakarta Sans"/>
            </a:endParaRPr>
          </a:p>
        </p:txBody>
      </p:sp>
      <p:sp>
        <p:nvSpPr>
          <p:cNvPr id="356" name="Google Shape;356;p22"/>
          <p:cNvSpPr txBox="1"/>
          <p:nvPr/>
        </p:nvSpPr>
        <p:spPr>
          <a:xfrm>
            <a:off x="457200" y="1066800"/>
            <a:ext cx="7620000" cy="5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900"/>
              </a:spcAft>
              <a:buNone/>
            </a:pPr>
            <a:r>
              <a:rPr b="0" lang="en" sz="1050">
                <a:solidFill>
                  <a:srgbClr val="4B5563"/>
                </a:solidFill>
                <a:latin typeface="Inter"/>
                <a:ea typeface="Inter"/>
                <a:cs typeface="Inter"/>
                <a:sym typeface="Inter"/>
              </a:rPr>
              <a:t>Sebagai solusi, kita menghadirkan standarisasi sistem pembinaan yang terintegrasi. Sistem baru ini dirancang dengan prinsip kesatuan untuk mencapai efektivitas maksimal:</a:t>
            </a:r>
            <a:endParaRPr b="0" sz="1050">
              <a:solidFill>
                <a:srgbClr val="4B5563"/>
              </a:solidFill>
              <a:latin typeface="Inter"/>
              <a:ea typeface="Inter"/>
              <a:cs typeface="Inter"/>
              <a:sym typeface="Inter"/>
            </a:endParaRPr>
          </a:p>
        </p:txBody>
      </p:sp>
      <p:grpSp>
        <p:nvGrpSpPr>
          <p:cNvPr id="357" name="Google Shape;357;p22"/>
          <p:cNvGrpSpPr/>
          <p:nvPr/>
        </p:nvGrpSpPr>
        <p:grpSpPr>
          <a:xfrm>
            <a:off x="457200" y="1695450"/>
            <a:ext cx="8229600" cy="2838600"/>
            <a:chOff x="457200" y="1695450"/>
            <a:chExt cx="8229600" cy="2838600"/>
          </a:xfrm>
        </p:grpSpPr>
        <p:grpSp>
          <p:nvGrpSpPr>
            <p:cNvPr id="358" name="Google Shape;358;p22"/>
            <p:cNvGrpSpPr/>
            <p:nvPr/>
          </p:nvGrpSpPr>
          <p:grpSpPr>
            <a:xfrm>
              <a:off x="457200" y="1695450"/>
              <a:ext cx="8229600" cy="476400"/>
              <a:chOff x="457200" y="0"/>
              <a:chExt cx="8229600" cy="476400"/>
            </a:xfrm>
          </p:grpSpPr>
          <p:sp>
            <p:nvSpPr>
              <p:cNvPr id="359" name="Google Shape;359;p22"/>
              <p:cNvSpPr/>
              <p:nvPr/>
            </p:nvSpPr>
            <p:spPr>
              <a:xfrm>
                <a:off x="457200" y="0"/>
                <a:ext cx="8229600" cy="476400"/>
              </a:xfrm>
              <a:prstGeom prst="roundRect">
                <a:avLst>
                  <a:gd fmla="val 12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0" name="Google Shape;360;p22"/>
              <p:cNvSpPr/>
              <p:nvPr/>
            </p:nvSpPr>
            <p:spPr>
              <a:xfrm>
                <a:off x="457200" y="0"/>
                <a:ext cx="38100" cy="4764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1" name="Google Shape;361;p22"/>
              <p:cNvSpPr txBox="1"/>
              <p:nvPr/>
            </p:nvSpPr>
            <p:spPr>
              <a:xfrm>
                <a:off x="647700" y="0"/>
                <a:ext cx="78486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25">
                    <a:solidFill>
                      <a:srgbClr val="059669"/>
                    </a:solidFill>
                    <a:latin typeface="Plus Jakarta Sans ExtraBold"/>
                    <a:ea typeface="Plus Jakarta Sans ExtraBold"/>
                    <a:cs typeface="Plus Jakarta Sans ExtraBold"/>
                    <a:sym typeface="Plus Jakarta Sans ExtraBold"/>
                  </a:rPr>
                  <a:t>Satu</a:t>
                </a:r>
                <a:r>
                  <a:rPr lang="en" sz="1050">
                    <a:solidFill>
                      <a:srgbClr val="4B5563"/>
                    </a:solidFill>
                    <a:latin typeface="Inter"/>
                    <a:ea typeface="Inter"/>
                    <a:cs typeface="Inter"/>
                    <a:sym typeface="Inter"/>
                  </a:rPr>
                  <a:t> </a:t>
                </a:r>
                <a:r>
                  <a:rPr b="1" lang="en" sz="1125">
                    <a:solidFill>
                      <a:srgbClr val="111827"/>
                    </a:solidFill>
                    <a:latin typeface="Plus Jakarta Sans"/>
                    <a:ea typeface="Plus Jakarta Sans"/>
                    <a:cs typeface="Plus Jakarta Sans"/>
                    <a:sym typeface="Plus Jakarta Sans"/>
                  </a:rPr>
                  <a:t>Arah</a:t>
                </a:r>
                <a:r>
                  <a:rPr lang="en" sz="1050">
                    <a:solidFill>
                      <a:srgbClr val="4B5563"/>
                    </a:solidFill>
                    <a:latin typeface="Inter"/>
                    <a:ea typeface="Inter"/>
                    <a:cs typeface="Inter"/>
                    <a:sym typeface="Inter"/>
                  </a:rPr>
                  <a:t> </a:t>
                </a:r>
                <a:r>
                  <a:rPr b="0" lang="en" sz="1050">
                    <a:solidFill>
                      <a:srgbClr val="E5E7EB"/>
                    </a:solidFill>
                    <a:latin typeface="Inter Light"/>
                    <a:ea typeface="Inter Light"/>
                    <a:cs typeface="Inter Light"/>
                    <a:sym typeface="Inter Light"/>
                  </a:rPr>
                  <a:t>|</a:t>
                </a:r>
                <a:r>
                  <a:rPr lang="en" sz="1050">
                    <a:solidFill>
                      <a:srgbClr val="4B5563"/>
                    </a:solidFill>
                    <a:latin typeface="Inter"/>
                    <a:ea typeface="Inter"/>
                    <a:cs typeface="Inter"/>
                    <a:sym typeface="Inter"/>
                  </a:rPr>
                  <a:t> Visi dan misi yang selaras di semua unit.</a:t>
                </a:r>
                <a:endParaRPr sz="1050">
                  <a:solidFill>
                    <a:srgbClr val="4B5563"/>
                  </a:solidFill>
                  <a:latin typeface="Inter"/>
                  <a:ea typeface="Inter"/>
                  <a:cs typeface="Inter"/>
                  <a:sym typeface="Inter"/>
                </a:endParaRPr>
              </a:p>
            </p:txBody>
          </p:sp>
        </p:grpSp>
        <p:grpSp>
          <p:nvGrpSpPr>
            <p:cNvPr id="362" name="Google Shape;362;p22"/>
            <p:cNvGrpSpPr/>
            <p:nvPr/>
          </p:nvGrpSpPr>
          <p:grpSpPr>
            <a:xfrm>
              <a:off x="457200" y="2286000"/>
              <a:ext cx="8229600" cy="476400"/>
              <a:chOff x="457200" y="0"/>
              <a:chExt cx="8229600" cy="476400"/>
            </a:xfrm>
          </p:grpSpPr>
          <p:sp>
            <p:nvSpPr>
              <p:cNvPr id="363" name="Google Shape;363;p22"/>
              <p:cNvSpPr/>
              <p:nvPr/>
            </p:nvSpPr>
            <p:spPr>
              <a:xfrm>
                <a:off x="457200" y="0"/>
                <a:ext cx="8229600" cy="476400"/>
              </a:xfrm>
              <a:prstGeom prst="roundRect">
                <a:avLst>
                  <a:gd fmla="val 12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4" name="Google Shape;364;p22"/>
              <p:cNvSpPr/>
              <p:nvPr/>
            </p:nvSpPr>
            <p:spPr>
              <a:xfrm>
                <a:off x="457200" y="0"/>
                <a:ext cx="38100" cy="4764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5" name="Google Shape;365;p22"/>
              <p:cNvSpPr txBox="1"/>
              <p:nvPr/>
            </p:nvSpPr>
            <p:spPr>
              <a:xfrm>
                <a:off x="647700" y="0"/>
                <a:ext cx="78486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25">
                    <a:solidFill>
                      <a:srgbClr val="059669"/>
                    </a:solidFill>
                    <a:latin typeface="Plus Jakarta Sans ExtraBold"/>
                    <a:ea typeface="Plus Jakarta Sans ExtraBold"/>
                    <a:cs typeface="Plus Jakarta Sans ExtraBold"/>
                    <a:sym typeface="Plus Jakarta Sans ExtraBold"/>
                  </a:rPr>
                  <a:t>Satu</a:t>
                </a:r>
                <a:r>
                  <a:rPr lang="en" sz="1050">
                    <a:solidFill>
                      <a:srgbClr val="4B5563"/>
                    </a:solidFill>
                    <a:latin typeface="Inter"/>
                    <a:ea typeface="Inter"/>
                    <a:cs typeface="Inter"/>
                    <a:sym typeface="Inter"/>
                  </a:rPr>
                  <a:t> </a:t>
                </a:r>
                <a:r>
                  <a:rPr b="1" lang="en" sz="1125">
                    <a:solidFill>
                      <a:srgbClr val="111827"/>
                    </a:solidFill>
                    <a:latin typeface="Plus Jakarta Sans"/>
                    <a:ea typeface="Plus Jakarta Sans"/>
                    <a:cs typeface="Plus Jakarta Sans"/>
                    <a:sym typeface="Plus Jakarta Sans"/>
                  </a:rPr>
                  <a:t>Standar</a:t>
                </a:r>
                <a:r>
                  <a:rPr lang="en" sz="1050">
                    <a:solidFill>
                      <a:srgbClr val="4B5563"/>
                    </a:solidFill>
                    <a:latin typeface="Inter"/>
                    <a:ea typeface="Inter"/>
                    <a:cs typeface="Inter"/>
                    <a:sym typeface="Inter"/>
                  </a:rPr>
                  <a:t> </a:t>
                </a:r>
                <a:r>
                  <a:rPr b="0" lang="en" sz="1050">
                    <a:solidFill>
                      <a:srgbClr val="E5E7EB"/>
                    </a:solidFill>
                    <a:latin typeface="Inter Light"/>
                    <a:ea typeface="Inter Light"/>
                    <a:cs typeface="Inter Light"/>
                    <a:sym typeface="Inter Light"/>
                  </a:rPr>
                  <a:t>|</a:t>
                </a:r>
                <a:r>
                  <a:rPr lang="en" sz="1050">
                    <a:solidFill>
                      <a:srgbClr val="4B5563"/>
                    </a:solidFill>
                    <a:latin typeface="Inter"/>
                    <a:ea typeface="Inter"/>
                    <a:cs typeface="Inter"/>
                    <a:sym typeface="Inter"/>
                  </a:rPr>
                  <a:t> Kriteria penilaian dan penanganan yang seragam.</a:t>
                </a:r>
                <a:endParaRPr sz="1050">
                  <a:solidFill>
                    <a:srgbClr val="4B5563"/>
                  </a:solidFill>
                  <a:latin typeface="Inter"/>
                  <a:ea typeface="Inter"/>
                  <a:cs typeface="Inter"/>
                  <a:sym typeface="Inter"/>
                </a:endParaRPr>
              </a:p>
            </p:txBody>
          </p:sp>
        </p:grpSp>
        <p:grpSp>
          <p:nvGrpSpPr>
            <p:cNvPr id="366" name="Google Shape;366;p22"/>
            <p:cNvGrpSpPr/>
            <p:nvPr/>
          </p:nvGrpSpPr>
          <p:grpSpPr>
            <a:xfrm>
              <a:off x="457200" y="2876550"/>
              <a:ext cx="8229600" cy="476400"/>
              <a:chOff x="457200" y="0"/>
              <a:chExt cx="8229600" cy="476400"/>
            </a:xfrm>
          </p:grpSpPr>
          <p:sp>
            <p:nvSpPr>
              <p:cNvPr id="367" name="Google Shape;367;p22"/>
              <p:cNvSpPr/>
              <p:nvPr/>
            </p:nvSpPr>
            <p:spPr>
              <a:xfrm>
                <a:off x="457200" y="0"/>
                <a:ext cx="8229600" cy="476400"/>
              </a:xfrm>
              <a:prstGeom prst="roundRect">
                <a:avLst>
                  <a:gd fmla="val 12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8" name="Google Shape;368;p22"/>
              <p:cNvSpPr/>
              <p:nvPr/>
            </p:nvSpPr>
            <p:spPr>
              <a:xfrm>
                <a:off x="457200" y="0"/>
                <a:ext cx="38100" cy="4764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22"/>
              <p:cNvSpPr txBox="1"/>
              <p:nvPr/>
            </p:nvSpPr>
            <p:spPr>
              <a:xfrm>
                <a:off x="647700" y="0"/>
                <a:ext cx="78486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25">
                    <a:solidFill>
                      <a:srgbClr val="059669"/>
                    </a:solidFill>
                    <a:latin typeface="Plus Jakarta Sans ExtraBold"/>
                    <a:ea typeface="Plus Jakarta Sans ExtraBold"/>
                    <a:cs typeface="Plus Jakarta Sans ExtraBold"/>
                    <a:sym typeface="Plus Jakarta Sans ExtraBold"/>
                  </a:rPr>
                  <a:t>Satu</a:t>
                </a:r>
                <a:r>
                  <a:rPr lang="en" sz="1050">
                    <a:solidFill>
                      <a:srgbClr val="4B5563"/>
                    </a:solidFill>
                    <a:latin typeface="Inter"/>
                    <a:ea typeface="Inter"/>
                    <a:cs typeface="Inter"/>
                    <a:sym typeface="Inter"/>
                  </a:rPr>
                  <a:t> </a:t>
                </a:r>
                <a:r>
                  <a:rPr b="1" lang="en" sz="1125">
                    <a:solidFill>
                      <a:srgbClr val="111827"/>
                    </a:solidFill>
                    <a:latin typeface="Plus Jakarta Sans"/>
                    <a:ea typeface="Plus Jakarta Sans"/>
                    <a:cs typeface="Plus Jakarta Sans"/>
                    <a:sym typeface="Plus Jakarta Sans"/>
                  </a:rPr>
                  <a:t>Koordinasi</a:t>
                </a:r>
                <a:r>
                  <a:rPr lang="en" sz="1050">
                    <a:solidFill>
                      <a:srgbClr val="4B5563"/>
                    </a:solidFill>
                    <a:latin typeface="Inter"/>
                    <a:ea typeface="Inter"/>
                    <a:cs typeface="Inter"/>
                    <a:sym typeface="Inter"/>
                  </a:rPr>
                  <a:t> </a:t>
                </a:r>
                <a:r>
                  <a:rPr b="0" lang="en" sz="1050">
                    <a:solidFill>
                      <a:srgbClr val="E5E7EB"/>
                    </a:solidFill>
                    <a:latin typeface="Inter Light"/>
                    <a:ea typeface="Inter Light"/>
                    <a:cs typeface="Inter Light"/>
                    <a:sym typeface="Inter Light"/>
                  </a:rPr>
                  <a:t>|</a:t>
                </a:r>
                <a:r>
                  <a:rPr lang="en" sz="1050">
                    <a:solidFill>
                      <a:srgbClr val="4B5563"/>
                    </a:solidFill>
                    <a:latin typeface="Inter"/>
                    <a:ea typeface="Inter"/>
                    <a:cs typeface="Inter"/>
                    <a:sym typeface="Inter"/>
                  </a:rPr>
                  <a:t> Alur komunikasi yang jelas dan tidak tumpang tindih.</a:t>
                </a:r>
                <a:endParaRPr sz="1050">
                  <a:solidFill>
                    <a:srgbClr val="4B5563"/>
                  </a:solidFill>
                  <a:latin typeface="Inter"/>
                  <a:ea typeface="Inter"/>
                  <a:cs typeface="Inter"/>
                  <a:sym typeface="Inter"/>
                </a:endParaRPr>
              </a:p>
            </p:txBody>
          </p:sp>
        </p:grpSp>
        <p:grpSp>
          <p:nvGrpSpPr>
            <p:cNvPr id="370" name="Google Shape;370;p22"/>
            <p:cNvGrpSpPr/>
            <p:nvPr/>
          </p:nvGrpSpPr>
          <p:grpSpPr>
            <a:xfrm>
              <a:off x="457200" y="3467100"/>
              <a:ext cx="8229600" cy="476400"/>
              <a:chOff x="457200" y="0"/>
              <a:chExt cx="8229600" cy="476400"/>
            </a:xfrm>
          </p:grpSpPr>
          <p:sp>
            <p:nvSpPr>
              <p:cNvPr id="371" name="Google Shape;371;p22"/>
              <p:cNvSpPr/>
              <p:nvPr/>
            </p:nvSpPr>
            <p:spPr>
              <a:xfrm>
                <a:off x="457200" y="0"/>
                <a:ext cx="8229600" cy="476400"/>
              </a:xfrm>
              <a:prstGeom prst="roundRect">
                <a:avLst>
                  <a:gd fmla="val 12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2" name="Google Shape;372;p22"/>
              <p:cNvSpPr/>
              <p:nvPr/>
            </p:nvSpPr>
            <p:spPr>
              <a:xfrm>
                <a:off x="457200" y="0"/>
                <a:ext cx="38100" cy="4764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3" name="Google Shape;373;p22"/>
              <p:cNvSpPr txBox="1"/>
              <p:nvPr/>
            </p:nvSpPr>
            <p:spPr>
              <a:xfrm>
                <a:off x="647700" y="0"/>
                <a:ext cx="78486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25">
                    <a:solidFill>
                      <a:srgbClr val="059669"/>
                    </a:solidFill>
                    <a:latin typeface="Plus Jakarta Sans ExtraBold"/>
                    <a:ea typeface="Plus Jakarta Sans ExtraBold"/>
                    <a:cs typeface="Plus Jakarta Sans ExtraBold"/>
                    <a:sym typeface="Plus Jakarta Sans ExtraBold"/>
                  </a:rPr>
                  <a:t>Satu</a:t>
                </a:r>
                <a:r>
                  <a:rPr lang="en" sz="1050">
                    <a:solidFill>
                      <a:srgbClr val="4B5563"/>
                    </a:solidFill>
                    <a:latin typeface="Inter"/>
                    <a:ea typeface="Inter"/>
                    <a:cs typeface="Inter"/>
                    <a:sym typeface="Inter"/>
                  </a:rPr>
                  <a:t> </a:t>
                </a:r>
                <a:r>
                  <a:rPr b="1" lang="en" sz="1125">
                    <a:solidFill>
                      <a:srgbClr val="111827"/>
                    </a:solidFill>
                    <a:latin typeface="Plus Jakarta Sans"/>
                    <a:ea typeface="Plus Jakarta Sans"/>
                    <a:cs typeface="Plus Jakarta Sans"/>
                    <a:sym typeface="Plus Jakarta Sans"/>
                  </a:rPr>
                  <a:t>Data</a:t>
                </a:r>
                <a:r>
                  <a:rPr lang="en" sz="1050">
                    <a:solidFill>
                      <a:srgbClr val="4B5563"/>
                    </a:solidFill>
                    <a:latin typeface="Inter"/>
                    <a:ea typeface="Inter"/>
                    <a:cs typeface="Inter"/>
                    <a:sym typeface="Inter"/>
                  </a:rPr>
                  <a:t> </a:t>
                </a:r>
                <a:r>
                  <a:rPr b="0" lang="en" sz="1050">
                    <a:solidFill>
                      <a:srgbClr val="E5E7EB"/>
                    </a:solidFill>
                    <a:latin typeface="Inter Light"/>
                    <a:ea typeface="Inter Light"/>
                    <a:cs typeface="Inter Light"/>
                    <a:sym typeface="Inter Light"/>
                  </a:rPr>
                  <a:t>|</a:t>
                </a:r>
                <a:r>
                  <a:rPr lang="en" sz="1050">
                    <a:solidFill>
                      <a:srgbClr val="4B5563"/>
                    </a:solidFill>
                    <a:latin typeface="Inter"/>
                    <a:ea typeface="Inter"/>
                    <a:cs typeface="Inter"/>
                    <a:sym typeface="Inter"/>
                  </a:rPr>
                  <a:t> Pusat informasi perkembangan santri yang terintegrasi.</a:t>
                </a:r>
                <a:endParaRPr sz="1050">
                  <a:solidFill>
                    <a:srgbClr val="4B5563"/>
                  </a:solidFill>
                  <a:latin typeface="Inter"/>
                  <a:ea typeface="Inter"/>
                  <a:cs typeface="Inter"/>
                  <a:sym typeface="Inter"/>
                </a:endParaRPr>
              </a:p>
            </p:txBody>
          </p:sp>
        </p:grpSp>
        <p:grpSp>
          <p:nvGrpSpPr>
            <p:cNvPr id="374" name="Google Shape;374;p22"/>
            <p:cNvGrpSpPr/>
            <p:nvPr/>
          </p:nvGrpSpPr>
          <p:grpSpPr>
            <a:xfrm>
              <a:off x="457200" y="4057650"/>
              <a:ext cx="8229600" cy="476400"/>
              <a:chOff x="457200" y="0"/>
              <a:chExt cx="8229600" cy="476400"/>
            </a:xfrm>
          </p:grpSpPr>
          <p:sp>
            <p:nvSpPr>
              <p:cNvPr id="375" name="Google Shape;375;p22"/>
              <p:cNvSpPr/>
              <p:nvPr/>
            </p:nvSpPr>
            <p:spPr>
              <a:xfrm>
                <a:off x="457200" y="0"/>
                <a:ext cx="8229600" cy="476400"/>
              </a:xfrm>
              <a:prstGeom prst="roundRect">
                <a:avLst>
                  <a:gd fmla="val 12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6" name="Google Shape;376;p22"/>
              <p:cNvSpPr/>
              <p:nvPr/>
            </p:nvSpPr>
            <p:spPr>
              <a:xfrm>
                <a:off x="457200" y="0"/>
                <a:ext cx="38100" cy="4764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7" name="Google Shape;377;p22"/>
              <p:cNvSpPr txBox="1"/>
              <p:nvPr/>
            </p:nvSpPr>
            <p:spPr>
              <a:xfrm>
                <a:off x="647700" y="0"/>
                <a:ext cx="78486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25">
                    <a:solidFill>
                      <a:srgbClr val="059669"/>
                    </a:solidFill>
                    <a:latin typeface="Plus Jakarta Sans ExtraBold"/>
                    <a:ea typeface="Plus Jakarta Sans ExtraBold"/>
                    <a:cs typeface="Plus Jakarta Sans ExtraBold"/>
                    <a:sym typeface="Plus Jakarta Sans ExtraBold"/>
                  </a:rPr>
                  <a:t>Satu</a:t>
                </a:r>
                <a:r>
                  <a:rPr lang="en" sz="1050">
                    <a:solidFill>
                      <a:srgbClr val="4B5563"/>
                    </a:solidFill>
                    <a:latin typeface="Inter"/>
                    <a:ea typeface="Inter"/>
                    <a:cs typeface="Inter"/>
                    <a:sym typeface="Inter"/>
                  </a:rPr>
                  <a:t> </a:t>
                </a:r>
                <a:r>
                  <a:rPr b="1" lang="en" sz="1125">
                    <a:solidFill>
                      <a:srgbClr val="111827"/>
                    </a:solidFill>
                    <a:latin typeface="Plus Jakarta Sans"/>
                    <a:ea typeface="Plus Jakarta Sans"/>
                    <a:cs typeface="Plus Jakarta Sans"/>
                    <a:sym typeface="Plus Jakarta Sans"/>
                  </a:rPr>
                  <a:t>Tujuan</a:t>
                </a:r>
                <a:r>
                  <a:rPr lang="en" sz="1050">
                    <a:solidFill>
                      <a:srgbClr val="4B5563"/>
                    </a:solidFill>
                    <a:latin typeface="Inter"/>
                    <a:ea typeface="Inter"/>
                    <a:cs typeface="Inter"/>
                    <a:sym typeface="Inter"/>
                  </a:rPr>
                  <a:t> </a:t>
                </a:r>
                <a:r>
                  <a:rPr b="0" lang="en" sz="1050">
                    <a:solidFill>
                      <a:srgbClr val="E5E7EB"/>
                    </a:solidFill>
                    <a:latin typeface="Inter Light"/>
                    <a:ea typeface="Inter Light"/>
                    <a:cs typeface="Inter Light"/>
                    <a:sym typeface="Inter Light"/>
                  </a:rPr>
                  <a:t>|</a:t>
                </a:r>
                <a:r>
                  <a:rPr lang="en" sz="1050">
                    <a:solidFill>
                      <a:srgbClr val="4B5563"/>
                    </a:solidFill>
                    <a:latin typeface="Inter"/>
                    <a:ea typeface="Inter"/>
                    <a:cs typeface="Inter"/>
                    <a:sym typeface="Inter"/>
                  </a:rPr>
                  <a:t> Melahirkan generasi santri yang holistik dan berkarakter kuat.</a:t>
                </a:r>
                <a:endParaRPr sz="1050">
                  <a:solidFill>
                    <a:srgbClr val="4B5563"/>
                  </a:solidFill>
                  <a:latin typeface="Inter"/>
                  <a:ea typeface="Inter"/>
                  <a:cs typeface="Inter"/>
                  <a:sym typeface="Inter"/>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grpSp>
        <p:nvGrpSpPr>
          <p:cNvPr id="382" name="Google Shape;382;p23"/>
          <p:cNvGrpSpPr/>
          <p:nvPr/>
        </p:nvGrpSpPr>
        <p:grpSpPr>
          <a:xfrm>
            <a:off x="0" y="-285750"/>
            <a:ext cx="9144000" cy="5715000"/>
            <a:chOff x="0" y="-285750"/>
            <a:chExt cx="9144000" cy="5715000"/>
          </a:xfrm>
        </p:grpSpPr>
        <p:sp>
          <p:nvSpPr>
            <p:cNvPr id="383" name="Google Shape;383;p23"/>
            <p:cNvSpPr/>
            <p:nvPr/>
          </p:nvSpPr>
          <p:spPr>
            <a:xfrm>
              <a:off x="0" y="0"/>
              <a:ext cx="9144000" cy="5143500"/>
            </a:xfrm>
            <a:prstGeom prst="rect">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4" name="Google Shape;384;p23"/>
            <p:cNvSpPr/>
            <p:nvPr/>
          </p:nvSpPr>
          <p:spPr>
            <a:xfrm>
              <a:off x="1714500" y="-285750"/>
              <a:ext cx="5715000" cy="5715000"/>
            </a:xfrm>
            <a:prstGeom prst="ellipse">
              <a:avLst/>
            </a:prstGeom>
            <a:solidFill>
              <a:srgbClr val="10B981">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85" name="Google Shape;385;p23"/>
            <p:cNvGrpSpPr/>
            <p:nvPr/>
          </p:nvGrpSpPr>
          <p:grpSpPr>
            <a:xfrm>
              <a:off x="8458200" y="457200"/>
              <a:ext cx="228600" cy="228600"/>
              <a:chOff x="0" y="0"/>
              <a:chExt cx="228600" cy="228600"/>
            </a:xfrm>
          </p:grpSpPr>
          <p:sp>
            <p:nvSpPr>
              <p:cNvPr id="386" name="Google Shape;386;p23"/>
              <p:cNvSpPr/>
              <p:nvPr/>
            </p:nvSpPr>
            <p:spPr>
              <a:xfrm>
                <a:off x="0" y="0"/>
                <a:ext cx="228600" cy="2286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7" name="Google Shape;387;p23"/>
              <p:cNvSpPr/>
              <p:nvPr/>
            </p:nvSpPr>
            <p:spPr>
              <a:xfrm>
                <a:off x="38100" y="38100"/>
                <a:ext cx="152400" cy="1524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8" name="Google Shape;388;p23"/>
              <p:cNvSpPr/>
              <p:nvPr/>
            </p:nvSpPr>
            <p:spPr>
              <a:xfrm>
                <a:off x="85725" y="85725"/>
                <a:ext cx="57300" cy="573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389" name="Google Shape;389;p23"/>
          <p:cNvGrpSpPr/>
          <p:nvPr/>
        </p:nvGrpSpPr>
        <p:grpSpPr>
          <a:xfrm>
            <a:off x="762000" y="571500"/>
            <a:ext cx="7620000" cy="4000500"/>
            <a:chOff x="762000" y="571500"/>
            <a:chExt cx="7620000" cy="4000500"/>
          </a:xfrm>
        </p:grpSpPr>
        <p:sp>
          <p:nvSpPr>
            <p:cNvPr id="390" name="Google Shape;390;p23"/>
            <p:cNvSpPr txBox="1"/>
            <p:nvPr/>
          </p:nvSpPr>
          <p:spPr>
            <a:xfrm>
              <a:off x="762000" y="571500"/>
              <a:ext cx="7620000" cy="1809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50">
                  <a:solidFill>
                    <a:srgbClr val="D1FAE5"/>
                  </a:solidFill>
                  <a:latin typeface="Plus Jakarta Sans"/>
                  <a:ea typeface="Plus Jakarta Sans"/>
                  <a:cs typeface="Plus Jakarta Sans"/>
                  <a:sym typeface="Plus Jakarta Sans"/>
                </a:rPr>
                <a:t>Framework</a:t>
              </a:r>
              <a:endParaRPr b="1" sz="1050">
                <a:solidFill>
                  <a:srgbClr val="D1FAE5"/>
                </a:solidFill>
                <a:latin typeface="Plus Jakarta Sans"/>
                <a:ea typeface="Plus Jakarta Sans"/>
                <a:cs typeface="Plus Jakarta Sans"/>
                <a:sym typeface="Plus Jakarta Sans"/>
              </a:endParaRPr>
            </a:p>
            <a:p>
              <a:pPr indent="0" lvl="0" marL="0" rtl="0" algn="ctr">
                <a:spcBef>
                  <a:spcPts val="375"/>
                </a:spcBef>
                <a:spcAft>
                  <a:spcPts val="0"/>
                </a:spcAft>
                <a:buNone/>
              </a:pPr>
              <a:r>
                <a:rPr b="0" lang="en" sz="4200">
                  <a:solidFill>
                    <a:srgbClr val="FFFFFF"/>
                  </a:solidFill>
                  <a:latin typeface="Plus Jakarta Sans ExtraBold"/>
                  <a:ea typeface="Plus Jakarta Sans ExtraBold"/>
                  <a:cs typeface="Plus Jakarta Sans ExtraBold"/>
                  <a:sym typeface="Plus Jakarta Sans ExtraBold"/>
                </a:rPr>
                <a:t>TUMBUH</a:t>
              </a:r>
              <a:endParaRPr b="0" sz="4200">
                <a:solidFill>
                  <a:srgbClr val="FFFFFF"/>
                </a:solidFill>
                <a:latin typeface="Plus Jakarta Sans ExtraBold"/>
                <a:ea typeface="Plus Jakarta Sans ExtraBold"/>
                <a:cs typeface="Plus Jakarta Sans ExtraBold"/>
                <a:sym typeface="Plus Jakarta Sans ExtraBold"/>
              </a:endParaRPr>
            </a:p>
            <a:p>
              <a:pPr indent="0" lvl="0" marL="0" rtl="0" algn="ctr">
                <a:spcBef>
                  <a:spcPts val="1125"/>
                </a:spcBef>
                <a:spcAft>
                  <a:spcPts val="0"/>
                </a:spcAft>
                <a:buNone/>
              </a:pPr>
              <a:r>
                <a:rPr b="0" i="1" lang="en" sz="1125">
                  <a:solidFill>
                    <a:srgbClr val="E5E7EB"/>
                  </a:solidFill>
                  <a:latin typeface="Inter Medium"/>
                  <a:ea typeface="Inter Medium"/>
                  <a:cs typeface="Inter Medium"/>
                  <a:sym typeface="Inter Medium"/>
                </a:rPr>
                <a:t>Sistem baru ini dilandasi oleh sebuah filosofi yang kita sebut sebagai Framework TUMBUH. Mengapa menggunakan kata TUMBUH?</a:t>
              </a:r>
              <a:endParaRPr b="0" i="1" sz="1125">
                <a:solidFill>
                  <a:srgbClr val="E5E7EB"/>
                </a:solidFill>
                <a:latin typeface="Inter Medium"/>
                <a:ea typeface="Inter Medium"/>
                <a:cs typeface="Inter Medium"/>
                <a:sym typeface="Inter Medium"/>
              </a:endParaRPr>
            </a:p>
          </p:txBody>
        </p:sp>
        <p:sp>
          <p:nvSpPr>
            <p:cNvPr id="391" name="Google Shape;391;p23"/>
            <p:cNvSpPr/>
            <p:nvPr/>
          </p:nvSpPr>
          <p:spPr>
            <a:xfrm>
              <a:off x="4314825" y="2551747"/>
              <a:ext cx="577350" cy="277200"/>
            </a:xfrm>
            <a:custGeom>
              <a:rect b="b" l="l" r="r" t="t"/>
              <a:pathLst>
                <a:path extrusionOk="0" h="120000" w="120000">
                  <a:moveTo>
                    <a:pt x="43663" y="120000"/>
                  </a:moveTo>
                  <a:lnTo>
                    <a:pt x="13960" y="120000"/>
                  </a:lnTo>
                  <a:cubicBezTo>
                    <a:pt x="6238" y="120000"/>
                    <a:pt x="0" y="107010"/>
                    <a:pt x="0" y="90928"/>
                  </a:cubicBezTo>
                  <a:lnTo>
                    <a:pt x="0" y="29072"/>
                  </a:lnTo>
                  <a:cubicBezTo>
                    <a:pt x="0" y="12990"/>
                    <a:pt x="6238" y="0"/>
                    <a:pt x="13960" y="0"/>
                  </a:cubicBezTo>
                  <a:lnTo>
                    <a:pt x="43663" y="0"/>
                  </a:lnTo>
                  <a:cubicBezTo>
                    <a:pt x="51386" y="0"/>
                    <a:pt x="57624" y="12990"/>
                    <a:pt x="57624" y="29072"/>
                  </a:cubicBezTo>
                  <a:lnTo>
                    <a:pt x="57624" y="90928"/>
                  </a:lnTo>
                  <a:cubicBezTo>
                    <a:pt x="57624" y="107010"/>
                    <a:pt x="51386" y="120000"/>
                    <a:pt x="43663" y="120000"/>
                  </a:cubicBezTo>
                  <a:close/>
                  <a:moveTo>
                    <a:pt x="13960" y="18557"/>
                  </a:moveTo>
                  <a:cubicBezTo>
                    <a:pt x="10990" y="18557"/>
                    <a:pt x="8911" y="23505"/>
                    <a:pt x="8911" y="29072"/>
                  </a:cubicBezTo>
                  <a:lnTo>
                    <a:pt x="8911" y="90928"/>
                  </a:lnTo>
                  <a:cubicBezTo>
                    <a:pt x="8911" y="97113"/>
                    <a:pt x="11287" y="101443"/>
                    <a:pt x="13960" y="101443"/>
                  </a:cubicBezTo>
                  <a:lnTo>
                    <a:pt x="43663" y="101443"/>
                  </a:lnTo>
                  <a:cubicBezTo>
                    <a:pt x="46634" y="101443"/>
                    <a:pt x="48713" y="96495"/>
                    <a:pt x="48713" y="90928"/>
                  </a:cubicBezTo>
                  <a:lnTo>
                    <a:pt x="48713" y="29072"/>
                  </a:lnTo>
                  <a:cubicBezTo>
                    <a:pt x="48713" y="22887"/>
                    <a:pt x="46337" y="18557"/>
                    <a:pt x="43663" y="18557"/>
                  </a:cubicBezTo>
                  <a:lnTo>
                    <a:pt x="13960" y="18557"/>
                  </a:lnTo>
                  <a:close/>
                  <a:moveTo>
                    <a:pt x="106040" y="120000"/>
                  </a:moveTo>
                  <a:lnTo>
                    <a:pt x="76337" y="120000"/>
                  </a:lnTo>
                  <a:cubicBezTo>
                    <a:pt x="68614" y="120000"/>
                    <a:pt x="62376" y="107010"/>
                    <a:pt x="62376" y="90928"/>
                  </a:cubicBezTo>
                  <a:lnTo>
                    <a:pt x="62376" y="29072"/>
                  </a:lnTo>
                  <a:cubicBezTo>
                    <a:pt x="62376" y="12990"/>
                    <a:pt x="68614" y="0"/>
                    <a:pt x="76337" y="0"/>
                  </a:cubicBezTo>
                  <a:lnTo>
                    <a:pt x="106040" y="0"/>
                  </a:lnTo>
                  <a:cubicBezTo>
                    <a:pt x="113762" y="0"/>
                    <a:pt x="120000" y="12990"/>
                    <a:pt x="120000" y="29072"/>
                  </a:cubicBezTo>
                  <a:lnTo>
                    <a:pt x="120000" y="90928"/>
                  </a:lnTo>
                  <a:cubicBezTo>
                    <a:pt x="120000" y="107010"/>
                    <a:pt x="113762" y="120000"/>
                    <a:pt x="106040" y="120000"/>
                  </a:cubicBezTo>
                  <a:close/>
                  <a:moveTo>
                    <a:pt x="76337" y="18557"/>
                  </a:moveTo>
                  <a:cubicBezTo>
                    <a:pt x="73366" y="18557"/>
                    <a:pt x="71287" y="23505"/>
                    <a:pt x="71287" y="29072"/>
                  </a:cubicBezTo>
                  <a:lnTo>
                    <a:pt x="71287" y="90928"/>
                  </a:lnTo>
                  <a:cubicBezTo>
                    <a:pt x="71287" y="97113"/>
                    <a:pt x="73663" y="101443"/>
                    <a:pt x="76337" y="101443"/>
                  </a:cubicBezTo>
                  <a:lnTo>
                    <a:pt x="106040" y="101443"/>
                  </a:lnTo>
                  <a:cubicBezTo>
                    <a:pt x="109010" y="101443"/>
                    <a:pt x="111089" y="96495"/>
                    <a:pt x="111089" y="90928"/>
                  </a:cubicBezTo>
                  <a:lnTo>
                    <a:pt x="111089" y="29072"/>
                  </a:lnTo>
                  <a:cubicBezTo>
                    <a:pt x="111089" y="22887"/>
                    <a:pt x="108713" y="18557"/>
                    <a:pt x="106040" y="18557"/>
                  </a:cubicBezTo>
                  <a:lnTo>
                    <a:pt x="76337" y="18557"/>
                  </a:lnTo>
                  <a:close/>
                </a:path>
              </a:pathLst>
            </a:custGeom>
            <a:solidFill>
              <a:srgbClr val="D1FAE5">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2" name="Google Shape;392;p23"/>
            <p:cNvSpPr txBox="1"/>
            <p:nvPr/>
          </p:nvSpPr>
          <p:spPr>
            <a:xfrm>
              <a:off x="952500" y="2857500"/>
              <a:ext cx="7239000" cy="1714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i="1" lang="en" sz="1350">
                  <a:solidFill>
                    <a:srgbClr val="D1FAE5"/>
                  </a:solidFill>
                  <a:latin typeface="Plus Jakarta Sans SemiBold"/>
                  <a:ea typeface="Plus Jakarta Sans SemiBold"/>
                  <a:cs typeface="Plus Jakarta Sans SemiBold"/>
                  <a:sym typeface="Plus Jakarta Sans SemiBold"/>
                </a:rPr>
                <a:t>"Karena esensi dari pembinaan adalah sebuah proses pertumbuhan yang alami dan berkelanjutan, bukan sekadar penegakan kedisiplinan yang kaku..."</a:t>
              </a:r>
              <a:endParaRPr b="0" i="1" sz="1350">
                <a:solidFill>
                  <a:srgbClr val="D1FAE5"/>
                </a:solidFill>
                <a:latin typeface="Plus Jakarta Sans SemiBold"/>
                <a:ea typeface="Plus Jakarta Sans SemiBold"/>
                <a:cs typeface="Plus Jakarta Sans SemiBold"/>
                <a:sym typeface="Plus Jakarta Sans SemiBold"/>
              </a:endParaRPr>
            </a:p>
            <a:p>
              <a:pPr indent="0" lvl="0" marL="0" rtl="0" algn="ctr">
                <a:spcBef>
                  <a:spcPts val="900"/>
                </a:spcBef>
                <a:spcAft>
                  <a:spcPts val="0"/>
                </a:spcAft>
                <a:buNone/>
              </a:pPr>
              <a:r>
                <a:rPr b="0" i="1" lang="en" sz="1350">
                  <a:solidFill>
                    <a:srgbClr val="FFFFFF"/>
                  </a:solidFill>
                  <a:latin typeface="Plus Jakarta Sans SemiBold"/>
                  <a:ea typeface="Plus Jakarta Sans SemiBold"/>
                  <a:cs typeface="Plus Jakarta Sans SemiBold"/>
                  <a:sym typeface="Plus Jakarta Sans SemiBold"/>
                </a:rPr>
                <a:t>"...Kita memfasilitasi santri untuk berkembang dari bibit yang baik menjadi pohon yang kuat dan berbuah manfaat bagi sekitarnya."</a:t>
              </a:r>
              <a:endParaRPr b="0" i="1" sz="1350">
                <a:solidFill>
                  <a:srgbClr val="FFFFFF"/>
                </a:solidFill>
                <a:latin typeface="Plus Jakarta Sans SemiBold"/>
                <a:ea typeface="Plus Jakarta Sans SemiBold"/>
                <a:cs typeface="Plus Jakarta Sans SemiBold"/>
                <a:sym typeface="Plus Jakarta Sans SemiBold"/>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grpSp>
        <p:nvGrpSpPr>
          <p:cNvPr id="397" name="Google Shape;397;p24"/>
          <p:cNvGrpSpPr/>
          <p:nvPr/>
        </p:nvGrpSpPr>
        <p:grpSpPr>
          <a:xfrm>
            <a:off x="0" y="0"/>
            <a:ext cx="9144000" cy="5143500"/>
            <a:chOff x="0" y="0"/>
            <a:chExt cx="9144000" cy="5143500"/>
          </a:xfrm>
        </p:grpSpPr>
        <p:sp>
          <p:nvSpPr>
            <p:cNvPr id="398" name="Google Shape;398;p24"/>
            <p:cNvSpPr/>
            <p:nvPr/>
          </p:nvSpPr>
          <p:spPr>
            <a:xfrm>
              <a:off x="0" y="0"/>
              <a:ext cx="9144000" cy="51435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99" name="Google Shape;399;p24"/>
            <p:cNvGrpSpPr/>
            <p:nvPr/>
          </p:nvGrpSpPr>
          <p:grpSpPr>
            <a:xfrm>
              <a:off x="8458200" y="457200"/>
              <a:ext cx="228600" cy="228600"/>
              <a:chOff x="0" y="0"/>
              <a:chExt cx="228600" cy="228600"/>
            </a:xfrm>
          </p:grpSpPr>
          <p:sp>
            <p:nvSpPr>
              <p:cNvPr id="400" name="Google Shape;400;p24"/>
              <p:cNvSpPr/>
              <p:nvPr/>
            </p:nvSpPr>
            <p:spPr>
              <a:xfrm>
                <a:off x="0" y="0"/>
                <a:ext cx="228600" cy="2286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1" name="Google Shape;401;p24"/>
              <p:cNvSpPr/>
              <p:nvPr/>
            </p:nvSpPr>
            <p:spPr>
              <a:xfrm>
                <a:off x="38100" y="38100"/>
                <a:ext cx="152400" cy="1524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2" name="Google Shape;402;p24"/>
              <p:cNvSpPr/>
              <p:nvPr/>
            </p:nvSpPr>
            <p:spPr>
              <a:xfrm>
                <a:off x="85725" y="85725"/>
                <a:ext cx="57300" cy="573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03" name="Google Shape;403;p24"/>
            <p:cNvSpPr/>
            <p:nvPr/>
          </p:nvSpPr>
          <p:spPr>
            <a:xfrm>
              <a:off x="457200" y="4762500"/>
              <a:ext cx="82296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04" name="Google Shape;404;p24"/>
          <p:cNvSpPr txBox="1"/>
          <p:nvPr/>
        </p:nvSpPr>
        <p:spPr>
          <a:xfrm>
            <a:off x="457200" y="457200"/>
            <a:ext cx="7620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900"/>
              </a:spcAft>
              <a:buNone/>
            </a:pPr>
            <a:r>
              <a:rPr b="1" lang="en" sz="2400">
                <a:solidFill>
                  <a:srgbClr val="111827"/>
                </a:solidFill>
                <a:latin typeface="Plus Jakarta Sans"/>
                <a:ea typeface="Plus Jakarta Sans"/>
                <a:cs typeface="Plus Jakarta Sans"/>
                <a:sym typeface="Plus Jakarta Sans"/>
              </a:rPr>
              <a:t>Tahapan TUMBUH</a:t>
            </a:r>
            <a:endParaRPr b="1" sz="2400">
              <a:solidFill>
                <a:srgbClr val="111827"/>
              </a:solidFill>
              <a:latin typeface="Plus Jakarta Sans"/>
              <a:ea typeface="Plus Jakarta Sans"/>
              <a:cs typeface="Plus Jakarta Sans"/>
              <a:sym typeface="Plus Jakarta Sans"/>
            </a:endParaRPr>
          </a:p>
        </p:txBody>
      </p:sp>
      <p:sp>
        <p:nvSpPr>
          <p:cNvPr id="405" name="Google Shape;405;p24"/>
          <p:cNvSpPr txBox="1"/>
          <p:nvPr/>
        </p:nvSpPr>
        <p:spPr>
          <a:xfrm>
            <a:off x="457200" y="1000125"/>
            <a:ext cx="77154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900"/>
              </a:spcAft>
              <a:buNone/>
            </a:pPr>
            <a:r>
              <a:rPr b="0" lang="en" sz="1050">
                <a:solidFill>
                  <a:srgbClr val="4B5563"/>
                </a:solidFill>
                <a:latin typeface="Inter"/>
                <a:ea typeface="Inter"/>
                <a:cs typeface="Inter"/>
                <a:sym typeface="Inter"/>
              </a:rPr>
              <a:t>Proses pembinaan dirancang secara bertahap menyerupai anak tangga, memastikan perkembangan santri terukur pada setiap fasenya:</a:t>
            </a:r>
            <a:endParaRPr b="0" sz="1050">
              <a:solidFill>
                <a:srgbClr val="4B5563"/>
              </a:solidFill>
              <a:latin typeface="Inter"/>
              <a:ea typeface="Inter"/>
              <a:cs typeface="Inter"/>
              <a:sym typeface="Inter"/>
            </a:endParaRPr>
          </a:p>
        </p:txBody>
      </p:sp>
      <p:pic>
        <p:nvPicPr>
          <p:cNvPr id="406" name="Google Shape;406;p24"/>
          <p:cNvPicPr preferRelativeResize="0"/>
          <p:nvPr/>
        </p:nvPicPr>
        <p:blipFill rotWithShape="1">
          <a:blip r:embed="rId3">
            <a:alphaModFix/>
          </a:blip>
          <a:srcRect b="0" l="0" r="0" t="0"/>
          <a:stretch/>
        </p:blipFill>
        <p:spPr>
          <a:xfrm>
            <a:off x="1028700" y="2009775"/>
            <a:ext cx="7077000" cy="1209600"/>
          </a:xfrm>
          <a:prstGeom prst="rect">
            <a:avLst/>
          </a:prstGeom>
          <a:noFill/>
          <a:ln>
            <a:noFill/>
          </a:ln>
        </p:spPr>
      </p:pic>
      <p:grpSp>
        <p:nvGrpSpPr>
          <p:cNvPr id="407" name="Google Shape;407;p24"/>
          <p:cNvGrpSpPr/>
          <p:nvPr/>
        </p:nvGrpSpPr>
        <p:grpSpPr>
          <a:xfrm>
            <a:off x="504825" y="2952750"/>
            <a:ext cx="1047900" cy="1619100"/>
            <a:chOff x="504825" y="2952750"/>
            <a:chExt cx="1047900" cy="1619100"/>
          </a:xfrm>
        </p:grpSpPr>
        <p:sp>
          <p:nvSpPr>
            <p:cNvPr id="408" name="Google Shape;408;p24"/>
            <p:cNvSpPr/>
            <p:nvPr/>
          </p:nvSpPr>
          <p:spPr>
            <a:xfrm>
              <a:off x="504825" y="2952750"/>
              <a:ext cx="1047900" cy="1619100"/>
            </a:xfrm>
            <a:prstGeom prst="roundRect">
              <a:avLst>
                <a:gd fmla="val 7272"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9" name="Google Shape;409;p24"/>
            <p:cNvSpPr/>
            <p:nvPr/>
          </p:nvSpPr>
          <p:spPr>
            <a:xfrm>
              <a:off x="504825" y="2952750"/>
              <a:ext cx="1047900" cy="38100"/>
            </a:xfrm>
            <a:prstGeom prst="roundRect">
              <a:avLst>
                <a:gd fmla="val 50000" name="adj"/>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0" name="Google Shape;410;p24"/>
            <p:cNvSpPr/>
            <p:nvPr/>
          </p:nvSpPr>
          <p:spPr>
            <a:xfrm>
              <a:off x="771525" y="3067050"/>
              <a:ext cx="514500" cy="285900"/>
            </a:xfrm>
            <a:prstGeom prst="roundRect">
              <a:avLst>
                <a:gd fmla="val 20000" name="adj"/>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1" name="Google Shape;411;p24"/>
            <p:cNvSpPr txBox="1"/>
            <p:nvPr/>
          </p:nvSpPr>
          <p:spPr>
            <a:xfrm>
              <a:off x="771525" y="3067050"/>
              <a:ext cx="514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75">
                  <a:solidFill>
                    <a:srgbClr val="065F46"/>
                  </a:solidFill>
                  <a:latin typeface="Plus Jakarta Sans ExtraBold"/>
                  <a:ea typeface="Plus Jakarta Sans ExtraBold"/>
                  <a:cs typeface="Plus Jakarta Sans ExtraBold"/>
                  <a:sym typeface="Plus Jakarta Sans ExtraBold"/>
                </a:rPr>
                <a:t>T1</a:t>
              </a:r>
              <a:endParaRPr/>
            </a:p>
          </p:txBody>
        </p:sp>
        <p:sp>
          <p:nvSpPr>
            <p:cNvPr id="412" name="Google Shape;412;p24"/>
            <p:cNvSpPr txBox="1"/>
            <p:nvPr/>
          </p:nvSpPr>
          <p:spPr>
            <a:xfrm>
              <a:off x="561975" y="3467100"/>
              <a:ext cx="933600" cy="104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863">
                  <a:solidFill>
                    <a:srgbClr val="4B5563"/>
                  </a:solidFill>
                  <a:latin typeface="Inter Medium"/>
                  <a:ea typeface="Inter Medium"/>
                  <a:cs typeface="Inter Medium"/>
                  <a:sym typeface="Inter Medium"/>
                </a:rPr>
                <a:t>Tahap pengenalan dan adaptasi awal.</a:t>
              </a:r>
              <a:endParaRPr b="0" sz="863">
                <a:solidFill>
                  <a:srgbClr val="4B5563"/>
                </a:solidFill>
                <a:latin typeface="Inter Medium"/>
                <a:ea typeface="Inter Medium"/>
                <a:cs typeface="Inter Medium"/>
                <a:sym typeface="Inter Medium"/>
              </a:endParaRPr>
            </a:p>
          </p:txBody>
        </p:sp>
      </p:grpSp>
      <p:grpSp>
        <p:nvGrpSpPr>
          <p:cNvPr id="413" name="Google Shape;413;p24"/>
          <p:cNvGrpSpPr/>
          <p:nvPr/>
        </p:nvGrpSpPr>
        <p:grpSpPr>
          <a:xfrm>
            <a:off x="1685925" y="2714625"/>
            <a:ext cx="1047900" cy="1857300"/>
            <a:chOff x="1685925" y="2714625"/>
            <a:chExt cx="1047900" cy="1857300"/>
          </a:xfrm>
        </p:grpSpPr>
        <p:sp>
          <p:nvSpPr>
            <p:cNvPr id="414" name="Google Shape;414;p24"/>
            <p:cNvSpPr/>
            <p:nvPr/>
          </p:nvSpPr>
          <p:spPr>
            <a:xfrm>
              <a:off x="1685925" y="2714625"/>
              <a:ext cx="1047900" cy="1857300"/>
            </a:xfrm>
            <a:prstGeom prst="roundRect">
              <a:avLst>
                <a:gd fmla="val 7272"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5" name="Google Shape;415;p24"/>
            <p:cNvSpPr/>
            <p:nvPr/>
          </p:nvSpPr>
          <p:spPr>
            <a:xfrm>
              <a:off x="1685925" y="2714625"/>
              <a:ext cx="1047900" cy="38100"/>
            </a:xfrm>
            <a:prstGeom prst="roundRect">
              <a:avLst>
                <a:gd fmla="val 50000" name="adj"/>
              </a:avLst>
            </a:prstGeom>
            <a:solidFill>
              <a:srgbClr val="A7F3D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6" name="Google Shape;416;p24"/>
            <p:cNvSpPr/>
            <p:nvPr/>
          </p:nvSpPr>
          <p:spPr>
            <a:xfrm>
              <a:off x="1952625" y="2828925"/>
              <a:ext cx="514500" cy="285900"/>
            </a:xfrm>
            <a:prstGeom prst="roundRect">
              <a:avLst>
                <a:gd fmla="val 20000" name="adj"/>
              </a:avLst>
            </a:prstGeom>
            <a:solidFill>
              <a:srgbClr val="A7F3D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7" name="Google Shape;417;p24"/>
            <p:cNvSpPr txBox="1"/>
            <p:nvPr/>
          </p:nvSpPr>
          <p:spPr>
            <a:xfrm>
              <a:off x="1952625" y="2828925"/>
              <a:ext cx="514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75">
                  <a:solidFill>
                    <a:srgbClr val="065F46"/>
                  </a:solidFill>
                  <a:latin typeface="Plus Jakarta Sans ExtraBold"/>
                  <a:ea typeface="Plus Jakarta Sans ExtraBold"/>
                  <a:cs typeface="Plus Jakarta Sans ExtraBold"/>
                  <a:sym typeface="Plus Jakarta Sans ExtraBold"/>
                </a:rPr>
                <a:t>T2</a:t>
              </a:r>
              <a:endParaRPr/>
            </a:p>
          </p:txBody>
        </p:sp>
        <p:sp>
          <p:nvSpPr>
            <p:cNvPr id="418" name="Google Shape;418;p24"/>
            <p:cNvSpPr txBox="1"/>
            <p:nvPr/>
          </p:nvSpPr>
          <p:spPr>
            <a:xfrm>
              <a:off x="1743075" y="3228975"/>
              <a:ext cx="933600" cy="1285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863">
                  <a:solidFill>
                    <a:srgbClr val="4B5563"/>
                  </a:solidFill>
                  <a:latin typeface="Inter Medium"/>
                  <a:ea typeface="Inter Medium"/>
                  <a:cs typeface="Inter Medium"/>
                  <a:sym typeface="Inter Medium"/>
                </a:rPr>
                <a:t>Tahap pembentukan kebiasaan dasar.</a:t>
              </a:r>
              <a:endParaRPr b="0" sz="863">
                <a:solidFill>
                  <a:srgbClr val="4B5563"/>
                </a:solidFill>
                <a:latin typeface="Inter Medium"/>
                <a:ea typeface="Inter Medium"/>
                <a:cs typeface="Inter Medium"/>
                <a:sym typeface="Inter Medium"/>
              </a:endParaRPr>
            </a:p>
          </p:txBody>
        </p:sp>
      </p:grpSp>
      <p:grpSp>
        <p:nvGrpSpPr>
          <p:cNvPr id="419" name="Google Shape;419;p24"/>
          <p:cNvGrpSpPr/>
          <p:nvPr/>
        </p:nvGrpSpPr>
        <p:grpSpPr>
          <a:xfrm>
            <a:off x="2867025" y="2476500"/>
            <a:ext cx="1047900" cy="2095500"/>
            <a:chOff x="2867025" y="2476500"/>
            <a:chExt cx="1047900" cy="2095500"/>
          </a:xfrm>
        </p:grpSpPr>
        <p:sp>
          <p:nvSpPr>
            <p:cNvPr id="420" name="Google Shape;420;p24"/>
            <p:cNvSpPr/>
            <p:nvPr/>
          </p:nvSpPr>
          <p:spPr>
            <a:xfrm>
              <a:off x="2867025" y="2476500"/>
              <a:ext cx="1047900" cy="2095500"/>
            </a:xfrm>
            <a:prstGeom prst="roundRect">
              <a:avLst>
                <a:gd fmla="val 7272"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1" name="Google Shape;421;p24"/>
            <p:cNvSpPr/>
            <p:nvPr/>
          </p:nvSpPr>
          <p:spPr>
            <a:xfrm>
              <a:off x="2867025" y="2476500"/>
              <a:ext cx="1047900" cy="38100"/>
            </a:xfrm>
            <a:prstGeom prst="roundRect">
              <a:avLst>
                <a:gd fmla="val 50000" name="adj"/>
              </a:avLst>
            </a:prstGeom>
            <a:solidFill>
              <a:srgbClr val="6EE7B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2" name="Google Shape;422;p24"/>
            <p:cNvSpPr/>
            <p:nvPr/>
          </p:nvSpPr>
          <p:spPr>
            <a:xfrm>
              <a:off x="3133725" y="2590800"/>
              <a:ext cx="514500" cy="285900"/>
            </a:xfrm>
            <a:prstGeom prst="roundRect">
              <a:avLst>
                <a:gd fmla="val 20000" name="adj"/>
              </a:avLst>
            </a:prstGeom>
            <a:solidFill>
              <a:srgbClr val="6EE7B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3" name="Google Shape;423;p24"/>
            <p:cNvSpPr txBox="1"/>
            <p:nvPr/>
          </p:nvSpPr>
          <p:spPr>
            <a:xfrm>
              <a:off x="3133725" y="2590800"/>
              <a:ext cx="514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75">
                  <a:solidFill>
                    <a:srgbClr val="064E3B"/>
                  </a:solidFill>
                  <a:latin typeface="Plus Jakarta Sans ExtraBold"/>
                  <a:ea typeface="Plus Jakarta Sans ExtraBold"/>
                  <a:cs typeface="Plus Jakarta Sans ExtraBold"/>
                  <a:sym typeface="Plus Jakarta Sans ExtraBold"/>
                </a:rPr>
                <a:t>T3</a:t>
              </a:r>
              <a:endParaRPr/>
            </a:p>
          </p:txBody>
        </p:sp>
        <p:sp>
          <p:nvSpPr>
            <p:cNvPr id="424" name="Google Shape;424;p24"/>
            <p:cNvSpPr txBox="1"/>
            <p:nvPr/>
          </p:nvSpPr>
          <p:spPr>
            <a:xfrm>
              <a:off x="2924175" y="2990850"/>
              <a:ext cx="933600" cy="1524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863">
                  <a:solidFill>
                    <a:srgbClr val="4B5563"/>
                  </a:solidFill>
                  <a:latin typeface="Inter Medium"/>
                  <a:ea typeface="Inter Medium"/>
                  <a:cs typeface="Inter Medium"/>
                  <a:sym typeface="Inter Medium"/>
                </a:rPr>
                <a:t>Tahap penguatan pemahaman nilai.</a:t>
              </a:r>
              <a:endParaRPr b="0" sz="863">
                <a:solidFill>
                  <a:srgbClr val="4B5563"/>
                </a:solidFill>
                <a:latin typeface="Inter Medium"/>
                <a:ea typeface="Inter Medium"/>
                <a:cs typeface="Inter Medium"/>
                <a:sym typeface="Inter Medium"/>
              </a:endParaRPr>
            </a:p>
          </p:txBody>
        </p:sp>
      </p:grpSp>
      <p:grpSp>
        <p:nvGrpSpPr>
          <p:cNvPr id="425" name="Google Shape;425;p24"/>
          <p:cNvGrpSpPr/>
          <p:nvPr/>
        </p:nvGrpSpPr>
        <p:grpSpPr>
          <a:xfrm>
            <a:off x="4048125" y="2238375"/>
            <a:ext cx="1047900" cy="2333700"/>
            <a:chOff x="4048125" y="2238375"/>
            <a:chExt cx="1047900" cy="2333700"/>
          </a:xfrm>
        </p:grpSpPr>
        <p:sp>
          <p:nvSpPr>
            <p:cNvPr id="426" name="Google Shape;426;p24"/>
            <p:cNvSpPr/>
            <p:nvPr/>
          </p:nvSpPr>
          <p:spPr>
            <a:xfrm>
              <a:off x="4048125" y="2238375"/>
              <a:ext cx="1047900" cy="2333700"/>
            </a:xfrm>
            <a:prstGeom prst="roundRect">
              <a:avLst>
                <a:gd fmla="val 7272"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7" name="Google Shape;427;p24"/>
            <p:cNvSpPr/>
            <p:nvPr/>
          </p:nvSpPr>
          <p:spPr>
            <a:xfrm>
              <a:off x="4048125" y="2238375"/>
              <a:ext cx="1047900" cy="38100"/>
            </a:xfrm>
            <a:prstGeom prst="roundRect">
              <a:avLst>
                <a:gd fmla="val 50000" name="adj"/>
              </a:avLst>
            </a:prstGeom>
            <a:solidFill>
              <a:srgbClr val="34D39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8" name="Google Shape;428;p24"/>
            <p:cNvSpPr/>
            <p:nvPr/>
          </p:nvSpPr>
          <p:spPr>
            <a:xfrm>
              <a:off x="4314825" y="2352675"/>
              <a:ext cx="514500" cy="285900"/>
            </a:xfrm>
            <a:prstGeom prst="roundRect">
              <a:avLst>
                <a:gd fmla="val 20000" name="adj"/>
              </a:avLst>
            </a:prstGeom>
            <a:solidFill>
              <a:srgbClr val="34D39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9" name="Google Shape;429;p24"/>
            <p:cNvSpPr txBox="1"/>
            <p:nvPr/>
          </p:nvSpPr>
          <p:spPr>
            <a:xfrm>
              <a:off x="4314825" y="2352675"/>
              <a:ext cx="514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75">
                  <a:solidFill>
                    <a:srgbClr val="064E3B"/>
                  </a:solidFill>
                  <a:latin typeface="Plus Jakarta Sans ExtraBold"/>
                  <a:ea typeface="Plus Jakarta Sans ExtraBold"/>
                  <a:cs typeface="Plus Jakarta Sans ExtraBold"/>
                  <a:sym typeface="Plus Jakarta Sans ExtraBold"/>
                </a:rPr>
                <a:t>T4</a:t>
              </a:r>
              <a:endParaRPr/>
            </a:p>
          </p:txBody>
        </p:sp>
        <p:sp>
          <p:nvSpPr>
            <p:cNvPr id="430" name="Google Shape;430;p24"/>
            <p:cNvSpPr txBox="1"/>
            <p:nvPr/>
          </p:nvSpPr>
          <p:spPr>
            <a:xfrm>
              <a:off x="4105275" y="2752725"/>
              <a:ext cx="933600" cy="1762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863">
                  <a:solidFill>
                    <a:srgbClr val="4B5563"/>
                  </a:solidFill>
                  <a:latin typeface="Inter Medium"/>
                  <a:ea typeface="Inter Medium"/>
                  <a:cs typeface="Inter Medium"/>
                  <a:sym typeface="Inter Medium"/>
                </a:rPr>
                <a:t>Tahap internalisasi karakter mandiri.</a:t>
              </a:r>
              <a:endParaRPr b="0" sz="863">
                <a:solidFill>
                  <a:srgbClr val="4B5563"/>
                </a:solidFill>
                <a:latin typeface="Inter Medium"/>
                <a:ea typeface="Inter Medium"/>
                <a:cs typeface="Inter Medium"/>
                <a:sym typeface="Inter Medium"/>
              </a:endParaRPr>
            </a:p>
          </p:txBody>
        </p:sp>
      </p:grpSp>
      <p:grpSp>
        <p:nvGrpSpPr>
          <p:cNvPr id="431" name="Google Shape;431;p24"/>
          <p:cNvGrpSpPr/>
          <p:nvPr/>
        </p:nvGrpSpPr>
        <p:grpSpPr>
          <a:xfrm>
            <a:off x="5229225" y="2000250"/>
            <a:ext cx="1047900" cy="2571900"/>
            <a:chOff x="5229225" y="2000250"/>
            <a:chExt cx="1047900" cy="2571900"/>
          </a:xfrm>
        </p:grpSpPr>
        <p:sp>
          <p:nvSpPr>
            <p:cNvPr id="432" name="Google Shape;432;p24"/>
            <p:cNvSpPr/>
            <p:nvPr/>
          </p:nvSpPr>
          <p:spPr>
            <a:xfrm>
              <a:off x="5229225" y="2000250"/>
              <a:ext cx="1047900" cy="2571900"/>
            </a:xfrm>
            <a:prstGeom prst="roundRect">
              <a:avLst>
                <a:gd fmla="val 7272"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3" name="Google Shape;433;p24"/>
            <p:cNvSpPr/>
            <p:nvPr/>
          </p:nvSpPr>
          <p:spPr>
            <a:xfrm>
              <a:off x="5229225" y="2000250"/>
              <a:ext cx="1047900" cy="381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4" name="Google Shape;434;p24"/>
            <p:cNvSpPr/>
            <p:nvPr/>
          </p:nvSpPr>
          <p:spPr>
            <a:xfrm>
              <a:off x="5495925" y="2114550"/>
              <a:ext cx="514500" cy="285900"/>
            </a:xfrm>
            <a:prstGeom prst="roundRect">
              <a:avLst>
                <a:gd fmla="val 2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5" name="Google Shape;435;p24"/>
            <p:cNvSpPr txBox="1"/>
            <p:nvPr/>
          </p:nvSpPr>
          <p:spPr>
            <a:xfrm>
              <a:off x="5495925" y="2114550"/>
              <a:ext cx="514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75">
                  <a:solidFill>
                    <a:srgbClr val="FFFFFF"/>
                  </a:solidFill>
                  <a:latin typeface="Plus Jakarta Sans ExtraBold"/>
                  <a:ea typeface="Plus Jakarta Sans ExtraBold"/>
                  <a:cs typeface="Plus Jakarta Sans ExtraBold"/>
                  <a:sym typeface="Plus Jakarta Sans ExtraBold"/>
                </a:rPr>
                <a:t>T5</a:t>
              </a:r>
              <a:endParaRPr/>
            </a:p>
          </p:txBody>
        </p:sp>
        <p:sp>
          <p:nvSpPr>
            <p:cNvPr id="436" name="Google Shape;436;p24"/>
            <p:cNvSpPr txBox="1"/>
            <p:nvPr/>
          </p:nvSpPr>
          <p:spPr>
            <a:xfrm>
              <a:off x="5286375" y="2514600"/>
              <a:ext cx="933600" cy="2000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863">
                  <a:solidFill>
                    <a:srgbClr val="4B5563"/>
                  </a:solidFill>
                  <a:latin typeface="Inter Medium"/>
                  <a:ea typeface="Inter Medium"/>
                  <a:cs typeface="Inter Medium"/>
                  <a:sym typeface="Inter Medium"/>
                </a:rPr>
                <a:t>Tahap pengembangan tanggung jawab sosial.</a:t>
              </a:r>
              <a:endParaRPr b="0" sz="863">
                <a:solidFill>
                  <a:srgbClr val="4B5563"/>
                </a:solidFill>
                <a:latin typeface="Inter Medium"/>
                <a:ea typeface="Inter Medium"/>
                <a:cs typeface="Inter Medium"/>
                <a:sym typeface="Inter Medium"/>
              </a:endParaRPr>
            </a:p>
          </p:txBody>
        </p:sp>
      </p:grpSp>
      <p:grpSp>
        <p:nvGrpSpPr>
          <p:cNvPr id="437" name="Google Shape;437;p24"/>
          <p:cNvGrpSpPr/>
          <p:nvPr/>
        </p:nvGrpSpPr>
        <p:grpSpPr>
          <a:xfrm>
            <a:off x="6410325" y="1762125"/>
            <a:ext cx="1047900" cy="2809800"/>
            <a:chOff x="6410325" y="1762125"/>
            <a:chExt cx="1047900" cy="2809800"/>
          </a:xfrm>
        </p:grpSpPr>
        <p:sp>
          <p:nvSpPr>
            <p:cNvPr id="438" name="Google Shape;438;p24"/>
            <p:cNvSpPr/>
            <p:nvPr/>
          </p:nvSpPr>
          <p:spPr>
            <a:xfrm>
              <a:off x="6410325" y="1762125"/>
              <a:ext cx="1047900" cy="2809800"/>
            </a:xfrm>
            <a:prstGeom prst="roundRect">
              <a:avLst>
                <a:gd fmla="val 7272"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9" name="Google Shape;439;p24"/>
            <p:cNvSpPr/>
            <p:nvPr/>
          </p:nvSpPr>
          <p:spPr>
            <a:xfrm>
              <a:off x="6410325" y="1762125"/>
              <a:ext cx="1047900" cy="381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0" name="Google Shape;440;p24"/>
            <p:cNvSpPr/>
            <p:nvPr/>
          </p:nvSpPr>
          <p:spPr>
            <a:xfrm>
              <a:off x="6677025" y="1876425"/>
              <a:ext cx="514500" cy="285900"/>
            </a:xfrm>
            <a:prstGeom prst="roundRect">
              <a:avLst>
                <a:gd fmla="val 2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1" name="Google Shape;441;p24"/>
            <p:cNvSpPr txBox="1"/>
            <p:nvPr/>
          </p:nvSpPr>
          <p:spPr>
            <a:xfrm>
              <a:off x="6677025" y="1876425"/>
              <a:ext cx="514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75">
                  <a:solidFill>
                    <a:srgbClr val="FFFFFF"/>
                  </a:solidFill>
                  <a:latin typeface="Plus Jakarta Sans ExtraBold"/>
                  <a:ea typeface="Plus Jakarta Sans ExtraBold"/>
                  <a:cs typeface="Plus Jakarta Sans ExtraBold"/>
                  <a:sym typeface="Plus Jakarta Sans ExtraBold"/>
                </a:rPr>
                <a:t>T6</a:t>
              </a:r>
              <a:endParaRPr/>
            </a:p>
          </p:txBody>
        </p:sp>
        <p:sp>
          <p:nvSpPr>
            <p:cNvPr id="442" name="Google Shape;442;p24"/>
            <p:cNvSpPr txBox="1"/>
            <p:nvPr/>
          </p:nvSpPr>
          <p:spPr>
            <a:xfrm>
              <a:off x="6467475" y="2276475"/>
              <a:ext cx="933600" cy="2238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863">
                  <a:solidFill>
                    <a:srgbClr val="4B5563"/>
                  </a:solidFill>
                  <a:latin typeface="Inter Medium"/>
                  <a:ea typeface="Inter Medium"/>
                  <a:cs typeface="Inter Medium"/>
                  <a:sym typeface="Inter Medium"/>
                </a:rPr>
                <a:t>Tahap kepemimpinan.</a:t>
              </a:r>
              <a:endParaRPr b="0" sz="863">
                <a:solidFill>
                  <a:srgbClr val="4B5563"/>
                </a:solidFill>
                <a:latin typeface="Inter Medium"/>
                <a:ea typeface="Inter Medium"/>
                <a:cs typeface="Inter Medium"/>
                <a:sym typeface="Inter Medium"/>
              </a:endParaRPr>
            </a:p>
          </p:txBody>
        </p:sp>
      </p:grpSp>
      <p:grpSp>
        <p:nvGrpSpPr>
          <p:cNvPr id="443" name="Google Shape;443;p24"/>
          <p:cNvGrpSpPr/>
          <p:nvPr/>
        </p:nvGrpSpPr>
        <p:grpSpPr>
          <a:xfrm>
            <a:off x="7591425" y="1524000"/>
            <a:ext cx="1047900" cy="3048000"/>
            <a:chOff x="7591425" y="1524000"/>
            <a:chExt cx="1047900" cy="3048000"/>
          </a:xfrm>
        </p:grpSpPr>
        <p:sp>
          <p:nvSpPr>
            <p:cNvPr id="444" name="Google Shape;444;p24"/>
            <p:cNvSpPr/>
            <p:nvPr/>
          </p:nvSpPr>
          <p:spPr>
            <a:xfrm>
              <a:off x="7591425" y="1524000"/>
              <a:ext cx="1047900" cy="3048000"/>
            </a:xfrm>
            <a:prstGeom prst="roundRect">
              <a:avLst>
                <a:gd fmla="val 7272"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5" name="Google Shape;445;p24"/>
            <p:cNvSpPr/>
            <p:nvPr/>
          </p:nvSpPr>
          <p:spPr>
            <a:xfrm>
              <a:off x="7591425" y="1524000"/>
              <a:ext cx="1047900" cy="38100"/>
            </a:xfrm>
            <a:prstGeom prst="roundRect">
              <a:avLst>
                <a:gd fmla="val 50000" name="adj"/>
              </a:avLst>
            </a:prstGeom>
            <a:solidFill>
              <a:srgbClr val="04785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6" name="Google Shape;446;p24"/>
            <p:cNvSpPr/>
            <p:nvPr/>
          </p:nvSpPr>
          <p:spPr>
            <a:xfrm>
              <a:off x="7858125" y="1638300"/>
              <a:ext cx="514500" cy="285900"/>
            </a:xfrm>
            <a:prstGeom prst="roundRect">
              <a:avLst>
                <a:gd fmla="val 20000" name="adj"/>
              </a:avLst>
            </a:prstGeom>
            <a:solidFill>
              <a:srgbClr val="04785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7" name="Google Shape;447;p24"/>
            <p:cNvSpPr txBox="1"/>
            <p:nvPr/>
          </p:nvSpPr>
          <p:spPr>
            <a:xfrm>
              <a:off x="7858125" y="1638300"/>
              <a:ext cx="514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75">
                  <a:solidFill>
                    <a:srgbClr val="FFFFFF"/>
                  </a:solidFill>
                  <a:latin typeface="Plus Jakarta Sans ExtraBold"/>
                  <a:ea typeface="Plus Jakarta Sans ExtraBold"/>
                  <a:cs typeface="Plus Jakarta Sans ExtraBold"/>
                  <a:sym typeface="Plus Jakarta Sans ExtraBold"/>
                </a:rPr>
                <a:t>T7</a:t>
              </a:r>
              <a:endParaRPr/>
            </a:p>
          </p:txBody>
        </p:sp>
        <p:sp>
          <p:nvSpPr>
            <p:cNvPr id="448" name="Google Shape;448;p24"/>
            <p:cNvSpPr txBox="1"/>
            <p:nvPr/>
          </p:nvSpPr>
          <p:spPr>
            <a:xfrm>
              <a:off x="7648575" y="2038350"/>
              <a:ext cx="933600" cy="2476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863">
                  <a:solidFill>
                    <a:srgbClr val="4B5563"/>
                  </a:solidFill>
                  <a:latin typeface="Inter Medium"/>
                  <a:ea typeface="Inter Medium"/>
                  <a:cs typeface="Inter Medium"/>
                  <a:sym typeface="Inter Medium"/>
                </a:rPr>
                <a:t>Tahap kematangan dan kesiapan mengabdi.</a:t>
              </a:r>
              <a:endParaRPr b="0" sz="863">
                <a:solidFill>
                  <a:srgbClr val="4B5563"/>
                </a:solidFill>
                <a:latin typeface="Inter Medium"/>
                <a:ea typeface="Inter Medium"/>
                <a:cs typeface="Inter Medium"/>
                <a:sym typeface="Inter Medium"/>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25"/>
          <p:cNvSpPr/>
          <p:nvPr/>
        </p:nvSpPr>
        <p:spPr>
          <a:xfrm>
            <a:off x="0" y="0"/>
            <a:ext cx="9144000" cy="51435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54" name="Google Shape;454;p25"/>
          <p:cNvGrpSpPr/>
          <p:nvPr/>
        </p:nvGrpSpPr>
        <p:grpSpPr>
          <a:xfrm>
            <a:off x="8458200" y="457200"/>
            <a:ext cx="228600" cy="228600"/>
            <a:chOff x="0" y="0"/>
            <a:chExt cx="228600" cy="228600"/>
          </a:xfrm>
        </p:grpSpPr>
        <p:sp>
          <p:nvSpPr>
            <p:cNvPr id="455" name="Google Shape;455;p25"/>
            <p:cNvSpPr/>
            <p:nvPr/>
          </p:nvSpPr>
          <p:spPr>
            <a:xfrm>
              <a:off x="0" y="0"/>
              <a:ext cx="228600" cy="2286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6" name="Google Shape;456;p25"/>
            <p:cNvSpPr/>
            <p:nvPr/>
          </p:nvSpPr>
          <p:spPr>
            <a:xfrm>
              <a:off x="38100" y="38100"/>
              <a:ext cx="152400" cy="1524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7" name="Google Shape;457;p25"/>
            <p:cNvSpPr/>
            <p:nvPr/>
          </p:nvSpPr>
          <p:spPr>
            <a:xfrm>
              <a:off x="85725" y="85725"/>
              <a:ext cx="57300" cy="573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58" name="Google Shape;458;p25"/>
          <p:cNvSpPr/>
          <p:nvPr/>
        </p:nvSpPr>
        <p:spPr>
          <a:xfrm>
            <a:off x="457200" y="4762500"/>
            <a:ext cx="82296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59" name="Google Shape;459;p25"/>
          <p:cNvGrpSpPr/>
          <p:nvPr/>
        </p:nvGrpSpPr>
        <p:grpSpPr>
          <a:xfrm>
            <a:off x="457200" y="419100"/>
            <a:ext cx="7620000" cy="866850"/>
            <a:chOff x="457200" y="419100"/>
            <a:chExt cx="7620000" cy="866850"/>
          </a:xfrm>
        </p:grpSpPr>
        <p:sp>
          <p:nvSpPr>
            <p:cNvPr id="460" name="Google Shape;460;p25"/>
            <p:cNvSpPr txBox="1"/>
            <p:nvPr/>
          </p:nvSpPr>
          <p:spPr>
            <a:xfrm>
              <a:off x="457200" y="419100"/>
              <a:ext cx="7620000" cy="4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111827"/>
                  </a:solidFill>
                  <a:latin typeface="Plus Jakarta Sans"/>
                  <a:ea typeface="Plus Jakarta Sans"/>
                  <a:cs typeface="Plus Jakarta Sans"/>
                  <a:sym typeface="Plus Jakarta Sans"/>
                </a:rPr>
                <a:t>Paradigma Baru Pembinaan</a:t>
              </a:r>
              <a:endParaRPr b="1" sz="2400">
                <a:solidFill>
                  <a:srgbClr val="111827"/>
                </a:solidFill>
                <a:latin typeface="Plus Jakarta Sans"/>
                <a:ea typeface="Plus Jakarta Sans"/>
                <a:cs typeface="Plus Jakarta Sans"/>
                <a:sym typeface="Plus Jakarta Sans"/>
              </a:endParaRPr>
            </a:p>
          </p:txBody>
        </p:sp>
        <p:sp>
          <p:nvSpPr>
            <p:cNvPr id="461" name="Google Shape;461;p25"/>
            <p:cNvSpPr txBox="1"/>
            <p:nvPr/>
          </p:nvSpPr>
          <p:spPr>
            <a:xfrm>
              <a:off x="457200" y="857250"/>
              <a:ext cx="76200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4B5563"/>
                  </a:solidFill>
                  <a:latin typeface="Inter"/>
                  <a:ea typeface="Inter"/>
                  <a:cs typeface="Inter"/>
                  <a:sym typeface="Inter"/>
                </a:rPr>
                <a:t>Implementasi sistem ini menuntut pergeseran pola pikir (mindset) yang mendasar dari seluruh pendidik, beralih dari cara lama ke cara baru yang lebih memberdayakan:</a:t>
              </a:r>
              <a:endParaRPr b="0" sz="1050">
                <a:solidFill>
                  <a:srgbClr val="4B5563"/>
                </a:solidFill>
                <a:latin typeface="Inter"/>
                <a:ea typeface="Inter"/>
                <a:cs typeface="Inter"/>
                <a:sym typeface="Inter"/>
              </a:endParaRPr>
            </a:p>
          </p:txBody>
        </p:sp>
      </p:grpSp>
      <p:grpSp>
        <p:nvGrpSpPr>
          <p:cNvPr id="462" name="Google Shape;462;p25"/>
          <p:cNvGrpSpPr/>
          <p:nvPr/>
        </p:nvGrpSpPr>
        <p:grpSpPr>
          <a:xfrm>
            <a:off x="457200" y="1390650"/>
            <a:ext cx="8229750" cy="190500"/>
            <a:chOff x="457200" y="1390650"/>
            <a:chExt cx="8229750" cy="190500"/>
          </a:xfrm>
        </p:grpSpPr>
        <p:sp>
          <p:nvSpPr>
            <p:cNvPr id="463" name="Google Shape;463;p25"/>
            <p:cNvSpPr txBox="1"/>
            <p:nvPr/>
          </p:nvSpPr>
          <p:spPr>
            <a:xfrm>
              <a:off x="457200" y="1390650"/>
              <a:ext cx="35244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9CA3AF"/>
                  </a:solidFill>
                  <a:latin typeface="Plus Jakarta Sans"/>
                  <a:ea typeface="Plus Jakarta Sans"/>
                  <a:cs typeface="Plus Jakarta Sans"/>
                  <a:sym typeface="Plus Jakarta Sans"/>
                </a:rPr>
                <a:t>Pola Pikir Lama</a:t>
              </a:r>
              <a:endParaRPr b="1" sz="900">
                <a:solidFill>
                  <a:srgbClr val="9CA3AF"/>
                </a:solidFill>
                <a:latin typeface="Plus Jakarta Sans"/>
                <a:ea typeface="Plus Jakarta Sans"/>
                <a:cs typeface="Plus Jakarta Sans"/>
                <a:sym typeface="Plus Jakarta Sans"/>
              </a:endParaRPr>
            </a:p>
          </p:txBody>
        </p:sp>
        <p:sp>
          <p:nvSpPr>
            <p:cNvPr id="464" name="Google Shape;464;p25"/>
            <p:cNvSpPr txBox="1"/>
            <p:nvPr/>
          </p:nvSpPr>
          <p:spPr>
            <a:xfrm>
              <a:off x="4857750" y="1390650"/>
              <a:ext cx="38292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059669"/>
                  </a:solidFill>
                  <a:latin typeface="Plus Jakarta Sans"/>
                  <a:ea typeface="Plus Jakarta Sans"/>
                  <a:cs typeface="Plus Jakarta Sans"/>
                  <a:sym typeface="Plus Jakarta Sans"/>
                </a:rPr>
                <a:t>Paradigma Baru</a:t>
              </a:r>
              <a:endParaRPr b="1" sz="900">
                <a:solidFill>
                  <a:srgbClr val="059669"/>
                </a:solidFill>
                <a:latin typeface="Plus Jakarta Sans"/>
                <a:ea typeface="Plus Jakarta Sans"/>
                <a:cs typeface="Plus Jakarta Sans"/>
                <a:sym typeface="Plus Jakarta Sans"/>
              </a:endParaRPr>
            </a:p>
          </p:txBody>
        </p:sp>
      </p:grpSp>
      <p:grpSp>
        <p:nvGrpSpPr>
          <p:cNvPr id="465" name="Google Shape;465;p25"/>
          <p:cNvGrpSpPr/>
          <p:nvPr/>
        </p:nvGrpSpPr>
        <p:grpSpPr>
          <a:xfrm>
            <a:off x="457200" y="1666875"/>
            <a:ext cx="8229750" cy="609600"/>
            <a:chOff x="457200" y="0"/>
            <a:chExt cx="8229750" cy="609600"/>
          </a:xfrm>
        </p:grpSpPr>
        <p:sp>
          <p:nvSpPr>
            <p:cNvPr id="466" name="Google Shape;466;p25"/>
            <p:cNvSpPr/>
            <p:nvPr/>
          </p:nvSpPr>
          <p:spPr>
            <a:xfrm>
              <a:off x="457200" y="0"/>
              <a:ext cx="3524400" cy="609600"/>
            </a:xfrm>
            <a:prstGeom prst="roundRect">
              <a:avLst>
                <a:gd fmla="val 12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67" name="Google Shape;467;p25"/>
            <p:cNvGrpSpPr/>
            <p:nvPr/>
          </p:nvGrpSpPr>
          <p:grpSpPr>
            <a:xfrm>
              <a:off x="609600" y="190500"/>
              <a:ext cx="228600" cy="228600"/>
              <a:chOff x="0" y="0"/>
              <a:chExt cx="228600" cy="228600"/>
            </a:xfrm>
          </p:grpSpPr>
          <p:sp>
            <p:nvSpPr>
              <p:cNvPr id="468" name="Google Shape;468;p25"/>
              <p:cNvSpPr/>
              <p:nvPr/>
            </p:nvSpPr>
            <p:spPr>
              <a:xfrm>
                <a:off x="0" y="0"/>
                <a:ext cx="228600" cy="228600"/>
              </a:xfrm>
              <a:prstGeom prst="ellipse">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9" name="Google Shape;469;p25"/>
              <p:cNvSpPr/>
              <p:nvPr/>
            </p:nvSpPr>
            <p:spPr>
              <a:xfrm>
                <a:off x="76200" y="76200"/>
                <a:ext cx="76200" cy="76200"/>
              </a:xfrm>
              <a:custGeom>
                <a:rect b="b" l="l" r="r" t="t"/>
                <a:pathLst>
                  <a:path extrusionOk="0" h="120000" w="120000">
                    <a:moveTo>
                      <a:pt x="0" y="0"/>
                    </a:moveTo>
                    <a:lnTo>
                      <a:pt x="120000" y="120000"/>
                    </a:lnTo>
                    <a:moveTo>
                      <a:pt x="120000" y="0"/>
                    </a:moveTo>
                    <a:lnTo>
                      <a:pt x="0" y="120000"/>
                    </a:lnTo>
                  </a:path>
                </a:pathLst>
              </a:custGeom>
              <a:solidFill>
                <a:srgbClr val="000000">
                  <a:alpha val="0"/>
                </a:srgbClr>
              </a:solidFill>
              <a:ln cap="rnd" cmpd="sng" w="19050">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70" name="Google Shape;470;p25"/>
            <p:cNvSpPr txBox="1"/>
            <p:nvPr/>
          </p:nvSpPr>
          <p:spPr>
            <a:xfrm>
              <a:off x="952500" y="0"/>
              <a:ext cx="28767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50">
                  <a:solidFill>
                    <a:srgbClr val="4B5563"/>
                  </a:solidFill>
                  <a:latin typeface="Inter Medium"/>
                  <a:ea typeface="Inter Medium"/>
                  <a:cs typeface="Inter Medium"/>
                  <a:sym typeface="Inter Medium"/>
                </a:rPr>
                <a:t>Menunggu Pelanggaran</a:t>
              </a:r>
              <a:endParaRPr b="0" sz="1050">
                <a:solidFill>
                  <a:srgbClr val="4B5563"/>
                </a:solidFill>
                <a:latin typeface="Inter Medium"/>
                <a:ea typeface="Inter Medium"/>
                <a:cs typeface="Inter Medium"/>
                <a:sym typeface="Inter Medium"/>
              </a:endParaRPr>
            </a:p>
          </p:txBody>
        </p:sp>
        <p:sp>
          <p:nvSpPr>
            <p:cNvPr id="471" name="Google Shape;471;p25"/>
            <p:cNvSpPr/>
            <p:nvPr/>
          </p:nvSpPr>
          <p:spPr>
            <a:xfrm>
              <a:off x="4238625" y="228600"/>
              <a:ext cx="304800" cy="152400"/>
            </a:xfrm>
            <a:custGeom>
              <a:rect b="b" l="l" r="r" t="t"/>
              <a:pathLst>
                <a:path extrusionOk="0" h="120000" w="120000">
                  <a:moveTo>
                    <a:pt x="0" y="60000"/>
                  </a:moveTo>
                  <a:lnTo>
                    <a:pt x="120000" y="60000"/>
                  </a:lnTo>
                  <a:moveTo>
                    <a:pt x="90000" y="0"/>
                  </a:moveTo>
                  <a:lnTo>
                    <a:pt x="120000" y="60000"/>
                  </a:lnTo>
                  <a:lnTo>
                    <a:pt x="90000" y="120000"/>
                  </a:lnTo>
                </a:path>
              </a:pathLst>
            </a:custGeom>
            <a:solidFill>
              <a:srgbClr val="000000">
                <a:alpha val="0"/>
              </a:srgbClr>
            </a:solidFill>
            <a:ln cap="rnd" cmpd="sng" w="23825">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2" name="Google Shape;472;p25"/>
            <p:cNvSpPr/>
            <p:nvPr/>
          </p:nvSpPr>
          <p:spPr>
            <a:xfrm>
              <a:off x="4857750" y="0"/>
              <a:ext cx="3829200" cy="609600"/>
            </a:xfrm>
            <a:prstGeom prst="roundRect">
              <a:avLst>
                <a:gd fmla="val 12500" name="adj"/>
              </a:avLst>
            </a:prstGeom>
            <a:solidFill>
              <a:srgbClr val="ECFDF5"/>
            </a:solidFill>
            <a:ln cap="flat" cmpd="sng" w="114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73" name="Google Shape;473;p25"/>
            <p:cNvGrpSpPr/>
            <p:nvPr/>
          </p:nvGrpSpPr>
          <p:grpSpPr>
            <a:xfrm>
              <a:off x="5010150" y="190500"/>
              <a:ext cx="228600" cy="228600"/>
              <a:chOff x="0" y="0"/>
              <a:chExt cx="228600" cy="228600"/>
            </a:xfrm>
          </p:grpSpPr>
          <p:sp>
            <p:nvSpPr>
              <p:cNvPr id="474" name="Google Shape;474;p25"/>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5" name="Google Shape;475;p25"/>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209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76" name="Google Shape;476;p25"/>
            <p:cNvSpPr txBox="1"/>
            <p:nvPr/>
          </p:nvSpPr>
          <p:spPr>
            <a:xfrm>
              <a:off x="5353050" y="0"/>
              <a:ext cx="31812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064E3B"/>
                  </a:solidFill>
                  <a:latin typeface="Plus Jakarta Sans"/>
                  <a:ea typeface="Plus Jakarta Sans"/>
                  <a:cs typeface="Plus Jakarta Sans"/>
                  <a:sym typeface="Plus Jakarta Sans"/>
                </a:rPr>
                <a:t>Mencegah Sejak Awal (Preventif)</a:t>
              </a:r>
              <a:endParaRPr b="1" sz="1050">
                <a:solidFill>
                  <a:srgbClr val="064E3B"/>
                </a:solidFill>
                <a:latin typeface="Plus Jakarta Sans"/>
                <a:ea typeface="Plus Jakarta Sans"/>
                <a:cs typeface="Plus Jakarta Sans"/>
                <a:sym typeface="Plus Jakarta Sans"/>
              </a:endParaRPr>
            </a:p>
          </p:txBody>
        </p:sp>
      </p:grpSp>
      <p:grpSp>
        <p:nvGrpSpPr>
          <p:cNvPr id="477" name="Google Shape;477;p25"/>
          <p:cNvGrpSpPr/>
          <p:nvPr/>
        </p:nvGrpSpPr>
        <p:grpSpPr>
          <a:xfrm>
            <a:off x="457200" y="2381250"/>
            <a:ext cx="8229750" cy="609600"/>
            <a:chOff x="457200" y="0"/>
            <a:chExt cx="8229750" cy="609600"/>
          </a:xfrm>
        </p:grpSpPr>
        <p:sp>
          <p:nvSpPr>
            <p:cNvPr id="478" name="Google Shape;478;p25"/>
            <p:cNvSpPr/>
            <p:nvPr/>
          </p:nvSpPr>
          <p:spPr>
            <a:xfrm>
              <a:off x="457200" y="0"/>
              <a:ext cx="3524400" cy="609600"/>
            </a:xfrm>
            <a:prstGeom prst="roundRect">
              <a:avLst>
                <a:gd fmla="val 12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79" name="Google Shape;479;p25"/>
            <p:cNvGrpSpPr/>
            <p:nvPr/>
          </p:nvGrpSpPr>
          <p:grpSpPr>
            <a:xfrm>
              <a:off x="609600" y="190500"/>
              <a:ext cx="228600" cy="228600"/>
              <a:chOff x="0" y="0"/>
              <a:chExt cx="228600" cy="228600"/>
            </a:xfrm>
          </p:grpSpPr>
          <p:sp>
            <p:nvSpPr>
              <p:cNvPr id="480" name="Google Shape;480;p25"/>
              <p:cNvSpPr/>
              <p:nvPr/>
            </p:nvSpPr>
            <p:spPr>
              <a:xfrm>
                <a:off x="0" y="0"/>
                <a:ext cx="228600" cy="228600"/>
              </a:xfrm>
              <a:prstGeom prst="ellipse">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1" name="Google Shape;481;p25"/>
              <p:cNvSpPr/>
              <p:nvPr/>
            </p:nvSpPr>
            <p:spPr>
              <a:xfrm>
                <a:off x="76200" y="76200"/>
                <a:ext cx="76200" cy="76200"/>
              </a:xfrm>
              <a:custGeom>
                <a:rect b="b" l="l" r="r" t="t"/>
                <a:pathLst>
                  <a:path extrusionOk="0" h="120000" w="120000">
                    <a:moveTo>
                      <a:pt x="0" y="0"/>
                    </a:moveTo>
                    <a:lnTo>
                      <a:pt x="120000" y="120000"/>
                    </a:lnTo>
                    <a:moveTo>
                      <a:pt x="120000" y="0"/>
                    </a:moveTo>
                    <a:lnTo>
                      <a:pt x="0" y="120000"/>
                    </a:lnTo>
                  </a:path>
                </a:pathLst>
              </a:custGeom>
              <a:solidFill>
                <a:srgbClr val="000000">
                  <a:alpha val="0"/>
                </a:srgbClr>
              </a:solidFill>
              <a:ln cap="rnd" cmpd="sng" w="19050">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82" name="Google Shape;482;p25"/>
            <p:cNvSpPr txBox="1"/>
            <p:nvPr/>
          </p:nvSpPr>
          <p:spPr>
            <a:xfrm>
              <a:off x="952500" y="0"/>
              <a:ext cx="28767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50">
                  <a:solidFill>
                    <a:srgbClr val="4B5563"/>
                  </a:solidFill>
                  <a:latin typeface="Inter Medium"/>
                  <a:ea typeface="Inter Medium"/>
                  <a:cs typeface="Inter Medium"/>
                  <a:sym typeface="Inter Medium"/>
                </a:rPr>
                <a:t>Sekadar Menghukum</a:t>
              </a:r>
              <a:endParaRPr b="0" sz="1050">
                <a:solidFill>
                  <a:srgbClr val="4B5563"/>
                </a:solidFill>
                <a:latin typeface="Inter Medium"/>
                <a:ea typeface="Inter Medium"/>
                <a:cs typeface="Inter Medium"/>
                <a:sym typeface="Inter Medium"/>
              </a:endParaRPr>
            </a:p>
          </p:txBody>
        </p:sp>
        <p:sp>
          <p:nvSpPr>
            <p:cNvPr id="483" name="Google Shape;483;p25"/>
            <p:cNvSpPr/>
            <p:nvPr/>
          </p:nvSpPr>
          <p:spPr>
            <a:xfrm>
              <a:off x="4238625" y="228600"/>
              <a:ext cx="304800" cy="152400"/>
            </a:xfrm>
            <a:custGeom>
              <a:rect b="b" l="l" r="r" t="t"/>
              <a:pathLst>
                <a:path extrusionOk="0" h="120000" w="120000">
                  <a:moveTo>
                    <a:pt x="0" y="60000"/>
                  </a:moveTo>
                  <a:lnTo>
                    <a:pt x="120000" y="60000"/>
                  </a:lnTo>
                  <a:moveTo>
                    <a:pt x="90000" y="0"/>
                  </a:moveTo>
                  <a:lnTo>
                    <a:pt x="120000" y="60000"/>
                  </a:lnTo>
                  <a:lnTo>
                    <a:pt x="90000" y="120000"/>
                  </a:lnTo>
                </a:path>
              </a:pathLst>
            </a:custGeom>
            <a:solidFill>
              <a:srgbClr val="000000">
                <a:alpha val="0"/>
              </a:srgbClr>
            </a:solidFill>
            <a:ln cap="rnd" cmpd="sng" w="23825">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4" name="Google Shape;484;p25"/>
            <p:cNvSpPr/>
            <p:nvPr/>
          </p:nvSpPr>
          <p:spPr>
            <a:xfrm>
              <a:off x="4857750" y="0"/>
              <a:ext cx="3829200" cy="609600"/>
            </a:xfrm>
            <a:prstGeom prst="roundRect">
              <a:avLst>
                <a:gd fmla="val 12500" name="adj"/>
              </a:avLst>
            </a:prstGeom>
            <a:solidFill>
              <a:srgbClr val="ECFDF5"/>
            </a:solidFill>
            <a:ln cap="flat" cmpd="sng" w="114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85" name="Google Shape;485;p25"/>
            <p:cNvGrpSpPr/>
            <p:nvPr/>
          </p:nvGrpSpPr>
          <p:grpSpPr>
            <a:xfrm>
              <a:off x="5010150" y="190500"/>
              <a:ext cx="228600" cy="228600"/>
              <a:chOff x="0" y="0"/>
              <a:chExt cx="228600" cy="228600"/>
            </a:xfrm>
          </p:grpSpPr>
          <p:sp>
            <p:nvSpPr>
              <p:cNvPr id="486" name="Google Shape;486;p25"/>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7" name="Google Shape;487;p25"/>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209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88" name="Google Shape;488;p25"/>
            <p:cNvSpPr txBox="1"/>
            <p:nvPr/>
          </p:nvSpPr>
          <p:spPr>
            <a:xfrm>
              <a:off x="5353050" y="0"/>
              <a:ext cx="31812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064E3B"/>
                  </a:solidFill>
                  <a:latin typeface="Plus Jakarta Sans"/>
                  <a:ea typeface="Plus Jakarta Sans"/>
                  <a:cs typeface="Plus Jakarta Sans"/>
                  <a:sym typeface="Plus Jakarta Sans"/>
                </a:rPr>
                <a:t>Membina dan Membimbing</a:t>
              </a:r>
              <a:endParaRPr b="1" sz="1050">
                <a:solidFill>
                  <a:srgbClr val="064E3B"/>
                </a:solidFill>
                <a:latin typeface="Plus Jakarta Sans"/>
                <a:ea typeface="Plus Jakarta Sans"/>
                <a:cs typeface="Plus Jakarta Sans"/>
                <a:sym typeface="Plus Jakarta Sans"/>
              </a:endParaRPr>
            </a:p>
          </p:txBody>
        </p:sp>
      </p:grpSp>
      <p:grpSp>
        <p:nvGrpSpPr>
          <p:cNvPr id="489" name="Google Shape;489;p25"/>
          <p:cNvGrpSpPr/>
          <p:nvPr/>
        </p:nvGrpSpPr>
        <p:grpSpPr>
          <a:xfrm>
            <a:off x="457200" y="3095625"/>
            <a:ext cx="8229750" cy="609600"/>
            <a:chOff x="457200" y="0"/>
            <a:chExt cx="8229750" cy="609600"/>
          </a:xfrm>
        </p:grpSpPr>
        <p:sp>
          <p:nvSpPr>
            <p:cNvPr id="490" name="Google Shape;490;p25"/>
            <p:cNvSpPr/>
            <p:nvPr/>
          </p:nvSpPr>
          <p:spPr>
            <a:xfrm>
              <a:off x="457200" y="0"/>
              <a:ext cx="3524400" cy="609600"/>
            </a:xfrm>
            <a:prstGeom prst="roundRect">
              <a:avLst>
                <a:gd fmla="val 12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91" name="Google Shape;491;p25"/>
            <p:cNvGrpSpPr/>
            <p:nvPr/>
          </p:nvGrpSpPr>
          <p:grpSpPr>
            <a:xfrm>
              <a:off x="609600" y="190500"/>
              <a:ext cx="228600" cy="228600"/>
              <a:chOff x="0" y="0"/>
              <a:chExt cx="228600" cy="228600"/>
            </a:xfrm>
          </p:grpSpPr>
          <p:sp>
            <p:nvSpPr>
              <p:cNvPr id="492" name="Google Shape;492;p25"/>
              <p:cNvSpPr/>
              <p:nvPr/>
            </p:nvSpPr>
            <p:spPr>
              <a:xfrm>
                <a:off x="0" y="0"/>
                <a:ext cx="228600" cy="228600"/>
              </a:xfrm>
              <a:prstGeom prst="ellipse">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3" name="Google Shape;493;p25"/>
              <p:cNvSpPr/>
              <p:nvPr/>
            </p:nvSpPr>
            <p:spPr>
              <a:xfrm>
                <a:off x="76200" y="76200"/>
                <a:ext cx="76200" cy="76200"/>
              </a:xfrm>
              <a:custGeom>
                <a:rect b="b" l="l" r="r" t="t"/>
                <a:pathLst>
                  <a:path extrusionOk="0" h="120000" w="120000">
                    <a:moveTo>
                      <a:pt x="0" y="0"/>
                    </a:moveTo>
                    <a:lnTo>
                      <a:pt x="120000" y="120000"/>
                    </a:lnTo>
                    <a:moveTo>
                      <a:pt x="120000" y="0"/>
                    </a:moveTo>
                    <a:lnTo>
                      <a:pt x="0" y="120000"/>
                    </a:lnTo>
                  </a:path>
                </a:pathLst>
              </a:custGeom>
              <a:solidFill>
                <a:srgbClr val="000000">
                  <a:alpha val="0"/>
                </a:srgbClr>
              </a:solidFill>
              <a:ln cap="rnd" cmpd="sng" w="19050">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94" name="Google Shape;494;p25"/>
            <p:cNvSpPr txBox="1"/>
            <p:nvPr/>
          </p:nvSpPr>
          <p:spPr>
            <a:xfrm>
              <a:off x="952500" y="0"/>
              <a:ext cx="28767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50">
                  <a:solidFill>
                    <a:srgbClr val="4B5563"/>
                  </a:solidFill>
                  <a:latin typeface="Inter Medium"/>
                  <a:ea typeface="Inter Medium"/>
                  <a:cs typeface="Inter Medium"/>
                  <a:sym typeface="Inter Medium"/>
                </a:rPr>
                <a:t>Mengontrol secara ketat</a:t>
              </a:r>
              <a:endParaRPr b="0" sz="1050">
                <a:solidFill>
                  <a:srgbClr val="4B5563"/>
                </a:solidFill>
                <a:latin typeface="Inter Medium"/>
                <a:ea typeface="Inter Medium"/>
                <a:cs typeface="Inter Medium"/>
                <a:sym typeface="Inter Medium"/>
              </a:endParaRPr>
            </a:p>
          </p:txBody>
        </p:sp>
        <p:sp>
          <p:nvSpPr>
            <p:cNvPr id="495" name="Google Shape;495;p25"/>
            <p:cNvSpPr/>
            <p:nvPr/>
          </p:nvSpPr>
          <p:spPr>
            <a:xfrm>
              <a:off x="4238625" y="228600"/>
              <a:ext cx="304800" cy="152400"/>
            </a:xfrm>
            <a:custGeom>
              <a:rect b="b" l="l" r="r" t="t"/>
              <a:pathLst>
                <a:path extrusionOk="0" h="120000" w="120000">
                  <a:moveTo>
                    <a:pt x="0" y="60000"/>
                  </a:moveTo>
                  <a:lnTo>
                    <a:pt x="120000" y="60000"/>
                  </a:lnTo>
                  <a:moveTo>
                    <a:pt x="90000" y="0"/>
                  </a:moveTo>
                  <a:lnTo>
                    <a:pt x="120000" y="60000"/>
                  </a:lnTo>
                  <a:lnTo>
                    <a:pt x="90000" y="120000"/>
                  </a:lnTo>
                </a:path>
              </a:pathLst>
            </a:custGeom>
            <a:solidFill>
              <a:srgbClr val="000000">
                <a:alpha val="0"/>
              </a:srgbClr>
            </a:solidFill>
            <a:ln cap="rnd" cmpd="sng" w="23825">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6" name="Google Shape;496;p25"/>
            <p:cNvSpPr/>
            <p:nvPr/>
          </p:nvSpPr>
          <p:spPr>
            <a:xfrm>
              <a:off x="4857750" y="0"/>
              <a:ext cx="3829200" cy="609600"/>
            </a:xfrm>
            <a:prstGeom prst="roundRect">
              <a:avLst>
                <a:gd fmla="val 12500" name="adj"/>
              </a:avLst>
            </a:prstGeom>
            <a:solidFill>
              <a:srgbClr val="ECFDF5"/>
            </a:solidFill>
            <a:ln cap="flat" cmpd="sng" w="114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97" name="Google Shape;497;p25"/>
            <p:cNvGrpSpPr/>
            <p:nvPr/>
          </p:nvGrpSpPr>
          <p:grpSpPr>
            <a:xfrm>
              <a:off x="5010150" y="190500"/>
              <a:ext cx="228600" cy="228600"/>
              <a:chOff x="0" y="0"/>
              <a:chExt cx="228600" cy="228600"/>
            </a:xfrm>
          </p:grpSpPr>
          <p:sp>
            <p:nvSpPr>
              <p:cNvPr id="498" name="Google Shape;498;p25"/>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9" name="Google Shape;499;p25"/>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209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00" name="Google Shape;500;p25"/>
            <p:cNvSpPr txBox="1"/>
            <p:nvPr/>
          </p:nvSpPr>
          <p:spPr>
            <a:xfrm>
              <a:off x="5353050" y="0"/>
              <a:ext cx="31812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064E3B"/>
                  </a:solidFill>
                  <a:latin typeface="Plus Jakarta Sans"/>
                  <a:ea typeface="Plus Jakarta Sans"/>
                  <a:cs typeface="Plus Jakarta Sans"/>
                  <a:sym typeface="Plus Jakarta Sans"/>
                </a:rPr>
                <a:t>Mendampingi proses belajar</a:t>
              </a:r>
              <a:endParaRPr b="1" sz="1050">
                <a:solidFill>
                  <a:srgbClr val="064E3B"/>
                </a:solidFill>
                <a:latin typeface="Plus Jakarta Sans"/>
                <a:ea typeface="Plus Jakarta Sans"/>
                <a:cs typeface="Plus Jakarta Sans"/>
                <a:sym typeface="Plus Jakarta Sans"/>
              </a:endParaRPr>
            </a:p>
          </p:txBody>
        </p:sp>
      </p:grpSp>
      <p:grpSp>
        <p:nvGrpSpPr>
          <p:cNvPr id="501" name="Google Shape;501;p25"/>
          <p:cNvGrpSpPr/>
          <p:nvPr/>
        </p:nvGrpSpPr>
        <p:grpSpPr>
          <a:xfrm>
            <a:off x="457200" y="3810000"/>
            <a:ext cx="8229750" cy="609600"/>
            <a:chOff x="457200" y="0"/>
            <a:chExt cx="8229750" cy="609600"/>
          </a:xfrm>
        </p:grpSpPr>
        <p:sp>
          <p:nvSpPr>
            <p:cNvPr id="502" name="Google Shape;502;p25"/>
            <p:cNvSpPr/>
            <p:nvPr/>
          </p:nvSpPr>
          <p:spPr>
            <a:xfrm>
              <a:off x="457200" y="0"/>
              <a:ext cx="3524400" cy="609600"/>
            </a:xfrm>
            <a:prstGeom prst="roundRect">
              <a:avLst>
                <a:gd fmla="val 12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03" name="Google Shape;503;p25"/>
            <p:cNvGrpSpPr/>
            <p:nvPr/>
          </p:nvGrpSpPr>
          <p:grpSpPr>
            <a:xfrm>
              <a:off x="609600" y="190500"/>
              <a:ext cx="228600" cy="228600"/>
              <a:chOff x="0" y="0"/>
              <a:chExt cx="228600" cy="228600"/>
            </a:xfrm>
          </p:grpSpPr>
          <p:sp>
            <p:nvSpPr>
              <p:cNvPr id="504" name="Google Shape;504;p25"/>
              <p:cNvSpPr/>
              <p:nvPr/>
            </p:nvSpPr>
            <p:spPr>
              <a:xfrm>
                <a:off x="0" y="0"/>
                <a:ext cx="228600" cy="228600"/>
              </a:xfrm>
              <a:prstGeom prst="ellipse">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5" name="Google Shape;505;p25"/>
              <p:cNvSpPr/>
              <p:nvPr/>
            </p:nvSpPr>
            <p:spPr>
              <a:xfrm>
                <a:off x="76200" y="76200"/>
                <a:ext cx="76200" cy="76200"/>
              </a:xfrm>
              <a:custGeom>
                <a:rect b="b" l="l" r="r" t="t"/>
                <a:pathLst>
                  <a:path extrusionOk="0" h="120000" w="120000">
                    <a:moveTo>
                      <a:pt x="0" y="0"/>
                    </a:moveTo>
                    <a:lnTo>
                      <a:pt x="120000" y="120000"/>
                    </a:lnTo>
                    <a:moveTo>
                      <a:pt x="120000" y="0"/>
                    </a:moveTo>
                    <a:lnTo>
                      <a:pt x="0" y="120000"/>
                    </a:lnTo>
                  </a:path>
                </a:pathLst>
              </a:custGeom>
              <a:solidFill>
                <a:srgbClr val="000000">
                  <a:alpha val="0"/>
                </a:srgbClr>
              </a:solidFill>
              <a:ln cap="rnd" cmpd="sng" w="19050">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06" name="Google Shape;506;p25"/>
            <p:cNvSpPr txBox="1"/>
            <p:nvPr/>
          </p:nvSpPr>
          <p:spPr>
            <a:xfrm>
              <a:off x="952500" y="0"/>
              <a:ext cx="28767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50">
                  <a:solidFill>
                    <a:srgbClr val="4B5563"/>
                  </a:solidFill>
                  <a:latin typeface="Inter Medium"/>
                  <a:ea typeface="Inter Medium"/>
                  <a:cs typeface="Inter Medium"/>
                  <a:sym typeface="Inter Medium"/>
                </a:rPr>
                <a:t>Fokus Menilai Kesalahan</a:t>
              </a:r>
              <a:endParaRPr b="0" sz="1050">
                <a:solidFill>
                  <a:srgbClr val="4B5563"/>
                </a:solidFill>
                <a:latin typeface="Inter Medium"/>
                <a:ea typeface="Inter Medium"/>
                <a:cs typeface="Inter Medium"/>
                <a:sym typeface="Inter Medium"/>
              </a:endParaRPr>
            </a:p>
          </p:txBody>
        </p:sp>
        <p:sp>
          <p:nvSpPr>
            <p:cNvPr id="507" name="Google Shape;507;p25"/>
            <p:cNvSpPr/>
            <p:nvPr/>
          </p:nvSpPr>
          <p:spPr>
            <a:xfrm>
              <a:off x="4238625" y="228600"/>
              <a:ext cx="304800" cy="152400"/>
            </a:xfrm>
            <a:custGeom>
              <a:rect b="b" l="l" r="r" t="t"/>
              <a:pathLst>
                <a:path extrusionOk="0" h="120000" w="120000">
                  <a:moveTo>
                    <a:pt x="0" y="60000"/>
                  </a:moveTo>
                  <a:lnTo>
                    <a:pt x="120000" y="60000"/>
                  </a:lnTo>
                  <a:moveTo>
                    <a:pt x="90000" y="0"/>
                  </a:moveTo>
                  <a:lnTo>
                    <a:pt x="120000" y="60000"/>
                  </a:lnTo>
                  <a:lnTo>
                    <a:pt x="90000" y="120000"/>
                  </a:lnTo>
                </a:path>
              </a:pathLst>
            </a:custGeom>
            <a:solidFill>
              <a:srgbClr val="000000">
                <a:alpha val="0"/>
              </a:srgbClr>
            </a:solidFill>
            <a:ln cap="rnd" cmpd="sng" w="23825">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8" name="Google Shape;508;p25"/>
            <p:cNvSpPr/>
            <p:nvPr/>
          </p:nvSpPr>
          <p:spPr>
            <a:xfrm>
              <a:off x="4857750" y="0"/>
              <a:ext cx="3829200" cy="609600"/>
            </a:xfrm>
            <a:prstGeom prst="roundRect">
              <a:avLst>
                <a:gd fmla="val 12500" name="adj"/>
              </a:avLst>
            </a:prstGeom>
            <a:solidFill>
              <a:srgbClr val="ECFDF5"/>
            </a:solidFill>
            <a:ln cap="flat" cmpd="sng" w="114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09" name="Google Shape;509;p25"/>
            <p:cNvGrpSpPr/>
            <p:nvPr/>
          </p:nvGrpSpPr>
          <p:grpSpPr>
            <a:xfrm>
              <a:off x="5010150" y="190500"/>
              <a:ext cx="228600" cy="228600"/>
              <a:chOff x="0" y="0"/>
              <a:chExt cx="228600" cy="228600"/>
            </a:xfrm>
          </p:grpSpPr>
          <p:sp>
            <p:nvSpPr>
              <p:cNvPr id="510" name="Google Shape;510;p25"/>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1" name="Google Shape;511;p25"/>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209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12" name="Google Shape;512;p25"/>
            <p:cNvSpPr txBox="1"/>
            <p:nvPr/>
          </p:nvSpPr>
          <p:spPr>
            <a:xfrm>
              <a:off x="5353050" y="0"/>
              <a:ext cx="31812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064E3B"/>
                  </a:solidFill>
                  <a:latin typeface="Plus Jakarta Sans"/>
                  <a:ea typeface="Plus Jakarta Sans"/>
                  <a:cs typeface="Plus Jakarta Sans"/>
                  <a:sym typeface="Plus Jakarta Sans"/>
                </a:rPr>
                <a:t>Mengembangkan Potensi kebaikan santri</a:t>
              </a:r>
              <a:endParaRPr b="1" sz="1050">
                <a:solidFill>
                  <a:srgbClr val="064E3B"/>
                </a:solidFill>
                <a:latin typeface="Plus Jakarta Sans"/>
                <a:ea typeface="Plus Jakarta Sans"/>
                <a:cs typeface="Plus Jakarta Sans"/>
                <a:sym typeface="Plus Jakarta San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pic>
        <p:nvPicPr>
          <p:cNvPr id="517" name="Google Shape;517;p26" title="ChatGPT Image Jul 9, 2026, 10_29_50 AM.png"/>
          <p:cNvPicPr preferRelativeResize="0"/>
          <p:nvPr/>
        </p:nvPicPr>
        <p:blipFill>
          <a:blip r:embed="rId3">
            <a:alphaModFix/>
          </a:blip>
          <a:stretch>
            <a:fillRect/>
          </a:stretch>
        </p:blipFill>
        <p:spPr>
          <a:xfrm>
            <a:off x="1648700" y="152400"/>
            <a:ext cx="5694224" cy="483869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27"/>
          <p:cNvSpPr txBox="1"/>
          <p:nvPr/>
        </p:nvSpPr>
        <p:spPr>
          <a:xfrm>
            <a:off x="1399300" y="858975"/>
            <a:ext cx="77724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Staf kurikulum:</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Menyusun dan mengelola jadwal kbm pondok</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Megnelola administrasi pembelajaran pondok</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Mengelola absensi pegnajar dan santri</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Menyiapkan pelaksaan ujian dan evaluasi</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Megnumpulkan dan merekap nilai/hasil asesmen</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Menerapkan perangkat pembelajaran dan laporan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Membantu wakamad kurikulum dalam monitoring kbm</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28"/>
          <p:cNvSpPr txBox="1"/>
          <p:nvPr/>
        </p:nvSpPr>
        <p:spPr>
          <a:xfrm>
            <a:off x="860025" y="942100"/>
            <a:ext cx="75783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Wakamad kesiswaan:</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Menyusun program pembinaan santri</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Mengawasi kedisiplinan dan tata tertib</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Membina OSIS dan klub santri</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Menangani pelanggaran berat</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Koordinasi dengan wali kelasterkait akademik, absensi santri dan perkembangan belajar</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Koordinasi dengan wali kamarterkait ibadah, kedisiplinan dan kehidupan di asrama</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Koordinasi dengan wali santri terkait dukungan pembinaan di rumah dan komunikasi perkembangan santri</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Membuat laporan perkembangan santri</a:t>
            </a:r>
            <a:endParaRPr sz="18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29"/>
          <p:cNvSpPr txBox="1"/>
          <p:nvPr/>
        </p:nvSpPr>
        <p:spPr>
          <a:xfrm>
            <a:off x="775800" y="748150"/>
            <a:ext cx="75924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Staf kesiswaan bidang OSIS:</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Memberikan pendampingan intensif untuk pengurus OSIS</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Mengawasi jalannya seluruh program kerja OSIS</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Asisten dalam menyusun jadwal rencana kegiatan</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Melakukan pembinaan pad aspek administrasi</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Mendukung terlaksananya forum rapat dan evaluasi</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Mempersiapkan regenerasi pengurus untuk periode selanjutnya</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Bertindak sebagai komunikaitr antara OSIS dengan wakamad kesiswaan</a:t>
            </a:r>
            <a:endParaRPr sz="1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30"/>
          <p:cNvSpPr txBox="1"/>
          <p:nvPr/>
        </p:nvSpPr>
        <p:spPr>
          <a:xfrm>
            <a:off x="748200" y="734300"/>
            <a:ext cx="76476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Staf kesiswaan bidang pengasuhan / musyrif/ah:</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Membentuk karakter serta tradisi luhur pesantren</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Mengontrol keasrian serta kebersihan hunian santri</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Mengurus prosedur perizinan keluar masuk bagi santri</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Membimbing pelaksanaan ibadah wajib dan sunnah harian</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Memberikan solusi atas problematika harian yang dihadapi santri</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Mengawasi transisi dan masa orientasi santri baru</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Melaporkan secara berkala mengenai perkembangan pola asuh</a:t>
            </a:r>
            <a:endParaRPr sz="18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31"/>
          <p:cNvSpPr txBox="1"/>
          <p:nvPr/>
        </p:nvSpPr>
        <p:spPr>
          <a:xfrm>
            <a:off x="581850" y="332525"/>
            <a:ext cx="79803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Staf kesiswaan bidang BK dan Kedisiplinan:</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Bertanggung jawab atas pengelolaan tata tertib santri</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Mencatat rekam jejak poin pelanggaran maupun prestasi</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Menerapkan langkah-langkah edukatif untuk kedisiplinan /disiplin positif</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Menyelenggarakan layanan konseling tahapawal bagi santri</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Menindaklanjuti setiap bentuk indikasi tindakan indisipliner</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Menangani resolusi konflik antar individu/santri secara adil</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Mengirimkan laporan penanganankasus ke wakamad kesiswaan</a:t>
            </a:r>
            <a:endParaRPr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32"/>
          <p:cNvSpPr txBox="1"/>
          <p:nvPr/>
        </p:nvSpPr>
        <p:spPr>
          <a:xfrm>
            <a:off x="983700" y="942100"/>
            <a:ext cx="71766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Staf kesiswaan bidang klub santri/ pembina klub:</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Mengorganisir pendaftaran dan operasional klub santri</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Menetapkan timeline jadwal pertemuan rutin mingguan</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Memverifikasi tingkat kehadiran dan partisipasi santri</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Mengkonsep ajang kompetisi serta pameran hasil karya</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Menjalin koordinasi intens dengan para pembina klub</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Menginisiasi pembentukan komunitas hobi baru sesuai aspirasi</a:t>
            </a:r>
            <a:endParaRPr sz="18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33"/>
          <p:cNvSpPr txBox="1"/>
          <p:nvPr/>
        </p:nvSpPr>
        <p:spPr>
          <a:xfrm>
            <a:off x="845100" y="417800"/>
            <a:ext cx="7453800" cy="461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Staf sarana dan prasarana:</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Inventarisasi</a:t>
            </a:r>
            <a:endParaRPr sz="1800">
              <a:solidFill>
                <a:schemeClr val="dk2"/>
              </a:solidFill>
            </a:endParaRPr>
          </a:p>
          <a:p>
            <a:pPr indent="-342900" lvl="1" marL="1371600" rtl="0" algn="l">
              <a:spcBef>
                <a:spcPts val="0"/>
              </a:spcBef>
              <a:spcAft>
                <a:spcPts val="0"/>
              </a:spcAft>
              <a:buClr>
                <a:schemeClr val="dk2"/>
              </a:buClr>
              <a:buSzPts val="1800"/>
              <a:buAutoNum type="alphaLcPeriod"/>
            </a:pPr>
            <a:r>
              <a:rPr lang="en" sz="1800">
                <a:solidFill>
                  <a:schemeClr val="dk2"/>
                </a:solidFill>
              </a:rPr>
              <a:t>Mengelola seluruh sarana</a:t>
            </a:r>
            <a:endParaRPr sz="1800">
              <a:solidFill>
                <a:schemeClr val="dk2"/>
              </a:solidFill>
            </a:endParaRPr>
          </a:p>
          <a:p>
            <a:pPr indent="-342900" lvl="1" marL="1371600" rtl="0" algn="l">
              <a:spcBef>
                <a:spcPts val="0"/>
              </a:spcBef>
              <a:spcAft>
                <a:spcPts val="0"/>
              </a:spcAft>
              <a:buClr>
                <a:schemeClr val="dk2"/>
              </a:buClr>
              <a:buSzPts val="1800"/>
              <a:buAutoNum type="alphaLcPeriod"/>
            </a:pPr>
            <a:r>
              <a:rPr lang="en" sz="1800">
                <a:solidFill>
                  <a:schemeClr val="dk2"/>
                </a:solidFill>
              </a:rPr>
              <a:t>Memberi kode inventaris barang</a:t>
            </a:r>
            <a:endParaRPr sz="1800">
              <a:solidFill>
                <a:schemeClr val="dk2"/>
              </a:solidFill>
            </a:endParaRPr>
          </a:p>
          <a:p>
            <a:pPr indent="-342900" lvl="1" marL="1371600" rtl="0" algn="l">
              <a:spcBef>
                <a:spcPts val="0"/>
              </a:spcBef>
              <a:spcAft>
                <a:spcPts val="0"/>
              </a:spcAft>
              <a:buClr>
                <a:schemeClr val="dk2"/>
              </a:buClr>
              <a:buSzPts val="1800"/>
              <a:buAutoNum type="alphaLcPeriod"/>
            </a:pPr>
            <a:r>
              <a:rPr lang="en" sz="1800">
                <a:solidFill>
                  <a:schemeClr val="dk2"/>
                </a:solidFill>
              </a:rPr>
              <a:t>Memperbarui data inventaris secara berkala</a:t>
            </a:r>
            <a:endParaRPr sz="1800">
              <a:solidFill>
                <a:schemeClr val="dk2"/>
              </a:solidFill>
            </a:endParaRPr>
          </a:p>
          <a:p>
            <a:pPr indent="-342900" lvl="1" marL="1371600" rtl="0" algn="l">
              <a:spcBef>
                <a:spcPts val="0"/>
              </a:spcBef>
              <a:spcAft>
                <a:spcPts val="0"/>
              </a:spcAft>
              <a:buClr>
                <a:schemeClr val="dk2"/>
              </a:buClr>
              <a:buSzPts val="1800"/>
              <a:buAutoNum type="alphaLcPeriod"/>
            </a:pPr>
            <a:r>
              <a:rPr lang="en" sz="1800">
                <a:solidFill>
                  <a:schemeClr val="dk2"/>
                </a:solidFill>
              </a:rPr>
              <a:t>Membuat laporan inventaris</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Pemeliharaan</a:t>
            </a:r>
            <a:endParaRPr sz="1800">
              <a:solidFill>
                <a:schemeClr val="dk2"/>
              </a:solidFill>
            </a:endParaRPr>
          </a:p>
          <a:p>
            <a:pPr indent="-342900" lvl="1" marL="1371600" rtl="0" algn="l">
              <a:spcBef>
                <a:spcPts val="0"/>
              </a:spcBef>
              <a:spcAft>
                <a:spcPts val="0"/>
              </a:spcAft>
              <a:buClr>
                <a:schemeClr val="dk2"/>
              </a:buClr>
              <a:buSzPts val="1800"/>
              <a:buAutoNum type="alphaLcPeriod"/>
            </a:pPr>
            <a:r>
              <a:rPr lang="en" sz="1800">
                <a:solidFill>
                  <a:schemeClr val="dk2"/>
                </a:solidFill>
              </a:rPr>
              <a:t>Memantau kondisi gedung, kelas, asrama dan fasilitas</a:t>
            </a:r>
            <a:endParaRPr sz="1800">
              <a:solidFill>
                <a:schemeClr val="dk2"/>
              </a:solidFill>
            </a:endParaRPr>
          </a:p>
          <a:p>
            <a:pPr indent="-342900" lvl="1" marL="1371600" rtl="0" algn="l">
              <a:spcBef>
                <a:spcPts val="0"/>
              </a:spcBef>
              <a:spcAft>
                <a:spcPts val="0"/>
              </a:spcAft>
              <a:buClr>
                <a:schemeClr val="dk2"/>
              </a:buClr>
              <a:buSzPts val="1800"/>
              <a:buAutoNum type="alphaLcPeriod"/>
            </a:pPr>
            <a:r>
              <a:rPr lang="en" sz="1800">
                <a:solidFill>
                  <a:schemeClr val="dk2"/>
                </a:solidFill>
              </a:rPr>
              <a:t>Melaporkan keruskan kepada wakamad sarpras</a:t>
            </a:r>
            <a:endParaRPr sz="1800">
              <a:solidFill>
                <a:schemeClr val="dk2"/>
              </a:solidFill>
            </a:endParaRPr>
          </a:p>
          <a:p>
            <a:pPr indent="-342900" lvl="1" marL="1371600" rtl="0" algn="l">
              <a:spcBef>
                <a:spcPts val="0"/>
              </a:spcBef>
              <a:spcAft>
                <a:spcPts val="0"/>
              </a:spcAft>
              <a:buClr>
                <a:schemeClr val="dk2"/>
              </a:buClr>
              <a:buSzPts val="1800"/>
              <a:buAutoNum type="alphaLcPeriod"/>
            </a:pPr>
            <a:r>
              <a:rPr lang="en" sz="1800">
                <a:solidFill>
                  <a:schemeClr val="dk2"/>
                </a:solidFill>
              </a:rPr>
              <a:t>Mengoordinasikan perbaikan ringan</a:t>
            </a:r>
            <a:endParaRPr sz="1800">
              <a:solidFill>
                <a:schemeClr val="dk2"/>
              </a:solidFill>
            </a:endParaRPr>
          </a:p>
          <a:p>
            <a:pPr indent="-342900" lvl="1" marL="1371600" rtl="0" algn="l">
              <a:spcBef>
                <a:spcPts val="0"/>
              </a:spcBef>
              <a:spcAft>
                <a:spcPts val="0"/>
              </a:spcAft>
              <a:buClr>
                <a:schemeClr val="dk2"/>
              </a:buClr>
              <a:buSzPts val="1800"/>
              <a:buAutoNum type="alphaLcPeriod"/>
            </a:pPr>
            <a:r>
              <a:rPr lang="en" sz="1800">
                <a:solidFill>
                  <a:schemeClr val="dk2"/>
                </a:solidFill>
              </a:rPr>
              <a:t>Memastikan fasilitas siap digunakan</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Perlengkapan kegiatan</a:t>
            </a:r>
            <a:endParaRPr sz="1800">
              <a:solidFill>
                <a:schemeClr val="dk2"/>
              </a:solidFill>
            </a:endParaRPr>
          </a:p>
          <a:p>
            <a:pPr indent="-342900" lvl="1" marL="1371600" rtl="0" algn="l">
              <a:spcBef>
                <a:spcPts val="0"/>
              </a:spcBef>
              <a:spcAft>
                <a:spcPts val="0"/>
              </a:spcAft>
              <a:buClr>
                <a:schemeClr val="dk2"/>
              </a:buClr>
              <a:buSzPts val="1800"/>
              <a:buAutoNum type="alphaLcPeriod"/>
            </a:pPr>
            <a:r>
              <a:rPr lang="en" sz="1800">
                <a:solidFill>
                  <a:schemeClr val="dk2"/>
                </a:solidFill>
              </a:rPr>
              <a:t>Menyiapkan perlengkapan kegiatan pesantren dan madrasah</a:t>
            </a:r>
            <a:endParaRPr sz="1800">
              <a:solidFill>
                <a:schemeClr val="dk2"/>
              </a:solidFill>
            </a:endParaRPr>
          </a:p>
          <a:p>
            <a:pPr indent="-342900" lvl="1" marL="1371600" rtl="0" algn="l">
              <a:spcBef>
                <a:spcPts val="0"/>
              </a:spcBef>
              <a:spcAft>
                <a:spcPts val="0"/>
              </a:spcAft>
              <a:buClr>
                <a:schemeClr val="dk2"/>
              </a:buClr>
              <a:buSzPts val="1800"/>
              <a:buAutoNum type="alphaLcPeriod"/>
            </a:pPr>
            <a:r>
              <a:rPr lang="en" sz="1800">
                <a:solidFill>
                  <a:schemeClr val="dk2"/>
                </a:solidFill>
              </a:rPr>
              <a:t>Mengatur peminjaman dan pengembalian barang</a:t>
            </a:r>
            <a:endParaRPr sz="1800">
              <a:solidFill>
                <a:schemeClr val="dk2"/>
              </a:solidFill>
            </a:endParaRPr>
          </a:p>
          <a:p>
            <a:pPr indent="-342900" lvl="1" marL="1371600" rtl="0" algn="l">
              <a:spcBef>
                <a:spcPts val="0"/>
              </a:spcBef>
              <a:spcAft>
                <a:spcPts val="0"/>
              </a:spcAft>
              <a:buClr>
                <a:schemeClr val="dk2"/>
              </a:buClr>
              <a:buSzPts val="1800"/>
              <a:buAutoNum type="alphaLcPeriod"/>
            </a:pPr>
            <a:r>
              <a:rPr lang="en" sz="1800">
                <a:solidFill>
                  <a:schemeClr val="dk2"/>
                </a:solidFill>
              </a:rPr>
              <a:t>Memastikan barang kembali dalam kondisi baik</a:t>
            </a:r>
            <a:endParaRPr sz="18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34"/>
          <p:cNvSpPr txBox="1"/>
          <p:nvPr/>
        </p:nvSpPr>
        <p:spPr>
          <a:xfrm>
            <a:off x="1149900" y="692725"/>
            <a:ext cx="68442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4. </a:t>
            </a:r>
            <a:r>
              <a:rPr lang="en" sz="1800">
                <a:solidFill>
                  <a:schemeClr val="dk2"/>
                </a:solidFill>
              </a:rPr>
              <a:t>Kebersihan dan keindahan lingkungan</a:t>
            </a:r>
            <a:endParaRPr sz="1800">
              <a:solidFill>
                <a:schemeClr val="dk2"/>
              </a:solidFill>
            </a:endParaRPr>
          </a:p>
          <a:p>
            <a:pPr indent="-342900" lvl="1" marL="1371600" rtl="0" algn="l">
              <a:spcBef>
                <a:spcPts val="0"/>
              </a:spcBef>
              <a:spcAft>
                <a:spcPts val="0"/>
              </a:spcAft>
              <a:buClr>
                <a:schemeClr val="dk2"/>
              </a:buClr>
              <a:buSzPts val="1800"/>
              <a:buAutoNum type="alphaLcPeriod"/>
            </a:pPr>
            <a:r>
              <a:rPr lang="en" sz="1800">
                <a:solidFill>
                  <a:schemeClr val="dk2"/>
                </a:solidFill>
              </a:rPr>
              <a:t>Memantau kebersihan area pesantren</a:t>
            </a:r>
            <a:endParaRPr sz="1800">
              <a:solidFill>
                <a:schemeClr val="dk2"/>
              </a:solidFill>
            </a:endParaRPr>
          </a:p>
          <a:p>
            <a:pPr indent="-342900" lvl="1" marL="1371600" rtl="0" algn="l">
              <a:spcBef>
                <a:spcPts val="0"/>
              </a:spcBef>
              <a:spcAft>
                <a:spcPts val="0"/>
              </a:spcAft>
              <a:buClr>
                <a:schemeClr val="dk2"/>
              </a:buClr>
              <a:buSzPts val="1800"/>
              <a:buAutoNum type="alphaLcPeriod"/>
            </a:pPr>
            <a:r>
              <a:rPr lang="en" sz="1800">
                <a:solidFill>
                  <a:schemeClr val="dk2"/>
                </a:solidFill>
              </a:rPr>
              <a:t>Mengoordinasikan jadwal kebersihan</a:t>
            </a:r>
            <a:endParaRPr sz="1800">
              <a:solidFill>
                <a:schemeClr val="dk2"/>
              </a:solidFill>
            </a:endParaRPr>
          </a:p>
          <a:p>
            <a:pPr indent="-342900" lvl="1" marL="1371600" rtl="0" algn="l">
              <a:spcBef>
                <a:spcPts val="0"/>
              </a:spcBef>
              <a:spcAft>
                <a:spcPts val="0"/>
              </a:spcAft>
              <a:buClr>
                <a:schemeClr val="dk2"/>
              </a:buClr>
              <a:buSzPts val="1800"/>
              <a:buAutoNum type="alphaLcPeriod"/>
            </a:pPr>
            <a:r>
              <a:rPr lang="en" sz="1800">
                <a:solidFill>
                  <a:schemeClr val="dk2"/>
                </a:solidFill>
              </a:rPr>
              <a:t>Memastikan lingkungan tetap rapi dan nyaman</a:t>
            </a:r>
            <a:endParaRPr sz="1800">
              <a:solidFill>
                <a:schemeClr val="dk2"/>
              </a:solidFill>
            </a:endParaRPr>
          </a:p>
          <a:p>
            <a:pPr indent="0" lvl="0" marL="0" rtl="0" algn="l">
              <a:spcBef>
                <a:spcPts val="0"/>
              </a:spcBef>
              <a:spcAft>
                <a:spcPts val="0"/>
              </a:spcAft>
              <a:buNone/>
            </a:pPr>
            <a:r>
              <a:rPr lang="en" sz="1800">
                <a:solidFill>
                  <a:schemeClr val="dk2"/>
                </a:solidFill>
              </a:rPr>
              <a:t>5. Pengadaan</a:t>
            </a:r>
            <a:endParaRPr sz="1800">
              <a:solidFill>
                <a:schemeClr val="dk2"/>
              </a:solidFill>
            </a:endParaRPr>
          </a:p>
          <a:p>
            <a:pPr indent="-342900" lvl="1" marL="1371600" rtl="0" algn="l">
              <a:spcBef>
                <a:spcPts val="0"/>
              </a:spcBef>
              <a:spcAft>
                <a:spcPts val="0"/>
              </a:spcAft>
              <a:buClr>
                <a:schemeClr val="dk2"/>
              </a:buClr>
              <a:buSzPts val="1800"/>
              <a:buAutoNum type="alphaLcPeriod"/>
            </a:pPr>
            <a:r>
              <a:rPr lang="en" sz="1800">
                <a:solidFill>
                  <a:schemeClr val="dk2"/>
                </a:solidFill>
              </a:rPr>
              <a:t>Membantu pendataan kebutuhan barang</a:t>
            </a:r>
            <a:endParaRPr sz="1800">
              <a:solidFill>
                <a:schemeClr val="dk2"/>
              </a:solidFill>
            </a:endParaRPr>
          </a:p>
          <a:p>
            <a:pPr indent="-342900" lvl="1" marL="1371600" rtl="0" algn="l">
              <a:spcBef>
                <a:spcPts val="0"/>
              </a:spcBef>
              <a:spcAft>
                <a:spcPts val="0"/>
              </a:spcAft>
              <a:buClr>
                <a:schemeClr val="dk2"/>
              </a:buClr>
              <a:buSzPts val="1800"/>
              <a:buAutoNum type="alphaLcPeriod"/>
            </a:pPr>
            <a:r>
              <a:rPr lang="en" sz="1800">
                <a:solidFill>
                  <a:schemeClr val="dk2"/>
                </a:solidFill>
              </a:rPr>
              <a:t>Membuat daftar usulan pengadaan</a:t>
            </a:r>
            <a:endParaRPr sz="1800">
              <a:solidFill>
                <a:schemeClr val="dk2"/>
              </a:solidFill>
            </a:endParaRPr>
          </a:p>
          <a:p>
            <a:pPr indent="-342900" lvl="1" marL="1371600" rtl="0" algn="l">
              <a:spcBef>
                <a:spcPts val="0"/>
              </a:spcBef>
              <a:spcAft>
                <a:spcPts val="0"/>
              </a:spcAft>
              <a:buClr>
                <a:schemeClr val="dk2"/>
              </a:buClr>
              <a:buSzPts val="1800"/>
              <a:buAutoNum type="alphaLcPeriod"/>
            </a:pPr>
            <a:r>
              <a:rPr lang="en" sz="1800">
                <a:solidFill>
                  <a:schemeClr val="dk2"/>
                </a:solidFill>
              </a:rPr>
              <a:t>Memantau penggunaan barang agar efisien</a:t>
            </a:r>
            <a:endParaRPr sz="1800">
              <a:solidFill>
                <a:schemeClr val="dk2"/>
              </a:solidFill>
            </a:endParaRPr>
          </a:p>
          <a:p>
            <a:pPr indent="0" lvl="0" marL="0" rtl="0" algn="l">
              <a:spcBef>
                <a:spcPts val="0"/>
              </a:spcBef>
              <a:spcAft>
                <a:spcPts val="0"/>
              </a:spcAft>
              <a:buNone/>
            </a:pPr>
            <a:r>
              <a:rPr lang="en" sz="1800">
                <a:solidFill>
                  <a:schemeClr val="dk2"/>
                </a:solidFill>
              </a:rPr>
              <a:t>6. Dokumentasi </a:t>
            </a:r>
            <a:endParaRPr sz="1800">
              <a:solidFill>
                <a:schemeClr val="dk2"/>
              </a:solidFill>
            </a:endParaRPr>
          </a:p>
          <a:p>
            <a:pPr indent="-342900" lvl="1" marL="1371600" rtl="0" algn="l">
              <a:spcBef>
                <a:spcPts val="0"/>
              </a:spcBef>
              <a:spcAft>
                <a:spcPts val="0"/>
              </a:spcAft>
              <a:buClr>
                <a:schemeClr val="dk2"/>
              </a:buClr>
              <a:buSzPts val="1800"/>
              <a:buAutoNum type="alphaLcPeriod"/>
            </a:pPr>
            <a:r>
              <a:rPr lang="en" sz="1800">
                <a:solidFill>
                  <a:schemeClr val="dk2"/>
                </a:solidFill>
              </a:rPr>
              <a:t>Menyimpan data aset, perawatan dan pengadaan</a:t>
            </a:r>
            <a:endParaRPr sz="1800">
              <a:solidFill>
                <a:schemeClr val="dk2"/>
              </a:solidFill>
            </a:endParaRPr>
          </a:p>
          <a:p>
            <a:pPr indent="-342900" lvl="1" marL="1371600" rtl="0" algn="l">
              <a:spcBef>
                <a:spcPts val="0"/>
              </a:spcBef>
              <a:spcAft>
                <a:spcPts val="0"/>
              </a:spcAft>
              <a:buClr>
                <a:schemeClr val="dk2"/>
              </a:buClr>
              <a:buSzPts val="1800"/>
              <a:buAutoNum type="alphaLcPeriod"/>
            </a:pPr>
            <a:r>
              <a:rPr lang="en" sz="1800">
                <a:solidFill>
                  <a:schemeClr val="dk2"/>
                </a:solidFill>
              </a:rPr>
              <a:t>Membuat laporan berkala kepada wakamad sarpras</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35"/>
          <p:cNvSpPr/>
          <p:nvPr/>
        </p:nvSpPr>
        <p:spPr>
          <a:xfrm>
            <a:off x="0" y="0"/>
            <a:ext cx="9144000" cy="51435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63" name="Google Shape;563;p35"/>
          <p:cNvGrpSpPr/>
          <p:nvPr/>
        </p:nvGrpSpPr>
        <p:grpSpPr>
          <a:xfrm>
            <a:off x="8458200" y="457200"/>
            <a:ext cx="228600" cy="228600"/>
            <a:chOff x="0" y="0"/>
            <a:chExt cx="228600" cy="228600"/>
          </a:xfrm>
        </p:grpSpPr>
        <p:sp>
          <p:nvSpPr>
            <p:cNvPr id="564" name="Google Shape;564;p35"/>
            <p:cNvSpPr/>
            <p:nvPr/>
          </p:nvSpPr>
          <p:spPr>
            <a:xfrm>
              <a:off x="0" y="0"/>
              <a:ext cx="228600" cy="2286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5" name="Google Shape;565;p35"/>
            <p:cNvSpPr/>
            <p:nvPr/>
          </p:nvSpPr>
          <p:spPr>
            <a:xfrm>
              <a:off x="38100" y="38100"/>
              <a:ext cx="152400" cy="1524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6" name="Google Shape;566;p35"/>
            <p:cNvSpPr/>
            <p:nvPr/>
          </p:nvSpPr>
          <p:spPr>
            <a:xfrm>
              <a:off x="85725" y="85725"/>
              <a:ext cx="57300" cy="573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67" name="Google Shape;567;p35"/>
          <p:cNvSpPr/>
          <p:nvPr/>
        </p:nvSpPr>
        <p:spPr>
          <a:xfrm>
            <a:off x="457200" y="4762500"/>
            <a:ext cx="82296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8" name="Google Shape;568;p35"/>
          <p:cNvSpPr txBox="1"/>
          <p:nvPr/>
        </p:nvSpPr>
        <p:spPr>
          <a:xfrm>
            <a:off x="457200" y="419100"/>
            <a:ext cx="7620000" cy="4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50">
                <a:solidFill>
                  <a:srgbClr val="111827"/>
                </a:solidFill>
                <a:latin typeface="Plus Jakarta Sans"/>
                <a:ea typeface="Plus Jakarta Sans"/>
                <a:cs typeface="Plus Jakarta Sans"/>
                <a:sym typeface="Plus Jakarta Sans"/>
              </a:rPr>
              <a:t>Alur Pembinaan Berkesinambungan</a:t>
            </a:r>
            <a:endParaRPr b="1" sz="2250">
              <a:solidFill>
                <a:srgbClr val="111827"/>
              </a:solidFill>
              <a:latin typeface="Plus Jakarta Sans"/>
              <a:ea typeface="Plus Jakarta Sans"/>
              <a:cs typeface="Plus Jakarta Sans"/>
              <a:sym typeface="Plus Jakarta Sans"/>
            </a:endParaRPr>
          </a:p>
        </p:txBody>
      </p:sp>
      <p:sp>
        <p:nvSpPr>
          <p:cNvPr id="569" name="Google Shape;569;p35"/>
          <p:cNvSpPr txBox="1"/>
          <p:nvPr/>
        </p:nvSpPr>
        <p:spPr>
          <a:xfrm>
            <a:off x="457200" y="819150"/>
            <a:ext cx="7620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4B5563"/>
                </a:solidFill>
                <a:latin typeface="Inter"/>
                <a:ea typeface="Inter"/>
                <a:cs typeface="Inter"/>
                <a:sym typeface="Inter"/>
              </a:rPr>
              <a:t>Proses pembinaan santri tidak dilakukan secara acak, melainkan mengikuti siklus terstruktur yang berkesinambungan:</a:t>
            </a:r>
            <a:endParaRPr b="0" sz="1050">
              <a:solidFill>
                <a:srgbClr val="4B5563"/>
              </a:solidFill>
              <a:latin typeface="Inter"/>
              <a:ea typeface="Inter"/>
              <a:cs typeface="Inter"/>
              <a:sym typeface="Inter"/>
            </a:endParaRPr>
          </a:p>
        </p:txBody>
      </p:sp>
      <p:pic>
        <p:nvPicPr>
          <p:cNvPr id="570" name="Google Shape;570;p35"/>
          <p:cNvPicPr preferRelativeResize="0"/>
          <p:nvPr/>
        </p:nvPicPr>
        <p:blipFill rotWithShape="1">
          <a:blip r:embed="rId3">
            <a:alphaModFix/>
          </a:blip>
          <a:srcRect b="0" l="0" r="0" t="0"/>
          <a:stretch/>
        </p:blipFill>
        <p:spPr>
          <a:xfrm>
            <a:off x="2257425" y="1943100"/>
            <a:ext cx="314400" cy="114300"/>
          </a:xfrm>
          <a:prstGeom prst="rect">
            <a:avLst/>
          </a:prstGeom>
          <a:noFill/>
          <a:ln>
            <a:noFill/>
          </a:ln>
        </p:spPr>
      </p:pic>
      <p:pic>
        <p:nvPicPr>
          <p:cNvPr id="571" name="Google Shape;571;p35"/>
          <p:cNvPicPr preferRelativeResize="0"/>
          <p:nvPr/>
        </p:nvPicPr>
        <p:blipFill rotWithShape="1">
          <a:blip r:embed="rId3">
            <a:alphaModFix/>
          </a:blip>
          <a:srcRect b="0" l="0" r="0" t="0"/>
          <a:stretch/>
        </p:blipFill>
        <p:spPr>
          <a:xfrm>
            <a:off x="4410075" y="1943100"/>
            <a:ext cx="314400" cy="114300"/>
          </a:xfrm>
          <a:prstGeom prst="rect">
            <a:avLst/>
          </a:prstGeom>
          <a:noFill/>
          <a:ln>
            <a:noFill/>
          </a:ln>
        </p:spPr>
      </p:pic>
      <p:pic>
        <p:nvPicPr>
          <p:cNvPr id="572" name="Google Shape;572;p35"/>
          <p:cNvPicPr preferRelativeResize="0"/>
          <p:nvPr/>
        </p:nvPicPr>
        <p:blipFill rotWithShape="1">
          <a:blip r:embed="rId3">
            <a:alphaModFix/>
          </a:blip>
          <a:srcRect b="0" l="0" r="0" t="0"/>
          <a:stretch/>
        </p:blipFill>
        <p:spPr>
          <a:xfrm>
            <a:off x="6562725" y="1943100"/>
            <a:ext cx="314400" cy="114300"/>
          </a:xfrm>
          <a:prstGeom prst="rect">
            <a:avLst/>
          </a:prstGeom>
          <a:noFill/>
          <a:ln>
            <a:noFill/>
          </a:ln>
        </p:spPr>
      </p:pic>
      <p:pic>
        <p:nvPicPr>
          <p:cNvPr id="573" name="Google Shape;573;p35"/>
          <p:cNvPicPr preferRelativeResize="0"/>
          <p:nvPr/>
        </p:nvPicPr>
        <p:blipFill rotWithShape="1">
          <a:blip r:embed="rId4">
            <a:alphaModFix/>
          </a:blip>
          <a:srcRect b="0" l="0" r="0" t="0"/>
          <a:stretch/>
        </p:blipFill>
        <p:spPr>
          <a:xfrm>
            <a:off x="7739063" y="2609850"/>
            <a:ext cx="114300" cy="495300"/>
          </a:xfrm>
          <a:prstGeom prst="rect">
            <a:avLst/>
          </a:prstGeom>
          <a:noFill/>
          <a:ln>
            <a:noFill/>
          </a:ln>
        </p:spPr>
      </p:pic>
      <p:pic>
        <p:nvPicPr>
          <p:cNvPr id="574" name="Google Shape;574;p35"/>
          <p:cNvPicPr preferRelativeResize="0"/>
          <p:nvPr/>
        </p:nvPicPr>
        <p:blipFill rotWithShape="1">
          <a:blip r:embed="rId5">
            <a:alphaModFix/>
          </a:blip>
          <a:srcRect b="0" l="0" r="0" t="0"/>
          <a:stretch/>
        </p:blipFill>
        <p:spPr>
          <a:xfrm>
            <a:off x="6562725" y="3657600"/>
            <a:ext cx="314400" cy="114300"/>
          </a:xfrm>
          <a:prstGeom prst="rect">
            <a:avLst/>
          </a:prstGeom>
          <a:noFill/>
          <a:ln>
            <a:noFill/>
          </a:ln>
        </p:spPr>
      </p:pic>
      <p:pic>
        <p:nvPicPr>
          <p:cNvPr id="575" name="Google Shape;575;p35"/>
          <p:cNvPicPr preferRelativeResize="0"/>
          <p:nvPr/>
        </p:nvPicPr>
        <p:blipFill rotWithShape="1">
          <a:blip r:embed="rId5">
            <a:alphaModFix/>
          </a:blip>
          <a:srcRect b="0" l="0" r="0" t="0"/>
          <a:stretch/>
        </p:blipFill>
        <p:spPr>
          <a:xfrm>
            <a:off x="4410075" y="3657600"/>
            <a:ext cx="314400" cy="114300"/>
          </a:xfrm>
          <a:prstGeom prst="rect">
            <a:avLst/>
          </a:prstGeom>
          <a:noFill/>
          <a:ln>
            <a:noFill/>
          </a:ln>
        </p:spPr>
      </p:pic>
      <p:pic>
        <p:nvPicPr>
          <p:cNvPr id="576" name="Google Shape;576;p35"/>
          <p:cNvPicPr preferRelativeResize="0"/>
          <p:nvPr/>
        </p:nvPicPr>
        <p:blipFill rotWithShape="1">
          <a:blip r:embed="rId5">
            <a:alphaModFix/>
          </a:blip>
          <a:srcRect b="0" l="0" r="0" t="0"/>
          <a:stretch/>
        </p:blipFill>
        <p:spPr>
          <a:xfrm>
            <a:off x="2257425" y="3657600"/>
            <a:ext cx="314400" cy="114300"/>
          </a:xfrm>
          <a:prstGeom prst="rect">
            <a:avLst/>
          </a:prstGeom>
          <a:noFill/>
          <a:ln>
            <a:noFill/>
          </a:ln>
        </p:spPr>
      </p:pic>
      <p:pic>
        <p:nvPicPr>
          <p:cNvPr id="577" name="Google Shape;577;p35"/>
          <p:cNvPicPr preferRelativeResize="0"/>
          <p:nvPr/>
        </p:nvPicPr>
        <p:blipFill rotWithShape="1">
          <a:blip r:embed="rId6">
            <a:alphaModFix/>
          </a:blip>
          <a:srcRect b="0" l="0" r="0" t="0"/>
          <a:stretch/>
        </p:blipFill>
        <p:spPr>
          <a:xfrm>
            <a:off x="1281113" y="2609850"/>
            <a:ext cx="114300" cy="495300"/>
          </a:xfrm>
          <a:prstGeom prst="rect">
            <a:avLst/>
          </a:prstGeom>
          <a:noFill/>
          <a:ln>
            <a:noFill/>
          </a:ln>
        </p:spPr>
      </p:pic>
      <p:grpSp>
        <p:nvGrpSpPr>
          <p:cNvPr id="578" name="Google Shape;578;p35"/>
          <p:cNvGrpSpPr/>
          <p:nvPr/>
        </p:nvGrpSpPr>
        <p:grpSpPr>
          <a:xfrm>
            <a:off x="457200" y="1428750"/>
            <a:ext cx="1781250" cy="1162050"/>
            <a:chOff x="0" y="0"/>
            <a:chExt cx="1781250" cy="1162050"/>
          </a:xfrm>
        </p:grpSpPr>
        <p:pic>
          <p:nvPicPr>
            <p:cNvPr id="579" name="Google Shape;579;p35"/>
            <p:cNvPicPr preferRelativeResize="0"/>
            <p:nvPr/>
          </p:nvPicPr>
          <p:blipFill rotWithShape="1">
            <a:blip r:embed="rId7">
              <a:alphaModFix/>
            </a:blip>
            <a:srcRect b="0" l="0" r="0" t="0"/>
            <a:stretch/>
          </p:blipFill>
          <p:spPr>
            <a:xfrm>
              <a:off x="19050" y="19050"/>
              <a:ext cx="1762200" cy="1143000"/>
            </a:xfrm>
            <a:prstGeom prst="rect">
              <a:avLst/>
            </a:prstGeom>
            <a:noFill/>
            <a:ln>
              <a:noFill/>
            </a:ln>
          </p:spPr>
        </p:pic>
        <p:sp>
          <p:nvSpPr>
            <p:cNvPr id="580" name="Google Shape;580;p35"/>
            <p:cNvSpPr/>
            <p:nvPr/>
          </p:nvSpPr>
          <p:spPr>
            <a:xfrm>
              <a:off x="0" y="0"/>
              <a:ext cx="1762200" cy="1143000"/>
            </a:xfrm>
            <a:prstGeom prst="roundRect">
              <a:avLst>
                <a:gd fmla="val 6666" name="adj"/>
              </a:avLst>
            </a:prstGeom>
            <a:solidFill>
              <a:srgbClr val="FFFFFF"/>
            </a:solidFill>
            <a:ln cap="flat" cmpd="sng" w="19050">
              <a:solidFill>
                <a:srgbClr val="D1FAE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1" name="Google Shape;581;p35"/>
            <p:cNvSpPr/>
            <p:nvPr/>
          </p:nvSpPr>
          <p:spPr>
            <a:xfrm>
              <a:off x="123825" y="123825"/>
              <a:ext cx="209700" cy="2097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2" name="Google Shape;582;p35"/>
            <p:cNvSpPr txBox="1"/>
            <p:nvPr/>
          </p:nvSpPr>
          <p:spPr>
            <a:xfrm>
              <a:off x="123825" y="142875"/>
              <a:ext cx="2097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25">
                  <a:solidFill>
                    <a:srgbClr val="FFFFFF"/>
                  </a:solidFill>
                  <a:latin typeface="Plus Jakarta Sans ExtraBold"/>
                  <a:ea typeface="Plus Jakarta Sans ExtraBold"/>
                  <a:cs typeface="Plus Jakarta Sans ExtraBold"/>
                  <a:sym typeface="Plus Jakarta Sans ExtraBold"/>
                </a:rPr>
                <a:t>01</a:t>
              </a:r>
              <a:endParaRPr/>
            </a:p>
          </p:txBody>
        </p:sp>
        <p:sp>
          <p:nvSpPr>
            <p:cNvPr id="583" name="Google Shape;583;p35"/>
            <p:cNvSpPr txBox="1"/>
            <p:nvPr/>
          </p:nvSpPr>
          <p:spPr>
            <a:xfrm>
              <a:off x="400050" y="133350"/>
              <a:ext cx="1266900" cy="209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13">
                  <a:solidFill>
                    <a:srgbClr val="111827"/>
                  </a:solidFill>
                  <a:latin typeface="Plus Jakarta Sans"/>
                  <a:ea typeface="Plus Jakarta Sans"/>
                  <a:cs typeface="Plus Jakarta Sans"/>
                  <a:sym typeface="Plus Jakarta Sans"/>
                </a:rPr>
                <a:t>Input</a:t>
              </a:r>
              <a:endParaRPr/>
            </a:p>
          </p:txBody>
        </p:sp>
        <p:sp>
          <p:nvSpPr>
            <p:cNvPr id="584" name="Google Shape;584;p35"/>
            <p:cNvSpPr txBox="1"/>
            <p:nvPr/>
          </p:nvSpPr>
          <p:spPr>
            <a:xfrm>
              <a:off x="114300" y="419100"/>
              <a:ext cx="15336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63">
                  <a:solidFill>
                    <a:srgbClr val="4B5563"/>
                  </a:solidFill>
                  <a:latin typeface="Inter"/>
                  <a:ea typeface="Inter"/>
                  <a:cs typeface="Inter"/>
                  <a:sym typeface="Inter"/>
                </a:rPr>
                <a:t>Pengumpulan data awal santri.</a:t>
              </a:r>
              <a:endParaRPr b="0" sz="863">
                <a:solidFill>
                  <a:srgbClr val="4B5563"/>
                </a:solidFill>
                <a:latin typeface="Inter"/>
                <a:ea typeface="Inter"/>
                <a:cs typeface="Inter"/>
                <a:sym typeface="Inter"/>
              </a:endParaRPr>
            </a:p>
          </p:txBody>
        </p:sp>
      </p:grpSp>
      <p:grpSp>
        <p:nvGrpSpPr>
          <p:cNvPr id="585" name="Google Shape;585;p35"/>
          <p:cNvGrpSpPr/>
          <p:nvPr/>
        </p:nvGrpSpPr>
        <p:grpSpPr>
          <a:xfrm>
            <a:off x="2609850" y="1428750"/>
            <a:ext cx="1781250" cy="1162050"/>
            <a:chOff x="0" y="0"/>
            <a:chExt cx="1781250" cy="1162050"/>
          </a:xfrm>
        </p:grpSpPr>
        <p:pic>
          <p:nvPicPr>
            <p:cNvPr id="586" name="Google Shape;586;p35"/>
            <p:cNvPicPr preferRelativeResize="0"/>
            <p:nvPr/>
          </p:nvPicPr>
          <p:blipFill rotWithShape="1">
            <a:blip r:embed="rId7">
              <a:alphaModFix/>
            </a:blip>
            <a:srcRect b="0" l="0" r="0" t="0"/>
            <a:stretch/>
          </p:blipFill>
          <p:spPr>
            <a:xfrm>
              <a:off x="19050" y="19050"/>
              <a:ext cx="1762200" cy="1143000"/>
            </a:xfrm>
            <a:prstGeom prst="rect">
              <a:avLst/>
            </a:prstGeom>
            <a:noFill/>
            <a:ln>
              <a:noFill/>
            </a:ln>
          </p:spPr>
        </p:pic>
        <p:sp>
          <p:nvSpPr>
            <p:cNvPr id="587" name="Google Shape;587;p35"/>
            <p:cNvSpPr/>
            <p:nvPr/>
          </p:nvSpPr>
          <p:spPr>
            <a:xfrm>
              <a:off x="0" y="0"/>
              <a:ext cx="1762200" cy="1143000"/>
            </a:xfrm>
            <a:prstGeom prst="roundRect">
              <a:avLst>
                <a:gd fmla="val 6666" name="adj"/>
              </a:avLst>
            </a:prstGeom>
            <a:solidFill>
              <a:srgbClr val="FFFFFF"/>
            </a:solidFill>
            <a:ln cap="flat" cmpd="sng" w="19050">
              <a:solidFill>
                <a:srgbClr val="D1FAE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8" name="Google Shape;588;p35"/>
            <p:cNvSpPr/>
            <p:nvPr/>
          </p:nvSpPr>
          <p:spPr>
            <a:xfrm>
              <a:off x="123825" y="123825"/>
              <a:ext cx="209700" cy="2097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9" name="Google Shape;589;p35"/>
            <p:cNvSpPr txBox="1"/>
            <p:nvPr/>
          </p:nvSpPr>
          <p:spPr>
            <a:xfrm>
              <a:off x="123825" y="142875"/>
              <a:ext cx="2097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25">
                  <a:solidFill>
                    <a:srgbClr val="FFFFFF"/>
                  </a:solidFill>
                  <a:latin typeface="Plus Jakarta Sans ExtraBold"/>
                  <a:ea typeface="Plus Jakarta Sans ExtraBold"/>
                  <a:cs typeface="Plus Jakarta Sans ExtraBold"/>
                  <a:sym typeface="Plus Jakarta Sans ExtraBold"/>
                </a:rPr>
                <a:t>02</a:t>
              </a:r>
              <a:endParaRPr/>
            </a:p>
          </p:txBody>
        </p:sp>
        <p:sp>
          <p:nvSpPr>
            <p:cNvPr id="590" name="Google Shape;590;p35"/>
            <p:cNvSpPr txBox="1"/>
            <p:nvPr/>
          </p:nvSpPr>
          <p:spPr>
            <a:xfrm>
              <a:off x="400050" y="133350"/>
              <a:ext cx="1266900" cy="209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13">
                  <a:solidFill>
                    <a:srgbClr val="111827"/>
                  </a:solidFill>
                  <a:latin typeface="Plus Jakarta Sans"/>
                  <a:ea typeface="Plus Jakarta Sans"/>
                  <a:cs typeface="Plus Jakarta Sans"/>
                  <a:sym typeface="Plus Jakarta Sans"/>
                </a:rPr>
                <a:t>Pemetaan</a:t>
              </a:r>
              <a:endParaRPr/>
            </a:p>
          </p:txBody>
        </p:sp>
        <p:sp>
          <p:nvSpPr>
            <p:cNvPr id="591" name="Google Shape;591;p35"/>
            <p:cNvSpPr txBox="1"/>
            <p:nvPr/>
          </p:nvSpPr>
          <p:spPr>
            <a:xfrm>
              <a:off x="114300" y="419100"/>
              <a:ext cx="15336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63">
                  <a:solidFill>
                    <a:srgbClr val="4B5563"/>
                  </a:solidFill>
                  <a:latin typeface="Inter"/>
                  <a:ea typeface="Inter"/>
                  <a:cs typeface="Inter"/>
                  <a:sym typeface="Inter"/>
                </a:rPr>
                <a:t>Analisis potensi dan area pengembangan.</a:t>
              </a:r>
              <a:endParaRPr b="0" sz="863">
                <a:solidFill>
                  <a:srgbClr val="4B5563"/>
                </a:solidFill>
                <a:latin typeface="Inter"/>
                <a:ea typeface="Inter"/>
                <a:cs typeface="Inter"/>
                <a:sym typeface="Inter"/>
              </a:endParaRPr>
            </a:p>
          </p:txBody>
        </p:sp>
      </p:grpSp>
      <p:grpSp>
        <p:nvGrpSpPr>
          <p:cNvPr id="592" name="Google Shape;592;p35"/>
          <p:cNvGrpSpPr/>
          <p:nvPr/>
        </p:nvGrpSpPr>
        <p:grpSpPr>
          <a:xfrm>
            <a:off x="4762500" y="1428750"/>
            <a:ext cx="1781250" cy="1162050"/>
            <a:chOff x="0" y="0"/>
            <a:chExt cx="1781250" cy="1162050"/>
          </a:xfrm>
        </p:grpSpPr>
        <p:pic>
          <p:nvPicPr>
            <p:cNvPr id="593" name="Google Shape;593;p35"/>
            <p:cNvPicPr preferRelativeResize="0"/>
            <p:nvPr/>
          </p:nvPicPr>
          <p:blipFill rotWithShape="1">
            <a:blip r:embed="rId7">
              <a:alphaModFix/>
            </a:blip>
            <a:srcRect b="0" l="0" r="0" t="0"/>
            <a:stretch/>
          </p:blipFill>
          <p:spPr>
            <a:xfrm>
              <a:off x="19050" y="19050"/>
              <a:ext cx="1762200" cy="1143000"/>
            </a:xfrm>
            <a:prstGeom prst="rect">
              <a:avLst/>
            </a:prstGeom>
            <a:noFill/>
            <a:ln>
              <a:noFill/>
            </a:ln>
          </p:spPr>
        </p:pic>
        <p:sp>
          <p:nvSpPr>
            <p:cNvPr id="594" name="Google Shape;594;p35"/>
            <p:cNvSpPr/>
            <p:nvPr/>
          </p:nvSpPr>
          <p:spPr>
            <a:xfrm>
              <a:off x="0" y="0"/>
              <a:ext cx="1762200" cy="1143000"/>
            </a:xfrm>
            <a:prstGeom prst="roundRect">
              <a:avLst>
                <a:gd fmla="val 6666" name="adj"/>
              </a:avLst>
            </a:prstGeom>
            <a:solidFill>
              <a:srgbClr val="FFFFFF"/>
            </a:solidFill>
            <a:ln cap="flat" cmpd="sng" w="19050">
              <a:solidFill>
                <a:srgbClr val="D1FAE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5" name="Google Shape;595;p35"/>
            <p:cNvSpPr/>
            <p:nvPr/>
          </p:nvSpPr>
          <p:spPr>
            <a:xfrm>
              <a:off x="123825" y="123825"/>
              <a:ext cx="209700" cy="2097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6" name="Google Shape;596;p35"/>
            <p:cNvSpPr txBox="1"/>
            <p:nvPr/>
          </p:nvSpPr>
          <p:spPr>
            <a:xfrm>
              <a:off x="123825" y="142875"/>
              <a:ext cx="2097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25">
                  <a:solidFill>
                    <a:srgbClr val="FFFFFF"/>
                  </a:solidFill>
                  <a:latin typeface="Plus Jakarta Sans ExtraBold"/>
                  <a:ea typeface="Plus Jakarta Sans ExtraBold"/>
                  <a:cs typeface="Plus Jakarta Sans ExtraBold"/>
                  <a:sym typeface="Plus Jakarta Sans ExtraBold"/>
                </a:rPr>
                <a:t>03</a:t>
              </a:r>
              <a:endParaRPr/>
            </a:p>
          </p:txBody>
        </p:sp>
        <p:sp>
          <p:nvSpPr>
            <p:cNvPr id="597" name="Google Shape;597;p35"/>
            <p:cNvSpPr txBox="1"/>
            <p:nvPr/>
          </p:nvSpPr>
          <p:spPr>
            <a:xfrm>
              <a:off x="400050" y="133350"/>
              <a:ext cx="1266900" cy="209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13">
                  <a:solidFill>
                    <a:srgbClr val="111827"/>
                  </a:solidFill>
                  <a:latin typeface="Plus Jakarta Sans"/>
                  <a:ea typeface="Plus Jakarta Sans"/>
                  <a:cs typeface="Plus Jakarta Sans"/>
                  <a:sym typeface="Plus Jakarta Sans"/>
                </a:rPr>
                <a:t>Pendampingan</a:t>
              </a:r>
              <a:endParaRPr/>
            </a:p>
          </p:txBody>
        </p:sp>
        <p:sp>
          <p:nvSpPr>
            <p:cNvPr id="598" name="Google Shape;598;p35"/>
            <p:cNvSpPr txBox="1"/>
            <p:nvPr/>
          </p:nvSpPr>
          <p:spPr>
            <a:xfrm>
              <a:off x="114300" y="419100"/>
              <a:ext cx="15336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63">
                  <a:solidFill>
                    <a:srgbClr val="4B5563"/>
                  </a:solidFill>
                  <a:latin typeface="Inter"/>
                  <a:ea typeface="Inter"/>
                  <a:cs typeface="Inter"/>
                  <a:sym typeface="Inter"/>
                </a:rPr>
                <a:t>Proses bimbingan rutin.</a:t>
              </a:r>
              <a:endParaRPr b="0" sz="863">
                <a:solidFill>
                  <a:srgbClr val="4B5563"/>
                </a:solidFill>
                <a:latin typeface="Inter"/>
                <a:ea typeface="Inter"/>
                <a:cs typeface="Inter"/>
                <a:sym typeface="Inter"/>
              </a:endParaRPr>
            </a:p>
          </p:txBody>
        </p:sp>
      </p:grpSp>
      <p:grpSp>
        <p:nvGrpSpPr>
          <p:cNvPr id="599" name="Google Shape;599;p35"/>
          <p:cNvGrpSpPr/>
          <p:nvPr/>
        </p:nvGrpSpPr>
        <p:grpSpPr>
          <a:xfrm>
            <a:off x="6915150" y="1428750"/>
            <a:ext cx="1781250" cy="1162050"/>
            <a:chOff x="0" y="0"/>
            <a:chExt cx="1781250" cy="1162050"/>
          </a:xfrm>
        </p:grpSpPr>
        <p:pic>
          <p:nvPicPr>
            <p:cNvPr id="600" name="Google Shape;600;p35"/>
            <p:cNvPicPr preferRelativeResize="0"/>
            <p:nvPr/>
          </p:nvPicPr>
          <p:blipFill rotWithShape="1">
            <a:blip r:embed="rId7">
              <a:alphaModFix/>
            </a:blip>
            <a:srcRect b="0" l="0" r="0" t="0"/>
            <a:stretch/>
          </p:blipFill>
          <p:spPr>
            <a:xfrm>
              <a:off x="19050" y="19050"/>
              <a:ext cx="1762200" cy="1143000"/>
            </a:xfrm>
            <a:prstGeom prst="rect">
              <a:avLst/>
            </a:prstGeom>
            <a:noFill/>
            <a:ln>
              <a:noFill/>
            </a:ln>
          </p:spPr>
        </p:pic>
        <p:sp>
          <p:nvSpPr>
            <p:cNvPr id="601" name="Google Shape;601;p35"/>
            <p:cNvSpPr/>
            <p:nvPr/>
          </p:nvSpPr>
          <p:spPr>
            <a:xfrm>
              <a:off x="0" y="0"/>
              <a:ext cx="1762200" cy="1143000"/>
            </a:xfrm>
            <a:prstGeom prst="roundRect">
              <a:avLst>
                <a:gd fmla="val 6666" name="adj"/>
              </a:avLst>
            </a:prstGeom>
            <a:solidFill>
              <a:srgbClr val="FFFFFF"/>
            </a:solidFill>
            <a:ln cap="flat" cmpd="sng" w="19050">
              <a:solidFill>
                <a:srgbClr val="D1FAE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2" name="Google Shape;602;p35"/>
            <p:cNvSpPr/>
            <p:nvPr/>
          </p:nvSpPr>
          <p:spPr>
            <a:xfrm>
              <a:off x="123825" y="123825"/>
              <a:ext cx="209700" cy="2097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3" name="Google Shape;603;p35"/>
            <p:cNvSpPr txBox="1"/>
            <p:nvPr/>
          </p:nvSpPr>
          <p:spPr>
            <a:xfrm>
              <a:off x="123825" y="142875"/>
              <a:ext cx="2097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25">
                  <a:solidFill>
                    <a:srgbClr val="FFFFFF"/>
                  </a:solidFill>
                  <a:latin typeface="Plus Jakarta Sans ExtraBold"/>
                  <a:ea typeface="Plus Jakarta Sans ExtraBold"/>
                  <a:cs typeface="Plus Jakarta Sans ExtraBold"/>
                  <a:sym typeface="Plus Jakarta Sans ExtraBold"/>
                </a:rPr>
                <a:t>04</a:t>
              </a:r>
              <a:endParaRPr/>
            </a:p>
          </p:txBody>
        </p:sp>
        <p:sp>
          <p:nvSpPr>
            <p:cNvPr id="604" name="Google Shape;604;p35"/>
            <p:cNvSpPr txBox="1"/>
            <p:nvPr/>
          </p:nvSpPr>
          <p:spPr>
            <a:xfrm>
              <a:off x="400050" y="133350"/>
              <a:ext cx="1266900" cy="209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13">
                  <a:solidFill>
                    <a:srgbClr val="111827"/>
                  </a:solidFill>
                  <a:latin typeface="Plus Jakarta Sans"/>
                  <a:ea typeface="Plus Jakarta Sans"/>
                  <a:cs typeface="Plus Jakarta Sans"/>
                  <a:sym typeface="Plus Jakarta Sans"/>
                </a:rPr>
                <a:t>Monitoring</a:t>
              </a:r>
              <a:endParaRPr/>
            </a:p>
          </p:txBody>
        </p:sp>
        <p:sp>
          <p:nvSpPr>
            <p:cNvPr id="605" name="Google Shape;605;p35"/>
            <p:cNvSpPr txBox="1"/>
            <p:nvPr/>
          </p:nvSpPr>
          <p:spPr>
            <a:xfrm>
              <a:off x="114300" y="419100"/>
              <a:ext cx="15336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63">
                  <a:solidFill>
                    <a:srgbClr val="4B5563"/>
                  </a:solidFill>
                  <a:latin typeface="Inter"/>
                  <a:ea typeface="Inter"/>
                  <a:cs typeface="Inter"/>
                  <a:sym typeface="Inter"/>
                </a:rPr>
                <a:t>Pemantauan perkembangan secara berkala.</a:t>
              </a:r>
              <a:endParaRPr b="0" sz="863">
                <a:solidFill>
                  <a:srgbClr val="4B5563"/>
                </a:solidFill>
                <a:latin typeface="Inter"/>
                <a:ea typeface="Inter"/>
                <a:cs typeface="Inter"/>
                <a:sym typeface="Inter"/>
              </a:endParaRPr>
            </a:p>
          </p:txBody>
        </p:sp>
      </p:grpSp>
      <p:grpSp>
        <p:nvGrpSpPr>
          <p:cNvPr id="606" name="Google Shape;606;p35"/>
          <p:cNvGrpSpPr/>
          <p:nvPr/>
        </p:nvGrpSpPr>
        <p:grpSpPr>
          <a:xfrm>
            <a:off x="6915150" y="3143250"/>
            <a:ext cx="1781250" cy="1162050"/>
            <a:chOff x="0" y="0"/>
            <a:chExt cx="1781250" cy="1162050"/>
          </a:xfrm>
        </p:grpSpPr>
        <p:pic>
          <p:nvPicPr>
            <p:cNvPr id="607" name="Google Shape;607;p35"/>
            <p:cNvPicPr preferRelativeResize="0"/>
            <p:nvPr/>
          </p:nvPicPr>
          <p:blipFill rotWithShape="1">
            <a:blip r:embed="rId7">
              <a:alphaModFix/>
            </a:blip>
            <a:srcRect b="0" l="0" r="0" t="0"/>
            <a:stretch/>
          </p:blipFill>
          <p:spPr>
            <a:xfrm>
              <a:off x="19050" y="19050"/>
              <a:ext cx="1762200" cy="1143000"/>
            </a:xfrm>
            <a:prstGeom prst="rect">
              <a:avLst/>
            </a:prstGeom>
            <a:noFill/>
            <a:ln>
              <a:noFill/>
            </a:ln>
          </p:spPr>
        </p:pic>
        <p:sp>
          <p:nvSpPr>
            <p:cNvPr id="608" name="Google Shape;608;p35"/>
            <p:cNvSpPr/>
            <p:nvPr/>
          </p:nvSpPr>
          <p:spPr>
            <a:xfrm>
              <a:off x="0" y="0"/>
              <a:ext cx="1762200" cy="1143000"/>
            </a:xfrm>
            <a:prstGeom prst="roundRect">
              <a:avLst>
                <a:gd fmla="val 6666" name="adj"/>
              </a:avLst>
            </a:prstGeom>
            <a:solidFill>
              <a:srgbClr val="FFFFFF"/>
            </a:solidFill>
            <a:ln cap="flat" cmpd="sng" w="19050">
              <a:solidFill>
                <a:srgbClr val="D1FAE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9" name="Google Shape;609;p35"/>
            <p:cNvSpPr/>
            <p:nvPr/>
          </p:nvSpPr>
          <p:spPr>
            <a:xfrm>
              <a:off x="123825" y="123825"/>
              <a:ext cx="209700" cy="2097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0" name="Google Shape;610;p35"/>
            <p:cNvSpPr txBox="1"/>
            <p:nvPr/>
          </p:nvSpPr>
          <p:spPr>
            <a:xfrm>
              <a:off x="123825" y="142875"/>
              <a:ext cx="2097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25">
                  <a:solidFill>
                    <a:srgbClr val="FFFFFF"/>
                  </a:solidFill>
                  <a:latin typeface="Plus Jakarta Sans ExtraBold"/>
                  <a:ea typeface="Plus Jakarta Sans ExtraBold"/>
                  <a:cs typeface="Plus Jakarta Sans ExtraBold"/>
                  <a:sym typeface="Plus Jakarta Sans ExtraBold"/>
                </a:rPr>
                <a:t>05</a:t>
              </a:r>
              <a:endParaRPr/>
            </a:p>
          </p:txBody>
        </p:sp>
        <p:sp>
          <p:nvSpPr>
            <p:cNvPr id="611" name="Google Shape;611;p35"/>
            <p:cNvSpPr txBox="1"/>
            <p:nvPr/>
          </p:nvSpPr>
          <p:spPr>
            <a:xfrm>
              <a:off x="400050" y="133350"/>
              <a:ext cx="1266900" cy="209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13">
                  <a:solidFill>
                    <a:srgbClr val="111827"/>
                  </a:solidFill>
                  <a:latin typeface="Plus Jakarta Sans"/>
                  <a:ea typeface="Plus Jakarta Sans"/>
                  <a:cs typeface="Plus Jakarta Sans"/>
                  <a:sym typeface="Plus Jakarta Sans"/>
                </a:rPr>
                <a:t>Intervensi</a:t>
              </a:r>
              <a:endParaRPr/>
            </a:p>
          </p:txBody>
        </p:sp>
        <p:sp>
          <p:nvSpPr>
            <p:cNvPr id="612" name="Google Shape;612;p35"/>
            <p:cNvSpPr txBox="1"/>
            <p:nvPr/>
          </p:nvSpPr>
          <p:spPr>
            <a:xfrm>
              <a:off x="114300" y="419100"/>
              <a:ext cx="15336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63">
                  <a:solidFill>
                    <a:srgbClr val="4B5563"/>
                  </a:solidFill>
                  <a:latin typeface="Inter"/>
                  <a:ea typeface="Inter"/>
                  <a:cs typeface="Inter"/>
                  <a:sym typeface="Inter"/>
                </a:rPr>
                <a:t>Tindakan khusus jika ditemukan kendala.</a:t>
              </a:r>
              <a:endParaRPr b="0" sz="863">
                <a:solidFill>
                  <a:srgbClr val="4B5563"/>
                </a:solidFill>
                <a:latin typeface="Inter"/>
                <a:ea typeface="Inter"/>
                <a:cs typeface="Inter"/>
                <a:sym typeface="Inter"/>
              </a:endParaRPr>
            </a:p>
          </p:txBody>
        </p:sp>
      </p:grpSp>
      <p:grpSp>
        <p:nvGrpSpPr>
          <p:cNvPr id="613" name="Google Shape;613;p35"/>
          <p:cNvGrpSpPr/>
          <p:nvPr/>
        </p:nvGrpSpPr>
        <p:grpSpPr>
          <a:xfrm>
            <a:off x="4762500" y="3143250"/>
            <a:ext cx="1781250" cy="1162050"/>
            <a:chOff x="0" y="0"/>
            <a:chExt cx="1781250" cy="1162050"/>
          </a:xfrm>
        </p:grpSpPr>
        <p:pic>
          <p:nvPicPr>
            <p:cNvPr id="614" name="Google Shape;614;p35"/>
            <p:cNvPicPr preferRelativeResize="0"/>
            <p:nvPr/>
          </p:nvPicPr>
          <p:blipFill rotWithShape="1">
            <a:blip r:embed="rId7">
              <a:alphaModFix/>
            </a:blip>
            <a:srcRect b="0" l="0" r="0" t="0"/>
            <a:stretch/>
          </p:blipFill>
          <p:spPr>
            <a:xfrm>
              <a:off x="19050" y="19050"/>
              <a:ext cx="1762200" cy="1143000"/>
            </a:xfrm>
            <a:prstGeom prst="rect">
              <a:avLst/>
            </a:prstGeom>
            <a:noFill/>
            <a:ln>
              <a:noFill/>
            </a:ln>
          </p:spPr>
        </p:pic>
        <p:sp>
          <p:nvSpPr>
            <p:cNvPr id="615" name="Google Shape;615;p35"/>
            <p:cNvSpPr/>
            <p:nvPr/>
          </p:nvSpPr>
          <p:spPr>
            <a:xfrm>
              <a:off x="0" y="0"/>
              <a:ext cx="1762200" cy="1143000"/>
            </a:xfrm>
            <a:prstGeom prst="roundRect">
              <a:avLst>
                <a:gd fmla="val 6666" name="adj"/>
              </a:avLst>
            </a:prstGeom>
            <a:solidFill>
              <a:srgbClr val="FFFFFF"/>
            </a:solidFill>
            <a:ln cap="flat" cmpd="sng" w="19050">
              <a:solidFill>
                <a:srgbClr val="D1FAE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6" name="Google Shape;616;p35"/>
            <p:cNvSpPr/>
            <p:nvPr/>
          </p:nvSpPr>
          <p:spPr>
            <a:xfrm>
              <a:off x="123825" y="123825"/>
              <a:ext cx="209700" cy="2097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7" name="Google Shape;617;p35"/>
            <p:cNvSpPr txBox="1"/>
            <p:nvPr/>
          </p:nvSpPr>
          <p:spPr>
            <a:xfrm>
              <a:off x="123825" y="142875"/>
              <a:ext cx="2097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25">
                  <a:solidFill>
                    <a:srgbClr val="FFFFFF"/>
                  </a:solidFill>
                  <a:latin typeface="Plus Jakarta Sans ExtraBold"/>
                  <a:ea typeface="Plus Jakarta Sans ExtraBold"/>
                  <a:cs typeface="Plus Jakarta Sans ExtraBold"/>
                  <a:sym typeface="Plus Jakarta Sans ExtraBold"/>
                </a:rPr>
                <a:t>06</a:t>
              </a:r>
              <a:endParaRPr/>
            </a:p>
          </p:txBody>
        </p:sp>
        <p:sp>
          <p:nvSpPr>
            <p:cNvPr id="618" name="Google Shape;618;p35"/>
            <p:cNvSpPr txBox="1"/>
            <p:nvPr/>
          </p:nvSpPr>
          <p:spPr>
            <a:xfrm>
              <a:off x="400050" y="133350"/>
              <a:ext cx="1266900" cy="209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13">
                  <a:solidFill>
                    <a:srgbClr val="111827"/>
                  </a:solidFill>
                  <a:latin typeface="Plus Jakarta Sans"/>
                  <a:ea typeface="Plus Jakarta Sans"/>
                  <a:cs typeface="Plus Jakarta Sans"/>
                  <a:sym typeface="Plus Jakarta Sans"/>
                </a:rPr>
                <a:t>Evaluasi</a:t>
              </a:r>
              <a:endParaRPr/>
            </a:p>
          </p:txBody>
        </p:sp>
        <p:sp>
          <p:nvSpPr>
            <p:cNvPr id="619" name="Google Shape;619;p35"/>
            <p:cNvSpPr txBox="1"/>
            <p:nvPr/>
          </p:nvSpPr>
          <p:spPr>
            <a:xfrm>
              <a:off x="114300" y="419100"/>
              <a:ext cx="15336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63">
                  <a:solidFill>
                    <a:srgbClr val="4B5563"/>
                  </a:solidFill>
                  <a:latin typeface="Inter"/>
                  <a:ea typeface="Inter"/>
                  <a:cs typeface="Inter"/>
                  <a:sym typeface="Inter"/>
                </a:rPr>
                <a:t>Penilaian efektivitas pendampingan.</a:t>
              </a:r>
              <a:endParaRPr b="0" sz="863">
                <a:solidFill>
                  <a:srgbClr val="4B5563"/>
                </a:solidFill>
                <a:latin typeface="Inter"/>
                <a:ea typeface="Inter"/>
                <a:cs typeface="Inter"/>
                <a:sym typeface="Inter"/>
              </a:endParaRPr>
            </a:p>
          </p:txBody>
        </p:sp>
      </p:grpSp>
      <p:grpSp>
        <p:nvGrpSpPr>
          <p:cNvPr id="620" name="Google Shape;620;p35"/>
          <p:cNvGrpSpPr/>
          <p:nvPr/>
        </p:nvGrpSpPr>
        <p:grpSpPr>
          <a:xfrm>
            <a:off x="2609850" y="3143250"/>
            <a:ext cx="1781250" cy="1162050"/>
            <a:chOff x="0" y="0"/>
            <a:chExt cx="1781250" cy="1162050"/>
          </a:xfrm>
        </p:grpSpPr>
        <p:pic>
          <p:nvPicPr>
            <p:cNvPr id="621" name="Google Shape;621;p35"/>
            <p:cNvPicPr preferRelativeResize="0"/>
            <p:nvPr/>
          </p:nvPicPr>
          <p:blipFill rotWithShape="1">
            <a:blip r:embed="rId7">
              <a:alphaModFix/>
            </a:blip>
            <a:srcRect b="0" l="0" r="0" t="0"/>
            <a:stretch/>
          </p:blipFill>
          <p:spPr>
            <a:xfrm>
              <a:off x="19050" y="19050"/>
              <a:ext cx="1762200" cy="1143000"/>
            </a:xfrm>
            <a:prstGeom prst="rect">
              <a:avLst/>
            </a:prstGeom>
            <a:noFill/>
            <a:ln>
              <a:noFill/>
            </a:ln>
          </p:spPr>
        </p:pic>
        <p:sp>
          <p:nvSpPr>
            <p:cNvPr id="622" name="Google Shape;622;p35"/>
            <p:cNvSpPr/>
            <p:nvPr/>
          </p:nvSpPr>
          <p:spPr>
            <a:xfrm>
              <a:off x="0" y="0"/>
              <a:ext cx="1762200" cy="1143000"/>
            </a:xfrm>
            <a:prstGeom prst="roundRect">
              <a:avLst>
                <a:gd fmla="val 6666" name="adj"/>
              </a:avLst>
            </a:prstGeom>
            <a:solidFill>
              <a:srgbClr val="FFFFFF"/>
            </a:solidFill>
            <a:ln cap="flat" cmpd="sng" w="19050">
              <a:solidFill>
                <a:srgbClr val="D1FAE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3" name="Google Shape;623;p35"/>
            <p:cNvSpPr/>
            <p:nvPr/>
          </p:nvSpPr>
          <p:spPr>
            <a:xfrm>
              <a:off x="123825" y="123825"/>
              <a:ext cx="209700" cy="2097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4" name="Google Shape;624;p35"/>
            <p:cNvSpPr txBox="1"/>
            <p:nvPr/>
          </p:nvSpPr>
          <p:spPr>
            <a:xfrm>
              <a:off x="123825" y="142875"/>
              <a:ext cx="2097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25">
                  <a:solidFill>
                    <a:srgbClr val="FFFFFF"/>
                  </a:solidFill>
                  <a:latin typeface="Plus Jakarta Sans ExtraBold"/>
                  <a:ea typeface="Plus Jakarta Sans ExtraBold"/>
                  <a:cs typeface="Plus Jakarta Sans ExtraBold"/>
                  <a:sym typeface="Plus Jakarta Sans ExtraBold"/>
                </a:rPr>
                <a:t>07</a:t>
              </a:r>
              <a:endParaRPr/>
            </a:p>
          </p:txBody>
        </p:sp>
        <p:sp>
          <p:nvSpPr>
            <p:cNvPr id="625" name="Google Shape;625;p35"/>
            <p:cNvSpPr txBox="1"/>
            <p:nvPr/>
          </p:nvSpPr>
          <p:spPr>
            <a:xfrm>
              <a:off x="400050" y="133350"/>
              <a:ext cx="1266900" cy="209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13">
                  <a:solidFill>
                    <a:srgbClr val="111827"/>
                  </a:solidFill>
                  <a:latin typeface="Plus Jakarta Sans"/>
                  <a:ea typeface="Plus Jakarta Sans"/>
                  <a:cs typeface="Plus Jakarta Sans"/>
                  <a:sym typeface="Plus Jakarta Sans"/>
                </a:rPr>
                <a:t>Laporan</a:t>
              </a:r>
              <a:endParaRPr/>
            </a:p>
          </p:txBody>
        </p:sp>
        <p:sp>
          <p:nvSpPr>
            <p:cNvPr id="626" name="Google Shape;626;p35"/>
            <p:cNvSpPr txBox="1"/>
            <p:nvPr/>
          </p:nvSpPr>
          <p:spPr>
            <a:xfrm>
              <a:off x="114300" y="419100"/>
              <a:ext cx="15336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63">
                  <a:solidFill>
                    <a:srgbClr val="4B5563"/>
                  </a:solidFill>
                  <a:latin typeface="Inter"/>
                  <a:ea typeface="Inter"/>
                  <a:cs typeface="Inter"/>
                  <a:sym typeface="Inter"/>
                </a:rPr>
                <a:t>Komunikasi hasil kepada orang tua.</a:t>
              </a:r>
              <a:endParaRPr b="0" sz="863">
                <a:solidFill>
                  <a:srgbClr val="4B5563"/>
                </a:solidFill>
                <a:latin typeface="Inter"/>
                <a:ea typeface="Inter"/>
                <a:cs typeface="Inter"/>
                <a:sym typeface="Inter"/>
              </a:endParaRPr>
            </a:p>
          </p:txBody>
        </p:sp>
      </p:grpSp>
      <p:grpSp>
        <p:nvGrpSpPr>
          <p:cNvPr id="627" name="Google Shape;627;p35"/>
          <p:cNvGrpSpPr/>
          <p:nvPr/>
        </p:nvGrpSpPr>
        <p:grpSpPr>
          <a:xfrm>
            <a:off x="457200" y="3143250"/>
            <a:ext cx="1781250" cy="1162050"/>
            <a:chOff x="0" y="0"/>
            <a:chExt cx="1781250" cy="1162050"/>
          </a:xfrm>
        </p:grpSpPr>
        <p:pic>
          <p:nvPicPr>
            <p:cNvPr id="628" name="Google Shape;628;p35"/>
            <p:cNvPicPr preferRelativeResize="0"/>
            <p:nvPr/>
          </p:nvPicPr>
          <p:blipFill rotWithShape="1">
            <a:blip r:embed="rId7">
              <a:alphaModFix/>
            </a:blip>
            <a:srcRect b="0" l="0" r="0" t="0"/>
            <a:stretch/>
          </p:blipFill>
          <p:spPr>
            <a:xfrm>
              <a:off x="19050" y="19050"/>
              <a:ext cx="1762200" cy="1143000"/>
            </a:xfrm>
            <a:prstGeom prst="rect">
              <a:avLst/>
            </a:prstGeom>
            <a:noFill/>
            <a:ln>
              <a:noFill/>
            </a:ln>
          </p:spPr>
        </p:pic>
        <p:sp>
          <p:nvSpPr>
            <p:cNvPr id="629" name="Google Shape;629;p35"/>
            <p:cNvSpPr/>
            <p:nvPr/>
          </p:nvSpPr>
          <p:spPr>
            <a:xfrm>
              <a:off x="0" y="0"/>
              <a:ext cx="1762200" cy="1143000"/>
            </a:xfrm>
            <a:prstGeom prst="roundRect">
              <a:avLst>
                <a:gd fmla="val 6666" name="adj"/>
              </a:avLst>
            </a:prstGeom>
            <a:solidFill>
              <a:srgbClr val="FFFFFF"/>
            </a:solidFill>
            <a:ln cap="flat" cmpd="sng" w="19050">
              <a:solidFill>
                <a:srgbClr val="D1FAE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0" name="Google Shape;630;p35"/>
            <p:cNvSpPr/>
            <p:nvPr/>
          </p:nvSpPr>
          <p:spPr>
            <a:xfrm>
              <a:off x="123825" y="123825"/>
              <a:ext cx="209700" cy="2097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1" name="Google Shape;631;p35"/>
            <p:cNvSpPr txBox="1"/>
            <p:nvPr/>
          </p:nvSpPr>
          <p:spPr>
            <a:xfrm>
              <a:off x="123825" y="142875"/>
              <a:ext cx="2097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25">
                  <a:solidFill>
                    <a:srgbClr val="FFFFFF"/>
                  </a:solidFill>
                  <a:latin typeface="Plus Jakarta Sans ExtraBold"/>
                  <a:ea typeface="Plus Jakarta Sans ExtraBold"/>
                  <a:cs typeface="Plus Jakarta Sans ExtraBold"/>
                  <a:sym typeface="Plus Jakarta Sans ExtraBold"/>
                </a:rPr>
                <a:t>08</a:t>
              </a:r>
              <a:endParaRPr/>
            </a:p>
          </p:txBody>
        </p:sp>
        <p:sp>
          <p:nvSpPr>
            <p:cNvPr id="632" name="Google Shape;632;p35"/>
            <p:cNvSpPr txBox="1"/>
            <p:nvPr/>
          </p:nvSpPr>
          <p:spPr>
            <a:xfrm>
              <a:off x="400050" y="133350"/>
              <a:ext cx="1266900" cy="209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13">
                  <a:solidFill>
                    <a:srgbClr val="111827"/>
                  </a:solidFill>
                  <a:latin typeface="Plus Jakarta Sans"/>
                  <a:ea typeface="Plus Jakarta Sans"/>
                  <a:cs typeface="Plus Jakarta Sans"/>
                  <a:sym typeface="Plus Jakarta Sans"/>
                </a:rPr>
                <a:t>Perbaikan</a:t>
              </a:r>
              <a:endParaRPr/>
            </a:p>
          </p:txBody>
        </p:sp>
        <p:sp>
          <p:nvSpPr>
            <p:cNvPr id="633" name="Google Shape;633;p35"/>
            <p:cNvSpPr txBox="1"/>
            <p:nvPr/>
          </p:nvSpPr>
          <p:spPr>
            <a:xfrm>
              <a:off x="114300" y="419100"/>
              <a:ext cx="15336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63">
                  <a:solidFill>
                    <a:srgbClr val="4B5563"/>
                  </a:solidFill>
                  <a:latin typeface="Inter"/>
                  <a:ea typeface="Inter"/>
                  <a:cs typeface="Inter"/>
                  <a:sym typeface="Inter"/>
                </a:rPr>
                <a:t>Penyesuaian strategi pembinaan selanjutnya.</a:t>
              </a:r>
              <a:endParaRPr b="0" sz="863">
                <a:solidFill>
                  <a:srgbClr val="4B5563"/>
                </a:solidFill>
                <a:latin typeface="Inter"/>
                <a:ea typeface="Inter"/>
                <a:cs typeface="Inter"/>
                <a:sym typeface="Inte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36"/>
          <p:cNvSpPr/>
          <p:nvPr/>
        </p:nvSpPr>
        <p:spPr>
          <a:xfrm>
            <a:off x="0" y="0"/>
            <a:ext cx="9144000" cy="51435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39" name="Google Shape;639;p36"/>
          <p:cNvGrpSpPr/>
          <p:nvPr/>
        </p:nvGrpSpPr>
        <p:grpSpPr>
          <a:xfrm>
            <a:off x="8458200" y="457200"/>
            <a:ext cx="228600" cy="228600"/>
            <a:chOff x="0" y="0"/>
            <a:chExt cx="228600" cy="228600"/>
          </a:xfrm>
        </p:grpSpPr>
        <p:sp>
          <p:nvSpPr>
            <p:cNvPr id="640" name="Google Shape;640;p36"/>
            <p:cNvSpPr/>
            <p:nvPr/>
          </p:nvSpPr>
          <p:spPr>
            <a:xfrm>
              <a:off x="0" y="0"/>
              <a:ext cx="228600" cy="2286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1" name="Google Shape;641;p36"/>
            <p:cNvSpPr/>
            <p:nvPr/>
          </p:nvSpPr>
          <p:spPr>
            <a:xfrm>
              <a:off x="38100" y="38100"/>
              <a:ext cx="152400" cy="1524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2" name="Google Shape;642;p36"/>
            <p:cNvSpPr/>
            <p:nvPr/>
          </p:nvSpPr>
          <p:spPr>
            <a:xfrm>
              <a:off x="85725" y="85725"/>
              <a:ext cx="57300" cy="573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43" name="Google Shape;643;p36"/>
          <p:cNvSpPr/>
          <p:nvPr/>
        </p:nvSpPr>
        <p:spPr>
          <a:xfrm>
            <a:off x="457200" y="4762500"/>
            <a:ext cx="82296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4" name="Google Shape;644;p36"/>
          <p:cNvSpPr txBox="1"/>
          <p:nvPr/>
        </p:nvSpPr>
        <p:spPr>
          <a:xfrm>
            <a:off x="457200" y="381000"/>
            <a:ext cx="76200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111827"/>
                </a:solidFill>
                <a:latin typeface="Plus Jakarta Sans"/>
                <a:ea typeface="Plus Jakarta Sans"/>
                <a:cs typeface="Plus Jakarta Sans"/>
                <a:sym typeface="Plus Jakarta Sans"/>
              </a:rPr>
              <a:t>Perubahan Utama yang Distandarisasi</a:t>
            </a:r>
            <a:endParaRPr b="1" sz="2400">
              <a:solidFill>
                <a:srgbClr val="111827"/>
              </a:solidFill>
              <a:latin typeface="Plus Jakarta Sans"/>
              <a:ea typeface="Plus Jakarta Sans"/>
              <a:cs typeface="Plus Jakarta Sans"/>
              <a:sym typeface="Plus Jakarta Sans"/>
            </a:endParaRPr>
          </a:p>
          <a:p>
            <a:pPr indent="0" lvl="0" marL="0" rtl="0" algn="l">
              <a:spcBef>
                <a:spcPts val="900"/>
              </a:spcBef>
              <a:spcAft>
                <a:spcPts val="0"/>
              </a:spcAft>
              <a:buNone/>
            </a:pPr>
            <a:r>
              <a:rPr b="0" lang="en" sz="1050">
                <a:solidFill>
                  <a:srgbClr val="059669"/>
                </a:solidFill>
                <a:latin typeface="Inter SemiBold"/>
                <a:ea typeface="Inter SemiBold"/>
                <a:cs typeface="Inter SemiBold"/>
                <a:sym typeface="Inter SemiBold"/>
              </a:rPr>
              <a:t>Untuk mewujudkan sistem ini, ada beberapa aspek kunci yang akan segera mengalami standarisasi dan integrasi penuh:</a:t>
            </a:r>
            <a:endParaRPr b="0" sz="1050">
              <a:solidFill>
                <a:srgbClr val="059669"/>
              </a:solidFill>
              <a:latin typeface="Inter SemiBold"/>
              <a:ea typeface="Inter SemiBold"/>
              <a:cs typeface="Inter SemiBold"/>
              <a:sym typeface="Inter SemiBold"/>
            </a:endParaRPr>
          </a:p>
        </p:txBody>
      </p:sp>
      <p:grpSp>
        <p:nvGrpSpPr>
          <p:cNvPr id="645" name="Google Shape;645;p36"/>
          <p:cNvGrpSpPr/>
          <p:nvPr/>
        </p:nvGrpSpPr>
        <p:grpSpPr>
          <a:xfrm>
            <a:off x="457200" y="1428750"/>
            <a:ext cx="2590800" cy="1381200"/>
            <a:chOff x="457200" y="1428750"/>
            <a:chExt cx="2590800" cy="1381200"/>
          </a:xfrm>
        </p:grpSpPr>
        <p:sp>
          <p:nvSpPr>
            <p:cNvPr id="646" name="Google Shape;646;p36"/>
            <p:cNvSpPr/>
            <p:nvPr/>
          </p:nvSpPr>
          <p:spPr>
            <a:xfrm>
              <a:off x="457200" y="1428750"/>
              <a:ext cx="2590800" cy="1381200"/>
            </a:xfrm>
            <a:prstGeom prst="roundRect">
              <a:avLst>
                <a:gd fmla="val 5517"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7" name="Google Shape;647;p36"/>
            <p:cNvSpPr/>
            <p:nvPr/>
          </p:nvSpPr>
          <p:spPr>
            <a:xfrm>
              <a:off x="457200" y="1428750"/>
              <a:ext cx="2590800" cy="381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48" name="Google Shape;648;p36"/>
            <p:cNvGrpSpPr/>
            <p:nvPr/>
          </p:nvGrpSpPr>
          <p:grpSpPr>
            <a:xfrm>
              <a:off x="609600" y="1581150"/>
              <a:ext cx="228600" cy="228600"/>
              <a:chOff x="0" y="0"/>
              <a:chExt cx="228600" cy="228600"/>
            </a:xfrm>
          </p:grpSpPr>
          <p:sp>
            <p:nvSpPr>
              <p:cNvPr id="649" name="Google Shape;649;p36"/>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0" name="Google Shape;650;p36"/>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51" name="Google Shape;651;p36"/>
            <p:cNvSpPr txBox="1"/>
            <p:nvPr/>
          </p:nvSpPr>
          <p:spPr>
            <a:xfrm>
              <a:off x="952500" y="1562100"/>
              <a:ext cx="1943100" cy="1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11827"/>
                  </a:solidFill>
                  <a:latin typeface="Plus Jakarta Sans"/>
                  <a:ea typeface="Plus Jakarta Sans"/>
                  <a:cs typeface="Plus Jakarta Sans"/>
                  <a:sym typeface="Plus Jakarta Sans"/>
                </a:rPr>
                <a:t>Roadmap Kurikulum</a:t>
              </a:r>
              <a:endParaRPr b="1" sz="1200">
                <a:solidFill>
                  <a:srgbClr val="111827"/>
                </a:solidFill>
                <a:latin typeface="Plus Jakarta Sans"/>
                <a:ea typeface="Plus Jakarta Sans"/>
                <a:cs typeface="Plus Jakarta Sans"/>
                <a:sym typeface="Plus Jakarta Sans"/>
              </a:endParaRPr>
            </a:p>
            <a:p>
              <a:pPr indent="0" lvl="0" marL="0" rtl="0" algn="l">
                <a:spcBef>
                  <a:spcPts val="450"/>
                </a:spcBef>
                <a:spcAft>
                  <a:spcPts val="0"/>
                </a:spcAft>
                <a:buNone/>
              </a:pPr>
              <a:r>
                <a:rPr b="0" lang="en" sz="975">
                  <a:solidFill>
                    <a:srgbClr val="4B5563"/>
                  </a:solidFill>
                  <a:latin typeface="Inter"/>
                  <a:ea typeface="Inter"/>
                  <a:cs typeface="Inter"/>
                  <a:sym typeface="Inter"/>
                </a:rPr>
                <a:t>Pembinaan yang terarah tiap jenjang.</a:t>
              </a:r>
              <a:endParaRPr b="0" sz="975">
                <a:solidFill>
                  <a:srgbClr val="4B5563"/>
                </a:solidFill>
                <a:latin typeface="Inter"/>
                <a:ea typeface="Inter"/>
                <a:cs typeface="Inter"/>
                <a:sym typeface="Inter"/>
              </a:endParaRPr>
            </a:p>
          </p:txBody>
        </p:sp>
      </p:grpSp>
      <p:grpSp>
        <p:nvGrpSpPr>
          <p:cNvPr id="652" name="Google Shape;652;p36"/>
          <p:cNvGrpSpPr/>
          <p:nvPr/>
        </p:nvGrpSpPr>
        <p:grpSpPr>
          <a:xfrm>
            <a:off x="3276600" y="1428750"/>
            <a:ext cx="2590800" cy="1381200"/>
            <a:chOff x="3276600" y="1428750"/>
            <a:chExt cx="2590800" cy="1381200"/>
          </a:xfrm>
        </p:grpSpPr>
        <p:sp>
          <p:nvSpPr>
            <p:cNvPr id="653" name="Google Shape;653;p36"/>
            <p:cNvSpPr/>
            <p:nvPr/>
          </p:nvSpPr>
          <p:spPr>
            <a:xfrm>
              <a:off x="3276600" y="1428750"/>
              <a:ext cx="2590800" cy="1381200"/>
            </a:xfrm>
            <a:prstGeom prst="roundRect">
              <a:avLst>
                <a:gd fmla="val 5517"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4" name="Google Shape;654;p36"/>
            <p:cNvSpPr/>
            <p:nvPr/>
          </p:nvSpPr>
          <p:spPr>
            <a:xfrm>
              <a:off x="3276600" y="1428750"/>
              <a:ext cx="2590800" cy="381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55" name="Google Shape;655;p36"/>
            <p:cNvGrpSpPr/>
            <p:nvPr/>
          </p:nvGrpSpPr>
          <p:grpSpPr>
            <a:xfrm>
              <a:off x="3429000" y="1581150"/>
              <a:ext cx="228600" cy="228600"/>
              <a:chOff x="0" y="0"/>
              <a:chExt cx="228600" cy="228600"/>
            </a:xfrm>
          </p:grpSpPr>
          <p:sp>
            <p:nvSpPr>
              <p:cNvPr id="656" name="Google Shape;656;p36"/>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7" name="Google Shape;657;p36"/>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58" name="Google Shape;658;p36"/>
            <p:cNvSpPr txBox="1"/>
            <p:nvPr/>
          </p:nvSpPr>
          <p:spPr>
            <a:xfrm>
              <a:off x="3771900" y="1562100"/>
              <a:ext cx="1943100" cy="1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11827"/>
                  </a:solidFill>
                  <a:latin typeface="Plus Jakarta Sans"/>
                  <a:ea typeface="Plus Jakarta Sans"/>
                  <a:cs typeface="Plus Jakarta Sans"/>
                  <a:sym typeface="Plus Jakarta Sans"/>
                </a:rPr>
                <a:t>SOP Pembinaan</a:t>
              </a:r>
              <a:endParaRPr b="1" sz="1200">
                <a:solidFill>
                  <a:srgbClr val="111827"/>
                </a:solidFill>
                <a:latin typeface="Plus Jakarta Sans"/>
                <a:ea typeface="Plus Jakarta Sans"/>
                <a:cs typeface="Plus Jakarta Sans"/>
                <a:sym typeface="Plus Jakarta Sans"/>
              </a:endParaRPr>
            </a:p>
            <a:p>
              <a:pPr indent="0" lvl="0" marL="0" rtl="0" algn="l">
                <a:spcBef>
                  <a:spcPts val="450"/>
                </a:spcBef>
                <a:spcAft>
                  <a:spcPts val="0"/>
                </a:spcAft>
                <a:buNone/>
              </a:pPr>
              <a:r>
                <a:rPr b="0" lang="en" sz="975">
                  <a:solidFill>
                    <a:srgbClr val="4B5563"/>
                  </a:solidFill>
                  <a:latin typeface="Inter"/>
                  <a:ea typeface="Inter"/>
                  <a:cs typeface="Inter"/>
                  <a:sym typeface="Inter"/>
                </a:rPr>
                <a:t>Harian yang jelas.</a:t>
              </a:r>
              <a:endParaRPr b="0" sz="975">
                <a:solidFill>
                  <a:srgbClr val="4B5563"/>
                </a:solidFill>
                <a:latin typeface="Inter"/>
                <a:ea typeface="Inter"/>
                <a:cs typeface="Inter"/>
                <a:sym typeface="Inter"/>
              </a:endParaRPr>
            </a:p>
          </p:txBody>
        </p:sp>
      </p:grpSp>
      <p:grpSp>
        <p:nvGrpSpPr>
          <p:cNvPr id="659" name="Google Shape;659;p36"/>
          <p:cNvGrpSpPr/>
          <p:nvPr/>
        </p:nvGrpSpPr>
        <p:grpSpPr>
          <a:xfrm>
            <a:off x="6096000" y="1428750"/>
            <a:ext cx="2590800" cy="1381200"/>
            <a:chOff x="6096000" y="1428750"/>
            <a:chExt cx="2590800" cy="1381200"/>
          </a:xfrm>
        </p:grpSpPr>
        <p:sp>
          <p:nvSpPr>
            <p:cNvPr id="660" name="Google Shape;660;p36"/>
            <p:cNvSpPr/>
            <p:nvPr/>
          </p:nvSpPr>
          <p:spPr>
            <a:xfrm>
              <a:off x="6096000" y="1428750"/>
              <a:ext cx="2590800" cy="1381200"/>
            </a:xfrm>
            <a:prstGeom prst="roundRect">
              <a:avLst>
                <a:gd fmla="val 5517"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1" name="Google Shape;661;p36"/>
            <p:cNvSpPr/>
            <p:nvPr/>
          </p:nvSpPr>
          <p:spPr>
            <a:xfrm>
              <a:off x="6096000" y="1428750"/>
              <a:ext cx="2590800" cy="381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62" name="Google Shape;662;p36"/>
            <p:cNvGrpSpPr/>
            <p:nvPr/>
          </p:nvGrpSpPr>
          <p:grpSpPr>
            <a:xfrm>
              <a:off x="6248400" y="1581150"/>
              <a:ext cx="228600" cy="228600"/>
              <a:chOff x="0" y="0"/>
              <a:chExt cx="228600" cy="228600"/>
            </a:xfrm>
          </p:grpSpPr>
          <p:sp>
            <p:nvSpPr>
              <p:cNvPr id="663" name="Google Shape;663;p36"/>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4" name="Google Shape;664;p36"/>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65" name="Google Shape;665;p36"/>
            <p:cNvSpPr txBox="1"/>
            <p:nvPr/>
          </p:nvSpPr>
          <p:spPr>
            <a:xfrm>
              <a:off x="6591300" y="1562100"/>
              <a:ext cx="1943100" cy="1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11827"/>
                  </a:solidFill>
                  <a:latin typeface="Plus Jakarta Sans"/>
                  <a:ea typeface="Plus Jakarta Sans"/>
                  <a:cs typeface="Plus Jakarta Sans"/>
                  <a:sym typeface="Plus Jakarta Sans"/>
                </a:rPr>
                <a:t>SOP Penanganan</a:t>
              </a:r>
              <a:endParaRPr b="1" sz="1200">
                <a:solidFill>
                  <a:srgbClr val="111827"/>
                </a:solidFill>
                <a:latin typeface="Plus Jakarta Sans"/>
                <a:ea typeface="Plus Jakarta Sans"/>
                <a:cs typeface="Plus Jakarta Sans"/>
                <a:sym typeface="Plus Jakarta Sans"/>
              </a:endParaRPr>
            </a:p>
            <a:p>
              <a:pPr indent="0" lvl="0" marL="0" rtl="0" algn="l">
                <a:spcBef>
                  <a:spcPts val="450"/>
                </a:spcBef>
                <a:spcAft>
                  <a:spcPts val="0"/>
                </a:spcAft>
                <a:buNone/>
              </a:pPr>
              <a:r>
                <a:rPr b="0" lang="en" sz="975">
                  <a:solidFill>
                    <a:srgbClr val="4B5563"/>
                  </a:solidFill>
                  <a:latin typeface="Inter"/>
                  <a:ea typeface="Inter"/>
                  <a:cs typeface="Inter"/>
                  <a:sym typeface="Inter"/>
                </a:rPr>
                <a:t>Pelanggaran yang berjenjang dan mendidik.</a:t>
              </a:r>
              <a:endParaRPr b="0" sz="975">
                <a:solidFill>
                  <a:srgbClr val="4B5563"/>
                </a:solidFill>
                <a:latin typeface="Inter"/>
                <a:ea typeface="Inter"/>
                <a:cs typeface="Inter"/>
                <a:sym typeface="Inter"/>
              </a:endParaRPr>
            </a:p>
          </p:txBody>
        </p:sp>
      </p:grpSp>
      <p:grpSp>
        <p:nvGrpSpPr>
          <p:cNvPr id="666" name="Google Shape;666;p36"/>
          <p:cNvGrpSpPr/>
          <p:nvPr/>
        </p:nvGrpSpPr>
        <p:grpSpPr>
          <a:xfrm>
            <a:off x="457200" y="3000375"/>
            <a:ext cx="2590800" cy="1381200"/>
            <a:chOff x="457200" y="3000375"/>
            <a:chExt cx="2590800" cy="1381200"/>
          </a:xfrm>
        </p:grpSpPr>
        <p:sp>
          <p:nvSpPr>
            <p:cNvPr id="667" name="Google Shape;667;p36"/>
            <p:cNvSpPr/>
            <p:nvPr/>
          </p:nvSpPr>
          <p:spPr>
            <a:xfrm>
              <a:off x="457200" y="3000375"/>
              <a:ext cx="2590800" cy="1381200"/>
            </a:xfrm>
            <a:prstGeom prst="roundRect">
              <a:avLst>
                <a:gd fmla="val 5517"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8" name="Google Shape;668;p36"/>
            <p:cNvSpPr/>
            <p:nvPr/>
          </p:nvSpPr>
          <p:spPr>
            <a:xfrm>
              <a:off x="457200" y="3000375"/>
              <a:ext cx="2590800" cy="381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69" name="Google Shape;669;p36"/>
            <p:cNvGrpSpPr/>
            <p:nvPr/>
          </p:nvGrpSpPr>
          <p:grpSpPr>
            <a:xfrm>
              <a:off x="609600" y="3152775"/>
              <a:ext cx="228600" cy="228600"/>
              <a:chOff x="0" y="0"/>
              <a:chExt cx="228600" cy="228600"/>
            </a:xfrm>
          </p:grpSpPr>
          <p:sp>
            <p:nvSpPr>
              <p:cNvPr id="670" name="Google Shape;670;p36"/>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1" name="Google Shape;671;p36"/>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72" name="Google Shape;672;p36"/>
            <p:cNvSpPr txBox="1"/>
            <p:nvPr/>
          </p:nvSpPr>
          <p:spPr>
            <a:xfrm>
              <a:off x="952500" y="3133725"/>
              <a:ext cx="1943100" cy="1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11827"/>
                  </a:solidFill>
                  <a:latin typeface="Plus Jakarta Sans"/>
                  <a:ea typeface="Plus Jakarta Sans"/>
                  <a:cs typeface="Plus Jakarta Sans"/>
                  <a:sym typeface="Plus Jakarta Sans"/>
                </a:rPr>
                <a:t>Kolaborasi Wajib</a:t>
              </a:r>
              <a:endParaRPr b="1" sz="1200">
                <a:solidFill>
                  <a:srgbClr val="111827"/>
                </a:solidFill>
                <a:latin typeface="Plus Jakarta Sans"/>
                <a:ea typeface="Plus Jakarta Sans"/>
                <a:cs typeface="Plus Jakarta Sans"/>
                <a:sym typeface="Plus Jakarta Sans"/>
              </a:endParaRPr>
            </a:p>
            <a:p>
              <a:pPr indent="0" lvl="0" marL="0" rtl="0" algn="l">
                <a:spcBef>
                  <a:spcPts val="450"/>
                </a:spcBef>
                <a:spcAft>
                  <a:spcPts val="0"/>
                </a:spcAft>
                <a:buNone/>
              </a:pPr>
              <a:r>
                <a:rPr b="0" lang="en" sz="975">
                  <a:solidFill>
                    <a:srgbClr val="4B5563"/>
                  </a:solidFill>
                  <a:latin typeface="Inter"/>
                  <a:ea typeface="Inter"/>
                  <a:cs typeface="Inter"/>
                  <a:sym typeface="Inter"/>
                </a:rPr>
                <a:t>Antara Wali Kelas dan Musyrif (Pertemuan rutin).</a:t>
              </a:r>
              <a:endParaRPr b="0" sz="975">
                <a:solidFill>
                  <a:srgbClr val="4B5563"/>
                </a:solidFill>
                <a:latin typeface="Inter"/>
                <a:ea typeface="Inter"/>
                <a:cs typeface="Inter"/>
                <a:sym typeface="Inter"/>
              </a:endParaRPr>
            </a:p>
          </p:txBody>
        </p:sp>
      </p:grpSp>
      <p:grpSp>
        <p:nvGrpSpPr>
          <p:cNvPr id="673" name="Google Shape;673;p36"/>
          <p:cNvGrpSpPr/>
          <p:nvPr/>
        </p:nvGrpSpPr>
        <p:grpSpPr>
          <a:xfrm>
            <a:off x="3276600" y="3000375"/>
            <a:ext cx="2590800" cy="1381200"/>
            <a:chOff x="3276600" y="3000375"/>
            <a:chExt cx="2590800" cy="1381200"/>
          </a:xfrm>
        </p:grpSpPr>
        <p:sp>
          <p:nvSpPr>
            <p:cNvPr id="674" name="Google Shape;674;p36"/>
            <p:cNvSpPr/>
            <p:nvPr/>
          </p:nvSpPr>
          <p:spPr>
            <a:xfrm>
              <a:off x="3276600" y="3000375"/>
              <a:ext cx="2590800" cy="1381200"/>
            </a:xfrm>
            <a:prstGeom prst="roundRect">
              <a:avLst>
                <a:gd fmla="val 5517"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5" name="Google Shape;675;p36"/>
            <p:cNvSpPr/>
            <p:nvPr/>
          </p:nvSpPr>
          <p:spPr>
            <a:xfrm>
              <a:off x="3276600" y="3000375"/>
              <a:ext cx="2590800" cy="381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76" name="Google Shape;676;p36"/>
            <p:cNvGrpSpPr/>
            <p:nvPr/>
          </p:nvGrpSpPr>
          <p:grpSpPr>
            <a:xfrm>
              <a:off x="3429000" y="3152775"/>
              <a:ext cx="228600" cy="228600"/>
              <a:chOff x="0" y="0"/>
              <a:chExt cx="228600" cy="228600"/>
            </a:xfrm>
          </p:grpSpPr>
          <p:sp>
            <p:nvSpPr>
              <p:cNvPr id="677" name="Google Shape;677;p36"/>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8" name="Google Shape;678;p36"/>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79" name="Google Shape;679;p36"/>
            <p:cNvSpPr txBox="1"/>
            <p:nvPr/>
          </p:nvSpPr>
          <p:spPr>
            <a:xfrm>
              <a:off x="3771900" y="3133725"/>
              <a:ext cx="1943100" cy="1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11827"/>
                  </a:solidFill>
                  <a:latin typeface="Plus Jakarta Sans"/>
                  <a:ea typeface="Plus Jakarta Sans"/>
                  <a:cs typeface="Plus Jakarta Sans"/>
                  <a:sym typeface="Plus Jakarta Sans"/>
                </a:rPr>
                <a:t>Peran Orang Tua</a:t>
              </a:r>
              <a:endParaRPr b="1" sz="1200">
                <a:solidFill>
                  <a:srgbClr val="111827"/>
                </a:solidFill>
                <a:latin typeface="Plus Jakarta Sans"/>
                <a:ea typeface="Plus Jakarta Sans"/>
                <a:cs typeface="Plus Jakarta Sans"/>
                <a:sym typeface="Plus Jakarta Sans"/>
              </a:endParaRPr>
            </a:p>
            <a:p>
              <a:pPr indent="0" lvl="0" marL="0" rtl="0" algn="l">
                <a:spcBef>
                  <a:spcPts val="450"/>
                </a:spcBef>
                <a:spcAft>
                  <a:spcPts val="0"/>
                </a:spcAft>
                <a:buNone/>
              </a:pPr>
              <a:r>
                <a:rPr b="0" lang="en" sz="975">
                  <a:solidFill>
                    <a:srgbClr val="4B5563"/>
                  </a:solidFill>
                  <a:latin typeface="Inter"/>
                  <a:ea typeface="Inter"/>
                  <a:cs typeface="Inter"/>
                  <a:sym typeface="Inter"/>
                </a:rPr>
                <a:t>Yang lebih terstruktur sebagai mitra edukasi.</a:t>
              </a:r>
              <a:endParaRPr b="0" sz="975">
                <a:solidFill>
                  <a:srgbClr val="4B5563"/>
                </a:solidFill>
                <a:latin typeface="Inter"/>
                <a:ea typeface="Inter"/>
                <a:cs typeface="Inter"/>
                <a:sym typeface="Inter"/>
              </a:endParaRPr>
            </a:p>
          </p:txBody>
        </p:sp>
      </p:grpSp>
      <p:grpSp>
        <p:nvGrpSpPr>
          <p:cNvPr id="680" name="Google Shape;680;p36"/>
          <p:cNvGrpSpPr/>
          <p:nvPr/>
        </p:nvGrpSpPr>
        <p:grpSpPr>
          <a:xfrm>
            <a:off x="6096000" y="3000375"/>
            <a:ext cx="2590800" cy="1381200"/>
            <a:chOff x="6096000" y="3000375"/>
            <a:chExt cx="2590800" cy="1381200"/>
          </a:xfrm>
        </p:grpSpPr>
        <p:sp>
          <p:nvSpPr>
            <p:cNvPr id="681" name="Google Shape;681;p36"/>
            <p:cNvSpPr/>
            <p:nvPr/>
          </p:nvSpPr>
          <p:spPr>
            <a:xfrm>
              <a:off x="6096000" y="3000375"/>
              <a:ext cx="2590800" cy="1381200"/>
            </a:xfrm>
            <a:prstGeom prst="roundRect">
              <a:avLst>
                <a:gd fmla="val 5517"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2" name="Google Shape;682;p36"/>
            <p:cNvSpPr/>
            <p:nvPr/>
          </p:nvSpPr>
          <p:spPr>
            <a:xfrm>
              <a:off x="6096000" y="3000375"/>
              <a:ext cx="2590800" cy="381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83" name="Google Shape;683;p36"/>
            <p:cNvGrpSpPr/>
            <p:nvPr/>
          </p:nvGrpSpPr>
          <p:grpSpPr>
            <a:xfrm>
              <a:off x="6248400" y="3152775"/>
              <a:ext cx="228600" cy="228600"/>
              <a:chOff x="0" y="0"/>
              <a:chExt cx="228600" cy="228600"/>
            </a:xfrm>
          </p:grpSpPr>
          <p:sp>
            <p:nvSpPr>
              <p:cNvPr id="684" name="Google Shape;684;p36"/>
              <p:cNvSpPr/>
              <p:nvPr/>
            </p:nvSpPr>
            <p:spPr>
              <a:xfrm>
                <a:off x="0" y="0"/>
                <a:ext cx="228600" cy="2286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5" name="Google Shape;685;p36"/>
              <p:cNvSpPr/>
              <p:nvPr/>
            </p:nvSpPr>
            <p:spPr>
              <a:xfrm>
                <a:off x="66675" y="762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86" name="Google Shape;686;p36"/>
            <p:cNvSpPr txBox="1"/>
            <p:nvPr/>
          </p:nvSpPr>
          <p:spPr>
            <a:xfrm>
              <a:off x="6591300" y="3133725"/>
              <a:ext cx="1943100" cy="1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11827"/>
                  </a:solidFill>
                  <a:latin typeface="Plus Jakarta Sans"/>
                  <a:ea typeface="Plus Jakarta Sans"/>
                  <a:cs typeface="Plus Jakarta Sans"/>
                  <a:sym typeface="Plus Jakarta Sans"/>
                </a:rPr>
                <a:t>Sistem Data</a:t>
              </a:r>
              <a:endParaRPr b="1" sz="1200">
                <a:solidFill>
                  <a:srgbClr val="111827"/>
                </a:solidFill>
                <a:latin typeface="Plus Jakarta Sans"/>
                <a:ea typeface="Plus Jakarta Sans"/>
                <a:cs typeface="Plus Jakarta Sans"/>
                <a:sym typeface="Plus Jakarta Sans"/>
              </a:endParaRPr>
            </a:p>
            <a:p>
              <a:pPr indent="0" lvl="0" marL="0" rtl="0" algn="l">
                <a:spcBef>
                  <a:spcPts val="450"/>
                </a:spcBef>
                <a:spcAft>
                  <a:spcPts val="0"/>
                </a:spcAft>
                <a:buNone/>
              </a:pPr>
              <a:r>
                <a:rPr b="0" lang="en" sz="975">
                  <a:solidFill>
                    <a:srgbClr val="4B5563"/>
                  </a:solidFill>
                  <a:latin typeface="Inter"/>
                  <a:ea typeface="Inter"/>
                  <a:cs typeface="Inter"/>
                  <a:sym typeface="Inter"/>
                </a:rPr>
                <a:t>Terintegrasi untuk rekam jejak santri.</a:t>
              </a:r>
              <a:endParaRPr b="0" sz="975">
                <a:solidFill>
                  <a:srgbClr val="4B5563"/>
                </a:solidFill>
                <a:latin typeface="Inter"/>
                <a:ea typeface="Inter"/>
                <a:cs typeface="Inter"/>
                <a:sym typeface="Inte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grpSp>
        <p:nvGrpSpPr>
          <p:cNvPr id="691" name="Google Shape;691;p37"/>
          <p:cNvGrpSpPr/>
          <p:nvPr/>
        </p:nvGrpSpPr>
        <p:grpSpPr>
          <a:xfrm>
            <a:off x="0" y="0"/>
            <a:ext cx="9144000" cy="5143500"/>
            <a:chOff x="0" y="0"/>
            <a:chExt cx="9144000" cy="5143500"/>
          </a:xfrm>
        </p:grpSpPr>
        <p:sp>
          <p:nvSpPr>
            <p:cNvPr id="692" name="Google Shape;692;p37"/>
            <p:cNvSpPr/>
            <p:nvPr/>
          </p:nvSpPr>
          <p:spPr>
            <a:xfrm>
              <a:off x="0" y="0"/>
              <a:ext cx="9144000" cy="51435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93" name="Google Shape;693;p37"/>
            <p:cNvGrpSpPr/>
            <p:nvPr/>
          </p:nvGrpSpPr>
          <p:grpSpPr>
            <a:xfrm>
              <a:off x="8458200" y="457200"/>
              <a:ext cx="228600" cy="228600"/>
              <a:chOff x="0" y="0"/>
              <a:chExt cx="228600" cy="228600"/>
            </a:xfrm>
          </p:grpSpPr>
          <p:sp>
            <p:nvSpPr>
              <p:cNvPr id="694" name="Google Shape;694;p37"/>
              <p:cNvSpPr/>
              <p:nvPr/>
            </p:nvSpPr>
            <p:spPr>
              <a:xfrm>
                <a:off x="0" y="0"/>
                <a:ext cx="228600" cy="2286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5" name="Google Shape;695;p37"/>
              <p:cNvSpPr/>
              <p:nvPr/>
            </p:nvSpPr>
            <p:spPr>
              <a:xfrm>
                <a:off x="38100" y="38100"/>
                <a:ext cx="152400" cy="1524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6" name="Google Shape;696;p37"/>
              <p:cNvSpPr/>
              <p:nvPr/>
            </p:nvSpPr>
            <p:spPr>
              <a:xfrm>
                <a:off x="85725" y="85725"/>
                <a:ext cx="57300" cy="573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97" name="Google Shape;697;p37"/>
            <p:cNvSpPr/>
            <p:nvPr/>
          </p:nvSpPr>
          <p:spPr>
            <a:xfrm>
              <a:off x="457200" y="4762500"/>
              <a:ext cx="82296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98" name="Google Shape;698;p37"/>
          <p:cNvSpPr txBox="1"/>
          <p:nvPr/>
        </p:nvSpPr>
        <p:spPr>
          <a:xfrm>
            <a:off x="457200" y="457200"/>
            <a:ext cx="76200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111827"/>
                </a:solidFill>
                <a:latin typeface="Plus Jakarta Sans"/>
                <a:ea typeface="Plus Jakarta Sans"/>
                <a:cs typeface="Plus Jakarta Sans"/>
                <a:sym typeface="Plus Jakarta Sans"/>
              </a:rPr>
              <a:t>Tahapan Implementasi Sistem</a:t>
            </a:r>
            <a:endParaRPr b="1" sz="2400">
              <a:solidFill>
                <a:srgbClr val="111827"/>
              </a:solidFill>
              <a:latin typeface="Plus Jakarta Sans"/>
              <a:ea typeface="Plus Jakarta Sans"/>
              <a:cs typeface="Plus Jakarta Sans"/>
              <a:sym typeface="Plus Jakarta Sans"/>
            </a:endParaRPr>
          </a:p>
          <a:p>
            <a:pPr indent="0" lvl="0" marL="0" rtl="0" algn="l">
              <a:spcBef>
                <a:spcPts val="900"/>
              </a:spcBef>
              <a:spcAft>
                <a:spcPts val="900"/>
              </a:spcAft>
              <a:buNone/>
            </a:pPr>
            <a:r>
              <a:rPr b="0" lang="en" sz="1125">
                <a:solidFill>
                  <a:srgbClr val="4B5563"/>
                </a:solidFill>
                <a:latin typeface="Inter"/>
                <a:ea typeface="Inter"/>
                <a:cs typeface="Inter"/>
                <a:sym typeface="Inter"/>
              </a:rPr>
              <a:t>Perubahan ini tidak terjadi dalam semalam. Kita memiliki rencana kerja implementasi yang bertahap agar semua pihak dapat beradaptasi dengan baik:</a:t>
            </a:r>
            <a:endParaRPr b="0" sz="1125">
              <a:solidFill>
                <a:srgbClr val="4B5563"/>
              </a:solidFill>
              <a:latin typeface="Inter"/>
              <a:ea typeface="Inter"/>
              <a:cs typeface="Inter"/>
              <a:sym typeface="Inter"/>
            </a:endParaRPr>
          </a:p>
        </p:txBody>
      </p:sp>
      <p:grpSp>
        <p:nvGrpSpPr>
          <p:cNvPr id="699" name="Google Shape;699;p37"/>
          <p:cNvGrpSpPr/>
          <p:nvPr/>
        </p:nvGrpSpPr>
        <p:grpSpPr>
          <a:xfrm>
            <a:off x="1257300" y="1943100"/>
            <a:ext cx="6648450" cy="304800"/>
            <a:chOff x="1257300" y="1943100"/>
            <a:chExt cx="6648450" cy="304800"/>
          </a:xfrm>
        </p:grpSpPr>
        <p:pic>
          <p:nvPicPr>
            <p:cNvPr id="700" name="Google Shape;700;p37"/>
            <p:cNvPicPr preferRelativeResize="0"/>
            <p:nvPr/>
          </p:nvPicPr>
          <p:blipFill rotWithShape="1">
            <a:blip r:embed="rId3">
              <a:alphaModFix/>
            </a:blip>
            <a:srcRect b="0" l="0" r="0" t="0"/>
            <a:stretch/>
          </p:blipFill>
          <p:spPr>
            <a:xfrm>
              <a:off x="1409700" y="2076450"/>
              <a:ext cx="6343800" cy="38100"/>
            </a:xfrm>
            <a:prstGeom prst="rect">
              <a:avLst/>
            </a:prstGeom>
            <a:noFill/>
            <a:ln>
              <a:noFill/>
            </a:ln>
          </p:spPr>
        </p:pic>
        <p:sp>
          <p:nvSpPr>
            <p:cNvPr id="701" name="Google Shape;701;p37"/>
            <p:cNvSpPr/>
            <p:nvPr/>
          </p:nvSpPr>
          <p:spPr>
            <a:xfrm>
              <a:off x="1257300" y="1943100"/>
              <a:ext cx="304800" cy="3048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2" name="Google Shape;702;p37"/>
            <p:cNvSpPr/>
            <p:nvPr/>
          </p:nvSpPr>
          <p:spPr>
            <a:xfrm>
              <a:off x="1285875" y="1971675"/>
              <a:ext cx="247800" cy="2478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3" name="Google Shape;703;p37"/>
            <p:cNvSpPr/>
            <p:nvPr/>
          </p:nvSpPr>
          <p:spPr>
            <a:xfrm>
              <a:off x="1333500" y="2019300"/>
              <a:ext cx="152400" cy="1524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4" name="Google Shape;704;p37"/>
            <p:cNvSpPr/>
            <p:nvPr/>
          </p:nvSpPr>
          <p:spPr>
            <a:xfrm>
              <a:off x="3371850" y="1943100"/>
              <a:ext cx="304800" cy="3048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5" name="Google Shape;705;p37"/>
            <p:cNvSpPr/>
            <p:nvPr/>
          </p:nvSpPr>
          <p:spPr>
            <a:xfrm>
              <a:off x="3400425" y="1971675"/>
              <a:ext cx="247800" cy="2478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6" name="Google Shape;706;p37"/>
            <p:cNvSpPr/>
            <p:nvPr/>
          </p:nvSpPr>
          <p:spPr>
            <a:xfrm>
              <a:off x="3448050" y="2019300"/>
              <a:ext cx="152400" cy="1524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7" name="Google Shape;707;p37"/>
            <p:cNvSpPr/>
            <p:nvPr/>
          </p:nvSpPr>
          <p:spPr>
            <a:xfrm>
              <a:off x="5486400" y="1943100"/>
              <a:ext cx="304800" cy="3048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8" name="Google Shape;708;p37"/>
            <p:cNvSpPr/>
            <p:nvPr/>
          </p:nvSpPr>
          <p:spPr>
            <a:xfrm>
              <a:off x="5514975" y="1971675"/>
              <a:ext cx="247800" cy="2478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9" name="Google Shape;709;p37"/>
            <p:cNvSpPr/>
            <p:nvPr/>
          </p:nvSpPr>
          <p:spPr>
            <a:xfrm>
              <a:off x="5562600" y="2019300"/>
              <a:ext cx="152400" cy="1524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0" name="Google Shape;710;p37"/>
            <p:cNvSpPr/>
            <p:nvPr/>
          </p:nvSpPr>
          <p:spPr>
            <a:xfrm>
              <a:off x="7600950" y="1943100"/>
              <a:ext cx="304800" cy="304800"/>
            </a:xfrm>
            <a:prstGeom prst="ellipse">
              <a:avLst/>
            </a:prstGeom>
            <a:solidFill>
              <a:srgbClr val="F3F4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1" name="Google Shape;711;p37"/>
            <p:cNvSpPr/>
            <p:nvPr/>
          </p:nvSpPr>
          <p:spPr>
            <a:xfrm>
              <a:off x="7629525" y="1971675"/>
              <a:ext cx="247800" cy="2478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2" name="Google Shape;712;p37"/>
            <p:cNvSpPr/>
            <p:nvPr/>
          </p:nvSpPr>
          <p:spPr>
            <a:xfrm>
              <a:off x="7677150" y="2019300"/>
              <a:ext cx="152400" cy="152400"/>
            </a:xfrm>
            <a:prstGeom prst="ellipse">
              <a:avLst/>
            </a:prstGeom>
            <a:solidFill>
              <a:srgbClr val="9CA3A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713" name="Google Shape;713;p37"/>
          <p:cNvGrpSpPr/>
          <p:nvPr/>
        </p:nvGrpSpPr>
        <p:grpSpPr>
          <a:xfrm>
            <a:off x="404813" y="2366963"/>
            <a:ext cx="8353350" cy="2057400"/>
            <a:chOff x="404813" y="2366963"/>
            <a:chExt cx="8353350" cy="2057400"/>
          </a:xfrm>
        </p:grpSpPr>
        <p:pic>
          <p:nvPicPr>
            <p:cNvPr id="714" name="Google Shape;714;p37"/>
            <p:cNvPicPr preferRelativeResize="0"/>
            <p:nvPr/>
          </p:nvPicPr>
          <p:blipFill rotWithShape="1">
            <a:blip r:embed="rId4">
              <a:alphaModFix/>
            </a:blip>
            <a:srcRect b="0" l="0" r="0" t="0"/>
            <a:stretch/>
          </p:blipFill>
          <p:spPr>
            <a:xfrm>
              <a:off x="404813" y="2366963"/>
              <a:ext cx="2009700" cy="2057400"/>
            </a:xfrm>
            <a:prstGeom prst="rect">
              <a:avLst/>
            </a:prstGeom>
            <a:noFill/>
            <a:ln>
              <a:noFill/>
            </a:ln>
          </p:spPr>
        </p:pic>
        <p:sp>
          <p:nvSpPr>
            <p:cNvPr id="715" name="Google Shape;715;p37"/>
            <p:cNvSpPr/>
            <p:nvPr/>
          </p:nvSpPr>
          <p:spPr>
            <a:xfrm>
              <a:off x="504825" y="2428875"/>
              <a:ext cx="1809600" cy="381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6" name="Google Shape;716;p37"/>
            <p:cNvSpPr txBox="1"/>
            <p:nvPr/>
          </p:nvSpPr>
          <p:spPr>
            <a:xfrm>
              <a:off x="657225" y="2581275"/>
              <a:ext cx="1505100" cy="15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50">
                  <a:solidFill>
                    <a:srgbClr val="059669"/>
                  </a:solidFill>
                  <a:latin typeface="Plus Jakarta Sans"/>
                  <a:ea typeface="Plus Jakarta Sans"/>
                  <a:cs typeface="Plus Jakarta Sans"/>
                  <a:sym typeface="Plus Jakarta Sans"/>
                </a:rPr>
                <a:t>Semester 1</a:t>
              </a:r>
              <a:endParaRPr b="1" sz="1350">
                <a:solidFill>
                  <a:srgbClr val="059669"/>
                </a:solidFill>
                <a:latin typeface="Plus Jakarta Sans"/>
                <a:ea typeface="Plus Jakarta Sans"/>
                <a:cs typeface="Plus Jakarta Sans"/>
                <a:sym typeface="Plus Jakarta Sans"/>
              </a:endParaRPr>
            </a:p>
            <a:p>
              <a:pPr indent="0" lvl="0" marL="0" rtl="0" algn="l">
                <a:spcBef>
                  <a:spcPts val="600"/>
                </a:spcBef>
                <a:spcAft>
                  <a:spcPts val="0"/>
                </a:spcAft>
                <a:buNone/>
              </a:pPr>
              <a:r>
                <a:rPr b="0" lang="en" sz="975">
                  <a:solidFill>
                    <a:srgbClr val="4B5563"/>
                  </a:solidFill>
                  <a:latin typeface="Inter"/>
                  <a:ea typeface="Inter"/>
                  <a:cs typeface="Inter"/>
                  <a:sym typeface="Inter"/>
                </a:rPr>
                <a:t>Sosialisasi intensif, uji coba instrumen, dan penerapan awal SOP dasar.</a:t>
              </a:r>
              <a:endParaRPr b="0" sz="975">
                <a:solidFill>
                  <a:srgbClr val="4B5563"/>
                </a:solidFill>
                <a:latin typeface="Inter"/>
                <a:ea typeface="Inter"/>
                <a:cs typeface="Inter"/>
                <a:sym typeface="Inter"/>
              </a:endParaRPr>
            </a:p>
          </p:txBody>
        </p:sp>
        <p:pic>
          <p:nvPicPr>
            <p:cNvPr id="717" name="Google Shape;717;p37"/>
            <p:cNvPicPr preferRelativeResize="0"/>
            <p:nvPr/>
          </p:nvPicPr>
          <p:blipFill rotWithShape="1">
            <a:blip r:embed="rId4">
              <a:alphaModFix/>
            </a:blip>
            <a:srcRect b="0" l="0" r="0" t="0"/>
            <a:stretch/>
          </p:blipFill>
          <p:spPr>
            <a:xfrm>
              <a:off x="2519363" y="2366963"/>
              <a:ext cx="2009700" cy="2057400"/>
            </a:xfrm>
            <a:prstGeom prst="rect">
              <a:avLst/>
            </a:prstGeom>
            <a:noFill/>
            <a:ln>
              <a:noFill/>
            </a:ln>
          </p:spPr>
        </p:pic>
        <p:sp>
          <p:nvSpPr>
            <p:cNvPr id="718" name="Google Shape;718;p37"/>
            <p:cNvSpPr/>
            <p:nvPr/>
          </p:nvSpPr>
          <p:spPr>
            <a:xfrm>
              <a:off x="2619375" y="2428875"/>
              <a:ext cx="1809600" cy="381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9" name="Google Shape;719;p37"/>
            <p:cNvSpPr txBox="1"/>
            <p:nvPr/>
          </p:nvSpPr>
          <p:spPr>
            <a:xfrm>
              <a:off x="2771775" y="2581275"/>
              <a:ext cx="1505100" cy="15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50">
                  <a:solidFill>
                    <a:srgbClr val="10B981"/>
                  </a:solidFill>
                  <a:latin typeface="Plus Jakarta Sans"/>
                  <a:ea typeface="Plus Jakarta Sans"/>
                  <a:cs typeface="Plus Jakarta Sans"/>
                  <a:sym typeface="Plus Jakarta Sans"/>
                </a:rPr>
                <a:t>Semester 2</a:t>
              </a:r>
              <a:endParaRPr b="1" sz="1350">
                <a:solidFill>
                  <a:srgbClr val="10B981"/>
                </a:solidFill>
                <a:latin typeface="Plus Jakarta Sans"/>
                <a:ea typeface="Plus Jakarta Sans"/>
                <a:cs typeface="Plus Jakarta Sans"/>
                <a:sym typeface="Plus Jakarta Sans"/>
              </a:endParaRPr>
            </a:p>
            <a:p>
              <a:pPr indent="0" lvl="0" marL="0" rtl="0" algn="l">
                <a:spcBef>
                  <a:spcPts val="600"/>
                </a:spcBef>
                <a:spcAft>
                  <a:spcPts val="0"/>
                </a:spcAft>
                <a:buNone/>
              </a:pPr>
              <a:r>
                <a:rPr b="0" lang="en" sz="975">
                  <a:solidFill>
                    <a:srgbClr val="4B5563"/>
                  </a:solidFill>
                  <a:latin typeface="Inter"/>
                  <a:ea typeface="Inter"/>
                  <a:cs typeface="Inter"/>
                  <a:sym typeface="Inter"/>
                </a:rPr>
                <a:t>Implementasi penuh kolaborasi antar unit dan penggunaan sistem data.</a:t>
              </a:r>
              <a:endParaRPr b="0" sz="975">
                <a:solidFill>
                  <a:srgbClr val="4B5563"/>
                </a:solidFill>
                <a:latin typeface="Inter"/>
                <a:ea typeface="Inter"/>
                <a:cs typeface="Inter"/>
                <a:sym typeface="Inter"/>
              </a:endParaRPr>
            </a:p>
          </p:txBody>
        </p:sp>
        <p:pic>
          <p:nvPicPr>
            <p:cNvPr id="720" name="Google Shape;720;p37"/>
            <p:cNvPicPr preferRelativeResize="0"/>
            <p:nvPr/>
          </p:nvPicPr>
          <p:blipFill rotWithShape="1">
            <a:blip r:embed="rId4">
              <a:alphaModFix/>
            </a:blip>
            <a:srcRect b="0" l="0" r="0" t="0"/>
            <a:stretch/>
          </p:blipFill>
          <p:spPr>
            <a:xfrm>
              <a:off x="4633913" y="2366963"/>
              <a:ext cx="2009700" cy="2057400"/>
            </a:xfrm>
            <a:prstGeom prst="rect">
              <a:avLst/>
            </a:prstGeom>
            <a:noFill/>
            <a:ln>
              <a:noFill/>
            </a:ln>
          </p:spPr>
        </p:pic>
        <p:sp>
          <p:nvSpPr>
            <p:cNvPr id="721" name="Google Shape;721;p37"/>
            <p:cNvSpPr/>
            <p:nvPr/>
          </p:nvSpPr>
          <p:spPr>
            <a:xfrm>
              <a:off x="4733925" y="2428875"/>
              <a:ext cx="1809600" cy="38100"/>
            </a:xfrm>
            <a:prstGeom prst="roundRect">
              <a:avLst>
                <a:gd fmla="val 50000" name="adj"/>
              </a:avLst>
            </a:prstGeom>
            <a:solidFill>
              <a:srgbClr val="059669">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2" name="Google Shape;722;p37"/>
            <p:cNvSpPr txBox="1"/>
            <p:nvPr/>
          </p:nvSpPr>
          <p:spPr>
            <a:xfrm>
              <a:off x="4886325" y="2581275"/>
              <a:ext cx="1505100" cy="15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50">
                  <a:solidFill>
                    <a:srgbClr val="111827"/>
                  </a:solidFill>
                  <a:latin typeface="Plus Jakarta Sans"/>
                  <a:ea typeface="Plus Jakarta Sans"/>
                  <a:cs typeface="Plus Jakarta Sans"/>
                  <a:sym typeface="Plus Jakarta Sans"/>
                </a:rPr>
                <a:t>Evaluasi</a:t>
              </a:r>
              <a:endParaRPr b="1" sz="1350">
                <a:solidFill>
                  <a:srgbClr val="111827"/>
                </a:solidFill>
                <a:latin typeface="Plus Jakarta Sans"/>
                <a:ea typeface="Plus Jakarta Sans"/>
                <a:cs typeface="Plus Jakarta Sans"/>
                <a:sym typeface="Plus Jakarta Sans"/>
              </a:endParaRPr>
            </a:p>
            <a:p>
              <a:pPr indent="0" lvl="0" marL="0" rtl="0" algn="l">
                <a:spcBef>
                  <a:spcPts val="600"/>
                </a:spcBef>
                <a:spcAft>
                  <a:spcPts val="0"/>
                </a:spcAft>
                <a:buNone/>
              </a:pPr>
              <a:r>
                <a:rPr b="0" lang="en" sz="975">
                  <a:solidFill>
                    <a:srgbClr val="4B5563"/>
                  </a:solidFill>
                  <a:latin typeface="Inter"/>
                  <a:ea typeface="Inter"/>
                  <a:cs typeface="Inter"/>
                  <a:sym typeface="Inter"/>
                </a:rPr>
                <a:t>Mengukur efektivitas dan mengidentifikasi kendala pelaksanaan secara menyeluruh.</a:t>
              </a:r>
              <a:endParaRPr b="0" sz="975">
                <a:solidFill>
                  <a:srgbClr val="4B5563"/>
                </a:solidFill>
                <a:latin typeface="Inter"/>
                <a:ea typeface="Inter"/>
                <a:cs typeface="Inter"/>
                <a:sym typeface="Inter"/>
              </a:endParaRPr>
            </a:p>
          </p:txBody>
        </p:sp>
        <p:pic>
          <p:nvPicPr>
            <p:cNvPr id="723" name="Google Shape;723;p37"/>
            <p:cNvPicPr preferRelativeResize="0"/>
            <p:nvPr/>
          </p:nvPicPr>
          <p:blipFill rotWithShape="1">
            <a:blip r:embed="rId4">
              <a:alphaModFix/>
            </a:blip>
            <a:srcRect b="0" l="0" r="0" t="0"/>
            <a:stretch/>
          </p:blipFill>
          <p:spPr>
            <a:xfrm>
              <a:off x="6748463" y="2366963"/>
              <a:ext cx="2009700" cy="2057400"/>
            </a:xfrm>
            <a:prstGeom prst="rect">
              <a:avLst/>
            </a:prstGeom>
            <a:noFill/>
            <a:ln>
              <a:noFill/>
            </a:ln>
          </p:spPr>
        </p:pic>
        <p:sp>
          <p:nvSpPr>
            <p:cNvPr id="724" name="Google Shape;724;p37"/>
            <p:cNvSpPr/>
            <p:nvPr/>
          </p:nvSpPr>
          <p:spPr>
            <a:xfrm>
              <a:off x="6848475" y="2428875"/>
              <a:ext cx="1809600" cy="38100"/>
            </a:xfrm>
            <a:prstGeom prst="roundRect">
              <a:avLst>
                <a:gd fmla="val 50000" name="adj"/>
              </a:avLst>
            </a:prstGeom>
            <a:solidFill>
              <a:srgbClr val="9CA3AF">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5" name="Google Shape;725;p37"/>
            <p:cNvSpPr txBox="1"/>
            <p:nvPr/>
          </p:nvSpPr>
          <p:spPr>
            <a:xfrm>
              <a:off x="7000875" y="2581275"/>
              <a:ext cx="1505100" cy="15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50">
                  <a:solidFill>
                    <a:srgbClr val="4B5563"/>
                  </a:solidFill>
                  <a:latin typeface="Plus Jakarta Sans"/>
                  <a:ea typeface="Plus Jakarta Sans"/>
                  <a:cs typeface="Plus Jakarta Sans"/>
                  <a:sym typeface="Plus Jakarta Sans"/>
                </a:rPr>
                <a:t>Penyempurnaan</a:t>
              </a:r>
              <a:endParaRPr b="1" sz="1350">
                <a:solidFill>
                  <a:srgbClr val="4B5563"/>
                </a:solidFill>
                <a:latin typeface="Plus Jakarta Sans"/>
                <a:ea typeface="Plus Jakarta Sans"/>
                <a:cs typeface="Plus Jakarta Sans"/>
                <a:sym typeface="Plus Jakarta Sans"/>
              </a:endParaRPr>
            </a:p>
            <a:p>
              <a:pPr indent="0" lvl="0" marL="0" rtl="0" algn="l">
                <a:spcBef>
                  <a:spcPts val="600"/>
                </a:spcBef>
                <a:spcAft>
                  <a:spcPts val="0"/>
                </a:spcAft>
                <a:buNone/>
              </a:pPr>
              <a:r>
                <a:rPr b="0" lang="en" sz="975">
                  <a:solidFill>
                    <a:srgbClr val="4B5563"/>
                  </a:solidFill>
                  <a:latin typeface="Inter"/>
                  <a:ea typeface="Inter"/>
                  <a:cs typeface="Inter"/>
                  <a:sym typeface="Inter"/>
                </a:rPr>
                <a:t>Perbaikan sistem berdasarkan hasil evaluasi untuk tahun ajaran berikutnya.</a:t>
              </a:r>
              <a:endParaRPr b="0" sz="975">
                <a:solidFill>
                  <a:srgbClr val="4B5563"/>
                </a:solidFill>
                <a:latin typeface="Inter"/>
                <a:ea typeface="Inter"/>
                <a:cs typeface="Inter"/>
                <a:sym typeface="Inte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729" name="Shape 729"/>
        <p:cNvGrpSpPr/>
        <p:nvPr/>
      </p:nvGrpSpPr>
      <p:grpSpPr>
        <a:xfrm>
          <a:off x="0" y="0"/>
          <a:ext cx="0" cy="0"/>
          <a:chOff x="0" y="0"/>
          <a:chExt cx="0" cy="0"/>
        </a:xfrm>
      </p:grpSpPr>
      <p:grpSp>
        <p:nvGrpSpPr>
          <p:cNvPr id="730" name="Google Shape;730;p38"/>
          <p:cNvGrpSpPr/>
          <p:nvPr/>
        </p:nvGrpSpPr>
        <p:grpSpPr>
          <a:xfrm>
            <a:off x="8458200" y="457200"/>
            <a:ext cx="228600" cy="228600"/>
            <a:chOff x="0" y="0"/>
            <a:chExt cx="228600" cy="228600"/>
          </a:xfrm>
        </p:grpSpPr>
        <p:sp>
          <p:nvSpPr>
            <p:cNvPr id="731" name="Google Shape;731;p38"/>
            <p:cNvSpPr/>
            <p:nvPr/>
          </p:nvSpPr>
          <p:spPr>
            <a:xfrm>
              <a:off x="0" y="0"/>
              <a:ext cx="228600" cy="2286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2" name="Google Shape;732;p38"/>
            <p:cNvSpPr/>
            <p:nvPr/>
          </p:nvSpPr>
          <p:spPr>
            <a:xfrm>
              <a:off x="38100" y="38100"/>
              <a:ext cx="152400" cy="1524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3" name="Google Shape;733;p38"/>
            <p:cNvSpPr/>
            <p:nvPr/>
          </p:nvSpPr>
          <p:spPr>
            <a:xfrm>
              <a:off x="85725" y="85725"/>
              <a:ext cx="57300" cy="573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34" name="Google Shape;734;p38"/>
          <p:cNvSpPr/>
          <p:nvPr/>
        </p:nvSpPr>
        <p:spPr>
          <a:xfrm>
            <a:off x="457200" y="4762500"/>
            <a:ext cx="82296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5" name="Google Shape;735;p38"/>
          <p:cNvSpPr txBox="1"/>
          <p:nvPr/>
        </p:nvSpPr>
        <p:spPr>
          <a:xfrm>
            <a:off x="457200" y="457200"/>
            <a:ext cx="7620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111827"/>
                </a:solidFill>
                <a:latin typeface="Plus Jakarta Sans"/>
                <a:ea typeface="Plus Jakarta Sans"/>
                <a:cs typeface="Plus Jakarta Sans"/>
                <a:sym typeface="Plus Jakarta Sans"/>
              </a:rPr>
              <a:t>Harapan Bersama ke Depan</a:t>
            </a:r>
            <a:endParaRPr b="1" sz="2400">
              <a:solidFill>
                <a:srgbClr val="111827"/>
              </a:solidFill>
              <a:latin typeface="Plus Jakarta Sans"/>
              <a:ea typeface="Plus Jakarta Sans"/>
              <a:cs typeface="Plus Jakarta Sans"/>
              <a:sym typeface="Plus Jakarta Sans"/>
            </a:endParaRPr>
          </a:p>
          <a:p>
            <a:pPr indent="0" lvl="0" marL="0" rtl="0" algn="l">
              <a:spcBef>
                <a:spcPts val="900"/>
              </a:spcBef>
              <a:spcAft>
                <a:spcPts val="900"/>
              </a:spcAft>
              <a:buNone/>
            </a:pPr>
            <a:r>
              <a:rPr b="0" lang="en" sz="1050">
                <a:solidFill>
                  <a:srgbClr val="059669"/>
                </a:solidFill>
                <a:latin typeface="Inter SemiBold"/>
                <a:ea typeface="Inter SemiBold"/>
                <a:cs typeface="Inter SemiBold"/>
                <a:sym typeface="Inter SemiBold"/>
              </a:rPr>
              <a:t>Visi &amp; Komitmen Jangka Panjang</a:t>
            </a:r>
            <a:endParaRPr b="0" sz="1050">
              <a:solidFill>
                <a:srgbClr val="059669"/>
              </a:solidFill>
              <a:latin typeface="Inter SemiBold"/>
              <a:ea typeface="Inter SemiBold"/>
              <a:cs typeface="Inter SemiBold"/>
              <a:sym typeface="Inter SemiBold"/>
            </a:endParaRPr>
          </a:p>
        </p:txBody>
      </p:sp>
      <p:grpSp>
        <p:nvGrpSpPr>
          <p:cNvPr id="736" name="Google Shape;736;p38"/>
          <p:cNvGrpSpPr/>
          <p:nvPr/>
        </p:nvGrpSpPr>
        <p:grpSpPr>
          <a:xfrm>
            <a:off x="457200" y="1524000"/>
            <a:ext cx="8229600" cy="2857500"/>
            <a:chOff x="457200" y="1524000"/>
            <a:chExt cx="8229600" cy="2857500"/>
          </a:xfrm>
        </p:grpSpPr>
        <p:sp>
          <p:nvSpPr>
            <p:cNvPr id="737" name="Google Shape;737;p38"/>
            <p:cNvSpPr txBox="1"/>
            <p:nvPr/>
          </p:nvSpPr>
          <p:spPr>
            <a:xfrm>
              <a:off x="457200" y="1524000"/>
              <a:ext cx="2857500" cy="266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700">
                  <a:solidFill>
                    <a:srgbClr val="059669"/>
                  </a:solidFill>
                  <a:latin typeface="Plus Jakarta Sans ExtraBold"/>
                  <a:ea typeface="Plus Jakarta Sans ExtraBold"/>
                  <a:cs typeface="Plus Jakarta Sans ExtraBold"/>
                  <a:sym typeface="Plus Jakarta Sans ExtraBold"/>
                </a:rPr>
                <a:t>Konsisten &amp;</a:t>
              </a:r>
              <a:endParaRPr b="0" sz="2700">
                <a:solidFill>
                  <a:srgbClr val="059669"/>
                </a:solidFill>
                <a:latin typeface="Plus Jakarta Sans ExtraBold"/>
                <a:ea typeface="Plus Jakarta Sans ExtraBold"/>
                <a:cs typeface="Plus Jakarta Sans ExtraBold"/>
                <a:sym typeface="Plus Jakarta Sans ExtraBold"/>
              </a:endParaRPr>
            </a:p>
            <a:p>
              <a:pPr indent="0" lvl="0" marL="0" rtl="0" algn="l">
                <a:spcBef>
                  <a:spcPts val="900"/>
                </a:spcBef>
                <a:spcAft>
                  <a:spcPts val="0"/>
                </a:spcAft>
                <a:buNone/>
              </a:pPr>
              <a:r>
                <a:rPr b="0" lang="en" sz="2700">
                  <a:solidFill>
                    <a:srgbClr val="111827"/>
                  </a:solidFill>
                  <a:latin typeface="Plus Jakarta Sans ExtraBold"/>
                  <a:ea typeface="Plus Jakarta Sans ExtraBold"/>
                  <a:cs typeface="Plus Jakarta Sans ExtraBold"/>
                  <a:sym typeface="Plus Jakarta Sans ExtraBold"/>
                </a:rPr>
                <a:t>Berkelanjutan</a:t>
              </a:r>
              <a:endParaRPr b="0" sz="2700">
                <a:solidFill>
                  <a:srgbClr val="111827"/>
                </a:solidFill>
                <a:latin typeface="Plus Jakarta Sans ExtraBold"/>
                <a:ea typeface="Plus Jakarta Sans ExtraBold"/>
                <a:cs typeface="Plus Jakarta Sans ExtraBold"/>
                <a:sym typeface="Plus Jakarta Sans ExtraBold"/>
              </a:endParaRPr>
            </a:p>
            <a:p>
              <a:pPr indent="0" lvl="0" marL="0" rtl="0" algn="l">
                <a:spcBef>
                  <a:spcPts val="1800"/>
                </a:spcBef>
                <a:spcAft>
                  <a:spcPts val="900"/>
                </a:spcAft>
                <a:buNone/>
              </a:pPr>
              <a:r>
                <a:rPr b="0" lang="en" sz="1050">
                  <a:solidFill>
                    <a:srgbClr val="4B5563"/>
                  </a:solidFill>
                  <a:latin typeface="Inter SemiBold"/>
                  <a:ea typeface="Inter SemiBold"/>
                  <a:cs typeface="Inter SemiBold"/>
                  <a:sym typeface="Inter SemiBold"/>
                </a:rPr>
                <a:t>Komitmen Proses</a:t>
              </a:r>
              <a:endParaRPr b="0" sz="1050">
                <a:solidFill>
                  <a:srgbClr val="4B5563"/>
                </a:solidFill>
                <a:latin typeface="Inter SemiBold"/>
                <a:ea typeface="Inter SemiBold"/>
                <a:cs typeface="Inter SemiBold"/>
                <a:sym typeface="Inter SemiBold"/>
              </a:endParaRPr>
            </a:p>
          </p:txBody>
        </p:sp>
        <p:sp>
          <p:nvSpPr>
            <p:cNvPr id="738" name="Google Shape;738;p38"/>
            <p:cNvSpPr txBox="1"/>
            <p:nvPr/>
          </p:nvSpPr>
          <p:spPr>
            <a:xfrm>
              <a:off x="3619500" y="1524000"/>
              <a:ext cx="50673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111827"/>
                  </a:solidFill>
                  <a:latin typeface="Inter SemiBold"/>
                  <a:ea typeface="Inter SemiBold"/>
                  <a:cs typeface="Inter SemiBold"/>
                  <a:sym typeface="Inter SemiBold"/>
                </a:rPr>
                <a:t>Visi jangka panjang dari sistem pembinaan ini bukanlah untuk menciptakan sistem yang sempurna tanpa cela pada hari pertama.</a:t>
              </a:r>
              <a:endParaRPr b="0" sz="1350">
                <a:solidFill>
                  <a:srgbClr val="111827"/>
                </a:solidFill>
                <a:latin typeface="Inter SemiBold"/>
                <a:ea typeface="Inter SemiBold"/>
                <a:cs typeface="Inter SemiBold"/>
                <a:sym typeface="Inter SemiBold"/>
              </a:endParaRPr>
            </a:p>
            <a:p>
              <a:pPr indent="0" lvl="0" marL="0" rtl="0" algn="l">
                <a:spcBef>
                  <a:spcPts val="1500"/>
                </a:spcBef>
                <a:spcAft>
                  <a:spcPts val="900"/>
                </a:spcAft>
                <a:buNone/>
              </a:pPr>
              <a:r>
                <a:rPr b="0" lang="en" sz="1200">
                  <a:solidFill>
                    <a:srgbClr val="4B5563"/>
                  </a:solidFill>
                  <a:latin typeface="Inter"/>
                  <a:ea typeface="Inter"/>
                  <a:cs typeface="Inter"/>
                  <a:sym typeface="Inter"/>
                </a:rPr>
                <a:t>Fokus utama kita adalah membangun sistem yang konsisten dijalankan, bersedia untuk terus diperbaiki dari waktu ke waktu, dan pada akhirnya terbukti mampu melahirkan generasi santri yang jauh lebih baik secara akhlak dan keilmuan.</a:t>
              </a:r>
              <a:endParaRPr b="0" sz="1200">
                <a:solidFill>
                  <a:srgbClr val="4B5563"/>
                </a:solidFill>
                <a:latin typeface="Inter"/>
                <a:ea typeface="Inter"/>
                <a:cs typeface="Inter"/>
                <a:sym typeface="Inte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grpSp>
        <p:nvGrpSpPr>
          <p:cNvPr id="743" name="Google Shape;743;p39"/>
          <p:cNvGrpSpPr/>
          <p:nvPr/>
        </p:nvGrpSpPr>
        <p:grpSpPr>
          <a:xfrm>
            <a:off x="0" y="-285750"/>
            <a:ext cx="9144000" cy="5715000"/>
            <a:chOff x="0" y="-285750"/>
            <a:chExt cx="9144000" cy="5715000"/>
          </a:xfrm>
        </p:grpSpPr>
        <p:sp>
          <p:nvSpPr>
            <p:cNvPr id="744" name="Google Shape;744;p39"/>
            <p:cNvSpPr/>
            <p:nvPr/>
          </p:nvSpPr>
          <p:spPr>
            <a:xfrm>
              <a:off x="0" y="0"/>
              <a:ext cx="9144000" cy="5143500"/>
            </a:xfrm>
            <a:prstGeom prst="rect">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5" name="Google Shape;745;p39"/>
            <p:cNvSpPr/>
            <p:nvPr/>
          </p:nvSpPr>
          <p:spPr>
            <a:xfrm>
              <a:off x="1714500" y="-285750"/>
              <a:ext cx="5715000" cy="5715000"/>
            </a:xfrm>
            <a:prstGeom prst="ellipse">
              <a:avLst/>
            </a:prstGeom>
            <a:solidFill>
              <a:srgbClr val="10B981">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46" name="Google Shape;746;p39"/>
            <p:cNvGrpSpPr/>
            <p:nvPr/>
          </p:nvGrpSpPr>
          <p:grpSpPr>
            <a:xfrm>
              <a:off x="8458200" y="457200"/>
              <a:ext cx="228600" cy="228600"/>
              <a:chOff x="0" y="0"/>
              <a:chExt cx="228600" cy="228600"/>
            </a:xfrm>
          </p:grpSpPr>
          <p:sp>
            <p:nvSpPr>
              <p:cNvPr id="747" name="Google Shape;747;p39"/>
              <p:cNvSpPr/>
              <p:nvPr/>
            </p:nvSpPr>
            <p:spPr>
              <a:xfrm>
                <a:off x="0" y="0"/>
                <a:ext cx="228600" cy="2286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8" name="Google Shape;748;p39"/>
              <p:cNvSpPr/>
              <p:nvPr/>
            </p:nvSpPr>
            <p:spPr>
              <a:xfrm>
                <a:off x="38100" y="38100"/>
                <a:ext cx="152400" cy="1524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9" name="Google Shape;749;p39"/>
              <p:cNvSpPr/>
              <p:nvPr/>
            </p:nvSpPr>
            <p:spPr>
              <a:xfrm>
                <a:off x="85725" y="85725"/>
                <a:ext cx="57300" cy="57300"/>
              </a:xfrm>
              <a:prstGeom prst="ellipse">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750" name="Google Shape;750;p39"/>
          <p:cNvGrpSpPr/>
          <p:nvPr/>
        </p:nvGrpSpPr>
        <p:grpSpPr>
          <a:xfrm>
            <a:off x="914400" y="922972"/>
            <a:ext cx="7315200" cy="2410778"/>
            <a:chOff x="914400" y="922972"/>
            <a:chExt cx="7315200" cy="2410778"/>
          </a:xfrm>
        </p:grpSpPr>
        <p:sp>
          <p:nvSpPr>
            <p:cNvPr id="751" name="Google Shape;751;p39"/>
            <p:cNvSpPr/>
            <p:nvPr/>
          </p:nvSpPr>
          <p:spPr>
            <a:xfrm>
              <a:off x="4316730" y="922972"/>
              <a:ext cx="577350" cy="277200"/>
            </a:xfrm>
            <a:custGeom>
              <a:rect b="b" l="l" r="r" t="t"/>
              <a:pathLst>
                <a:path extrusionOk="0" h="120000" w="120000">
                  <a:moveTo>
                    <a:pt x="43663" y="120000"/>
                  </a:moveTo>
                  <a:lnTo>
                    <a:pt x="13960" y="120000"/>
                  </a:lnTo>
                  <a:cubicBezTo>
                    <a:pt x="6238" y="120000"/>
                    <a:pt x="0" y="107010"/>
                    <a:pt x="0" y="90928"/>
                  </a:cubicBezTo>
                  <a:lnTo>
                    <a:pt x="0" y="29072"/>
                  </a:lnTo>
                  <a:cubicBezTo>
                    <a:pt x="0" y="12990"/>
                    <a:pt x="6238" y="0"/>
                    <a:pt x="13960" y="0"/>
                  </a:cubicBezTo>
                  <a:lnTo>
                    <a:pt x="43663" y="0"/>
                  </a:lnTo>
                  <a:cubicBezTo>
                    <a:pt x="51386" y="0"/>
                    <a:pt x="57624" y="12990"/>
                    <a:pt x="57624" y="29072"/>
                  </a:cubicBezTo>
                  <a:lnTo>
                    <a:pt x="57624" y="90928"/>
                  </a:lnTo>
                  <a:cubicBezTo>
                    <a:pt x="57624" y="107010"/>
                    <a:pt x="51386" y="120000"/>
                    <a:pt x="43663" y="120000"/>
                  </a:cubicBezTo>
                  <a:close/>
                  <a:moveTo>
                    <a:pt x="13960" y="18557"/>
                  </a:moveTo>
                  <a:cubicBezTo>
                    <a:pt x="10990" y="18557"/>
                    <a:pt x="8911" y="23505"/>
                    <a:pt x="8911" y="29072"/>
                  </a:cubicBezTo>
                  <a:lnTo>
                    <a:pt x="8911" y="90928"/>
                  </a:lnTo>
                  <a:cubicBezTo>
                    <a:pt x="8911" y="97113"/>
                    <a:pt x="11287" y="101443"/>
                    <a:pt x="13960" y="101443"/>
                  </a:cubicBezTo>
                  <a:lnTo>
                    <a:pt x="43663" y="101443"/>
                  </a:lnTo>
                  <a:cubicBezTo>
                    <a:pt x="46634" y="101443"/>
                    <a:pt x="48713" y="96495"/>
                    <a:pt x="48713" y="90928"/>
                  </a:cubicBezTo>
                  <a:lnTo>
                    <a:pt x="48713" y="29072"/>
                  </a:lnTo>
                  <a:cubicBezTo>
                    <a:pt x="48713" y="22887"/>
                    <a:pt x="46337" y="18557"/>
                    <a:pt x="43663" y="18557"/>
                  </a:cubicBezTo>
                  <a:lnTo>
                    <a:pt x="13960" y="18557"/>
                  </a:lnTo>
                  <a:close/>
                  <a:moveTo>
                    <a:pt x="106040" y="120000"/>
                  </a:moveTo>
                  <a:lnTo>
                    <a:pt x="76337" y="120000"/>
                  </a:lnTo>
                  <a:cubicBezTo>
                    <a:pt x="68614" y="120000"/>
                    <a:pt x="62376" y="107010"/>
                    <a:pt x="62376" y="90928"/>
                  </a:cubicBezTo>
                  <a:lnTo>
                    <a:pt x="62376" y="29072"/>
                  </a:lnTo>
                  <a:cubicBezTo>
                    <a:pt x="62376" y="12990"/>
                    <a:pt x="68614" y="0"/>
                    <a:pt x="76337" y="0"/>
                  </a:cubicBezTo>
                  <a:lnTo>
                    <a:pt x="106040" y="0"/>
                  </a:lnTo>
                  <a:cubicBezTo>
                    <a:pt x="113762" y="0"/>
                    <a:pt x="120000" y="12990"/>
                    <a:pt x="120000" y="29072"/>
                  </a:cubicBezTo>
                  <a:lnTo>
                    <a:pt x="120000" y="90928"/>
                  </a:lnTo>
                  <a:cubicBezTo>
                    <a:pt x="120000" y="107010"/>
                    <a:pt x="113762" y="120000"/>
                    <a:pt x="106040" y="120000"/>
                  </a:cubicBezTo>
                  <a:close/>
                  <a:moveTo>
                    <a:pt x="76337" y="18557"/>
                  </a:moveTo>
                  <a:cubicBezTo>
                    <a:pt x="73366" y="18557"/>
                    <a:pt x="71287" y="23505"/>
                    <a:pt x="71287" y="29072"/>
                  </a:cubicBezTo>
                  <a:lnTo>
                    <a:pt x="71287" y="90928"/>
                  </a:lnTo>
                  <a:cubicBezTo>
                    <a:pt x="71287" y="97113"/>
                    <a:pt x="73663" y="101443"/>
                    <a:pt x="76337" y="101443"/>
                  </a:cubicBezTo>
                  <a:lnTo>
                    <a:pt x="106040" y="101443"/>
                  </a:lnTo>
                  <a:cubicBezTo>
                    <a:pt x="109010" y="101443"/>
                    <a:pt x="111089" y="96495"/>
                    <a:pt x="111089" y="90928"/>
                  </a:cubicBezTo>
                  <a:lnTo>
                    <a:pt x="111089" y="29072"/>
                  </a:lnTo>
                  <a:cubicBezTo>
                    <a:pt x="111089" y="22887"/>
                    <a:pt x="108713" y="18557"/>
                    <a:pt x="106040" y="18557"/>
                  </a:cubicBezTo>
                  <a:lnTo>
                    <a:pt x="76337" y="18557"/>
                  </a:lnTo>
                  <a:close/>
                </a:path>
              </a:pathLst>
            </a:cu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2" name="Google Shape;752;p39"/>
            <p:cNvSpPr txBox="1"/>
            <p:nvPr/>
          </p:nvSpPr>
          <p:spPr>
            <a:xfrm>
              <a:off x="914400" y="1619250"/>
              <a:ext cx="7315200" cy="1714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i="1" lang="en" sz="2100">
                  <a:latin typeface="Plus Jakarta Sans SemiBold"/>
                  <a:ea typeface="Plus Jakarta Sans SemiBold"/>
                  <a:cs typeface="Plus Jakarta Sans SemiBold"/>
                  <a:sym typeface="Plus Jakarta Sans SemiBold"/>
                </a:rPr>
                <a:t>"Sistem yang baik akan memudahkan orang baik untuk melakukan </a:t>
              </a:r>
              <a:r>
                <a:rPr b="1" i="1" lang="en" sz="2100">
                  <a:solidFill>
                    <a:srgbClr val="FBBF24"/>
                  </a:solidFill>
                  <a:latin typeface="Plus Jakarta Sans"/>
                  <a:ea typeface="Plus Jakarta Sans"/>
                  <a:cs typeface="Plus Jakarta Sans"/>
                  <a:sym typeface="Plus Jakarta Sans"/>
                </a:rPr>
                <a:t>kebaikan secara konsisten</a:t>
              </a:r>
              <a:r>
                <a:rPr b="0" i="1" lang="en" sz="2100">
                  <a:latin typeface="Plus Jakarta Sans SemiBold"/>
                  <a:ea typeface="Plus Jakarta Sans SemiBold"/>
                  <a:cs typeface="Plus Jakarta Sans SemiBold"/>
                  <a:sym typeface="Plus Jakarta Sans SemiBold"/>
                </a:rPr>
                <a:t>."</a:t>
              </a:r>
              <a:endParaRPr b="0" i="1" sz="2100">
                <a:latin typeface="Plus Jakarta Sans SemiBold"/>
                <a:ea typeface="Plus Jakarta Sans SemiBold"/>
                <a:cs typeface="Plus Jakarta Sans SemiBold"/>
                <a:sym typeface="Plus Jakarta Sans SemiBold"/>
              </a:endParaRPr>
            </a:p>
          </p:txBody>
        </p:sp>
      </p:grpSp>
      <p:sp>
        <p:nvSpPr>
          <p:cNvPr id="753" name="Google Shape;753;p39"/>
          <p:cNvSpPr txBox="1"/>
          <p:nvPr/>
        </p:nvSpPr>
        <p:spPr>
          <a:xfrm>
            <a:off x="914400" y="3571875"/>
            <a:ext cx="7315200" cy="1047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2700">
                <a:solidFill>
                  <a:srgbClr val="FFFFFF"/>
                </a:solidFill>
                <a:latin typeface="Plus Jakarta Sans ExtraBold"/>
                <a:ea typeface="Plus Jakarta Sans ExtraBold"/>
                <a:cs typeface="Plus Jakarta Sans ExtraBold"/>
                <a:sym typeface="Plus Jakarta Sans ExtraBold"/>
              </a:rPr>
              <a:t>Terima Kasih</a:t>
            </a:r>
            <a:endParaRPr b="0" sz="2700">
              <a:solidFill>
                <a:srgbClr val="FFFFFF"/>
              </a:solidFill>
              <a:latin typeface="Plus Jakarta Sans ExtraBold"/>
              <a:ea typeface="Plus Jakarta Sans ExtraBold"/>
              <a:cs typeface="Plus Jakarta Sans ExtraBold"/>
              <a:sym typeface="Plus Jakarta Sans ExtraBold"/>
            </a:endParaRPr>
          </a:p>
          <a:p>
            <a:pPr indent="0" lvl="0" marL="0" rtl="0" algn="ctr">
              <a:spcBef>
                <a:spcPts val="600"/>
              </a:spcBef>
              <a:spcAft>
                <a:spcPts val="0"/>
              </a:spcAft>
              <a:buNone/>
            </a:pPr>
            <a:r>
              <a:rPr b="0" lang="en" sz="1200">
                <a:solidFill>
                  <a:srgbClr val="D1FAE5"/>
                </a:solidFill>
                <a:latin typeface="Inter"/>
                <a:ea typeface="Inter"/>
                <a:cs typeface="Inter"/>
                <a:sym typeface="Inter"/>
              </a:rPr>
              <a:t>atas dedikasi dan kerja keras Bapak/Ibu sekalian.</a:t>
            </a:r>
            <a:endParaRPr b="0" sz="1200">
              <a:solidFill>
                <a:srgbClr val="D1FAE5"/>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