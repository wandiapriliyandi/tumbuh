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05526" y="2314575"/>
            <a:ext cx="7580947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b="1" sz="5250" i="0" u="none">
                <a:solidFill>
                  <a:srgbClr val="C5A059"/>
                </a:solidFill>
                <a:latin typeface="Poppins"/>
              </a:rPr>
              <a:t>Sinergi Strategis:</a:t>
            </a:r>
            <a:r>
              <a:t>
</a:t>
            </a:r>
            <a:r>
              <a:rPr b="1" sz="5250" i="0" u="none">
                <a:solidFill>
                  <a:srgbClr val="C5A059"/>
                </a:solidFill>
                <a:latin typeface="Poppins"/>
              </a:rPr>
              <a:t> Arsitektur TUMBUH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6025" y="3971925"/>
            <a:ext cx="7219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5A059"/>
                </a:solidFill>
                <a:latin typeface="Lato"/>
              </a:rPr>
              <a:t>Integrasi SEL, PBIS, Disiplin Positif, dan Mentoring sebagai Satu Kesatuan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2406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76462"/>
            <a:ext cx="5286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5A059"/>
                </a:solidFill>
                <a:latin typeface="Lato"/>
              </a:rPr>
              <a:t>SEL: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 Kualitas individu yang akan tinggal di dalam rumah.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71762"/>
            <a:ext cx="5286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5A059"/>
                </a:solidFill>
                <a:latin typeface="Lato"/>
              </a:rPr>
              <a:t>PBIS: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 Desain arsitektur rumah dan aturan main di dalamnya.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67062"/>
            <a:ext cx="5286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5A059"/>
                </a:solidFill>
                <a:latin typeface="Lato"/>
              </a:rPr>
              <a:t>Disiplin Positif: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 Cara orang tua membimbing anak saat berinteraksi.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62362"/>
            <a:ext cx="5286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5A059"/>
                </a:solidFill>
                <a:latin typeface="Lato"/>
              </a:rPr>
              <a:t>Mentoring: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 Jiwa dan kehangatan yang memberi makna pada rumah tersebut.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33587"/>
            <a:ext cx="526732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Analogi Membangun Rumah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662"/>
            <a:ext cx="5286375" cy="1819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71662"/>
            <a:ext cx="5286375" cy="1819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67187"/>
            <a:ext cx="5286375" cy="1819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4167187"/>
            <a:ext cx="5286375" cy="1819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214562"/>
            <a:ext cx="483060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C5A059"/>
                </a:solidFill>
                <a:latin typeface="Poppins"/>
              </a:rPr>
              <a:t>SEL (Kapasitas)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62237"/>
            <a:ext cx="4600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Memperbaiki kualitas internal individu. Fokus: Kemampuan apa yang perlu dibangun?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2214562"/>
            <a:ext cx="483060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C5A059"/>
                </a:solidFill>
                <a:latin typeface="Poppins"/>
              </a:rPr>
              <a:t>PBIS (Sistem)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662237"/>
            <a:ext cx="4600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Memperbaiki struktur dan budaya lembaga. Fokus: Apakah lingkungan mendukung perilaku?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10087"/>
            <a:ext cx="483060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C5A059"/>
                </a:solidFill>
                <a:latin typeface="Poppins"/>
              </a:rPr>
              <a:t>Disiplin Positif (Interaksi)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57762"/>
            <a:ext cx="4600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Memperbaiki cara merespons perilaku. Fokus: Bagaimana interaksi menjadi proses belajar?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4510087"/>
            <a:ext cx="483060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C5A059"/>
                </a:solidFill>
                <a:latin typeface="Poppins"/>
              </a:rPr>
              <a:t>Mentoring (Jiwa)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957762"/>
            <a:ext cx="4600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Membangun makna dan nilai spiritual. Fokus: Mengapa kita harus bertumbuh?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Lapisan Peran dalam Pembinaan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500312"/>
            <a:ext cx="1143000" cy="476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275" y="2833687"/>
            <a:ext cx="1160145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C5A059"/>
                </a:solidFill>
                <a:latin typeface="Poppins"/>
              </a:rPr>
              <a:t>Bedah Kasus:</a:t>
            </a:r>
            <a:r>
              <a:t>
</a:t>
            </a:r>
            <a:r>
              <a:rPr b="1" sz="4800" i="0" u="none">
                <a:solidFill>
                  <a:srgbClr val="C5A059"/>
                </a:solidFill>
                <a:latin typeface="Poppins"/>
              </a:rPr>
              <a:t> Perspektif Multi-Lapis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3119437"/>
            <a:ext cx="11049000" cy="1619250"/>
          </a:xfrm>
          <a:prstGeom prst="roundRect">
            <a:avLst>
              <a:gd name="adj" fmla="val 0"/>
            </a:avLst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3119437"/>
          <a:ext cx="11039474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79775"/>
                <a:gridCol w="3679775"/>
                <a:gridCol w="3679924"/>
              </a:tblGrid>
              <a:tr h="8096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SEL (Kapasitas)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PBIS (Sistem)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Disiplin Positif (Interaksi)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Membangun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Self-management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santri agar mampu mengatur waktu dan memprioritaskan ibadah secara mandiri.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Memeriksa apakah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SOP Bangun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jelas, alarm berfungsi, dan musyrif konsisten menjalankan rutinitas pagi.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Musyrif berdialog dengan santri: </a:t>
                      </a:r>
                      <a:r>
                        <a:rPr b="0" sz="1350" i="1" u="none">
                          <a:solidFill>
                            <a:srgbClr val="F8F9FA"/>
                          </a:solidFill>
                          <a:latin typeface="Lato"/>
                        </a:rPr>
                        <a:t>"Apa rencanamu agar besok tidak terlambat?"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dan menetapkan konsekuensi logis.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Kasus 1: Keterlambatan Jamaah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3119437"/>
            <a:ext cx="11049000" cy="1619250"/>
          </a:xfrm>
          <a:prstGeom prst="roundRect">
            <a:avLst>
              <a:gd name="adj" fmla="val 0"/>
            </a:avLst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3119437"/>
          <a:ext cx="11039474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79775"/>
                <a:gridCol w="3679775"/>
                <a:gridCol w="3679924"/>
              </a:tblGrid>
              <a:tr h="8096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SEL (Kapasitas)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PBIS (Sistem)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Disiplin Positif (Interaksi)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Membantu santri menemukan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coping stress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yang sehat dan melatih regulasi emosi menghadapi tekanan teman sebaya.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Analisis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data titik rawan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: Mengapa rokok bisa masuk? Memperketat SOP pengawasan di area tersembunyi.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Pendekatan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restoratif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: Dialog mendalam untuk memahami akar masalah dan monitoring intensif tanpa menghakimi.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Kasus 2: Pelanggaran Berat (Merokok)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3119437"/>
            <a:ext cx="11049000" cy="1619250"/>
          </a:xfrm>
          <a:prstGeom prst="roundRect">
            <a:avLst>
              <a:gd name="adj" fmla="val 0"/>
            </a:avLst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3119437"/>
          <a:ext cx="11039474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79775"/>
                <a:gridCol w="3679775"/>
                <a:gridCol w="3679924"/>
              </a:tblGrid>
              <a:tr h="8096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SEL (Kapasitas)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PBIS (Sistem)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Disiplin Positif (Interaksi)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Mengembangkan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empati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dan kesadaran sosial santri agar memahami dampak tindakannya bagi orang lain.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Analisis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lokasi dan waktu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kejadian. Apakah budaya kelas/asrama mendukung perilaku agresif?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Memulihkan hubungan antara korban dan pelaku melalui proses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refleksi dan dialog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yang menghormati martabat.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Kasus 3: Konflik Sosial (Bullying)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3119437"/>
            <a:ext cx="11049000" cy="1619250"/>
          </a:xfrm>
          <a:prstGeom prst="roundRect">
            <a:avLst>
              <a:gd name="adj" fmla="val 0"/>
            </a:avLst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3119437"/>
          <a:ext cx="11039474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79775"/>
                <a:gridCol w="3679775"/>
                <a:gridCol w="3679924"/>
              </a:tblGrid>
              <a:tr h="8096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SEL (Kapasitas)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PBIS (Sistem)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02147"/>
                          </a:solidFill>
                          <a:latin typeface="Lato"/>
                        </a:rPr>
                        <a:t>Disiplin Positif (Interaksi)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Membantu santri mengendalikan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impuls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untuk bercanda dan memahami pentingnya hak istirahat bagi orang lain.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Memastikan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lampu mati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sesuai waktu dan aturan gaduh diajarkan secara eksplisit kepada seluruh santri.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Musyrif mengingatkan dengan tenang, mengajak refleksi, dan memberikan </a:t>
                      </a:r>
                      <a:r>
                        <a:rPr b="1" sz="1350" i="0" u="none">
                          <a:solidFill>
                            <a:srgbClr val="F8F9FA"/>
                          </a:solidFill>
                          <a:latin typeface="Lato"/>
                        </a:rPr>
                        <a:t>latihan ulang</a:t>
                      </a:r>
                      <a:r>
                        <a:rPr b="0" sz="1350" i="0" u="none">
                          <a:solidFill>
                            <a:srgbClr val="F8F9FA"/>
                          </a:solidFill>
                          <a:latin typeface="Lato"/>
                        </a:rPr>
                        <a:t> rutinitas tidur.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Kasus 4: Kegaduhan di Asrama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167187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066" y="3614737"/>
            <a:ext cx="17402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5A059"/>
                </a:solidFill>
                <a:latin typeface="Poppins"/>
              </a:rPr>
              <a:t>Respon (DP)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86237"/>
            <a:ext cx="1657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F8F9FA"/>
                </a:solidFill>
                <a:latin typeface="Lato"/>
              </a:rPr>
              <a:t>Musyrif menangani kejadian secara edukatif.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8277" y="3614737"/>
            <a:ext cx="17402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5A059"/>
                </a:solidFill>
                <a:latin typeface="Poppins"/>
              </a:rPr>
              <a:t>Catat (PBIS)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9710" y="4186237"/>
            <a:ext cx="1657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F8F9FA"/>
                </a:solidFill>
                <a:latin typeface="Lato"/>
              </a:rPr>
              <a:t>Data dimasukkan dalam sistem pemantauan.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488" y="3614737"/>
            <a:ext cx="17402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5A059"/>
                </a:solidFill>
                <a:latin typeface="Poppins"/>
              </a:rPr>
              <a:t>Analisis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921" y="4186237"/>
            <a:ext cx="1657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F8F9FA"/>
                </a:solidFill>
                <a:latin typeface="Lato"/>
              </a:rPr>
              <a:t>Identifikasi pola berulang (lokasi/waktu/pelaku).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4699" y="3614737"/>
            <a:ext cx="17402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5A059"/>
                </a:solidFill>
                <a:latin typeface="Poppins"/>
              </a:rPr>
              <a:t>Sistem (PBIS)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6132" y="4186237"/>
            <a:ext cx="1657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F8F9FA"/>
                </a:solidFill>
                <a:latin typeface="Lato"/>
              </a:rPr>
              <a:t>Perbaikan SOP atau desain lingkungan.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2910" y="3614737"/>
            <a:ext cx="17402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5A059"/>
                </a:solidFill>
                <a:latin typeface="Poppins"/>
              </a:rPr>
              <a:t>Kapasitas (SEL)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4343" y="4186237"/>
            <a:ext cx="1657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F8F9FA"/>
                </a:solidFill>
                <a:latin typeface="Lato"/>
              </a:rPr>
              <a:t>Pelatihan keterampilan spesifik bagi santri.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120" y="3614737"/>
            <a:ext cx="17402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5A059"/>
                </a:solidFill>
                <a:latin typeface="Poppins"/>
              </a:rPr>
              <a:t>Tumbuh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554" y="4186237"/>
            <a:ext cx="1657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F8F9FA"/>
                </a:solidFill>
                <a:latin typeface="Lato"/>
              </a:rPr>
              <a:t>Karakter terbentuk dalam ekosistem utuh.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Siklus Implementasi di Lapangan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04925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83135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1346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39557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17768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95979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1750"/>
            <a:ext cx="3492549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71750"/>
            <a:ext cx="3492549" cy="2714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71750"/>
            <a:ext cx="3492549" cy="2714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4225" y="3600450"/>
            <a:ext cx="3047099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C5A059"/>
                </a:solidFill>
                <a:latin typeface="Poppins"/>
              </a:rPr>
              <a:t>Manajemen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48125"/>
            <a:ext cx="29019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Wakamad &amp; Kepala Asrama mendesain </a:t>
            </a:r>
            <a:r>
              <a:rPr b="1" sz="1350" i="0" u="none">
                <a:solidFill>
                  <a:srgbClr val="F8F9FA"/>
                </a:solidFill>
                <a:latin typeface="Lato"/>
              </a:rPr>
              <a:t>Sistem (PBIS)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 dan memastikan konsistensi lingkungan.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524" y="3600450"/>
            <a:ext cx="3047099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C5A059"/>
                </a:solidFill>
                <a:latin typeface="Poppins"/>
              </a:rPr>
              <a:t>Guru &amp; Musyrif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4048125"/>
            <a:ext cx="29019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Pelaksana harian yang berinteraksi langsung (</a:t>
            </a:r>
            <a:r>
              <a:rPr b="1" sz="1350" i="0" u="none">
                <a:solidFill>
                  <a:srgbClr val="F8F9FA"/>
                </a:solidFill>
                <a:latin typeface="Lato"/>
              </a:rPr>
              <a:t>Disiplin Positif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) dan melatih </a:t>
            </a:r>
            <a:r>
              <a:rPr b="1" sz="1350" i="0" u="none">
                <a:solidFill>
                  <a:srgbClr val="F8F9FA"/>
                </a:solidFill>
                <a:latin typeface="Lato"/>
              </a:rPr>
              <a:t>Kapasitas (SEL)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0824" y="3600450"/>
            <a:ext cx="3047099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C5A059"/>
                </a:solidFill>
                <a:latin typeface="Poppins"/>
              </a:rPr>
              <a:t>Mentor / Murobbi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4048125"/>
            <a:ext cx="29019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Membangun </a:t>
            </a:r>
            <a:r>
              <a:rPr b="1" sz="1350" i="0" u="none">
                <a:solidFill>
                  <a:srgbClr val="F8F9FA"/>
                </a:solidFill>
                <a:latin typeface="Lato"/>
              </a:rPr>
              <a:t>Jiwa (Tarbiyah)</a:t>
            </a:r>
            <a:r>
              <a:rPr b="0" sz="1350" i="0" u="none">
                <a:solidFill>
                  <a:srgbClr val="F8F9FA"/>
                </a:solidFill>
                <a:latin typeface="Lato"/>
              </a:rPr>
              <a:t>, menanamkan makna, nilai spiritual, dan arah pertumbuhan.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1950" y="2914650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914650"/>
            <a:ext cx="5715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49" y="2914650"/>
            <a:ext cx="5715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Aktor dan Tanggung Jawab Utama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57537"/>
            <a:ext cx="4572000" cy="2781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762000"/>
            <a:ext cx="4600575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Lapis Terakhir:</a:t>
            </a:r>
            <a:r>
              <a:t>
</a:t>
            </a:r>
            <a:r>
              <a:rPr b="0" sz="3300" i="0" u="none">
                <a:solidFill>
                  <a:srgbClr val="F8F9FA"/>
                </a:solidFill>
                <a:latin typeface="Poppins SemiBold"/>
              </a:rPr>
              <a:t> Mentoring &amp; Tarbiyah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0" cy="185737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3662362"/>
            <a:ext cx="3981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F8F9FA"/>
                </a:solidFill>
                <a:latin typeface="Lato SemiBold"/>
              </a:rPr>
              <a:t>"Memberi Jiwa bagi Sistem"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4186237"/>
            <a:ext cx="39814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Ketiga pendekatan modern di atas adalah mesin yang kuat, namun Mentoring/Tarbiyah adalah bahan bakarnya. Ia membangun makna, nilai, dan komitmen spiritual yang mengarahkan seluruh proses pertumbuhan karakter santri.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0570" y="2138362"/>
            <a:ext cx="687085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C5A059"/>
                </a:solidFill>
                <a:latin typeface="Poppins"/>
              </a:rPr>
              <a:t>Diskusi &amp; Sinergi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4162" y="3471862"/>
            <a:ext cx="6543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5A059"/>
                </a:solidFill>
                <a:latin typeface="Lato"/>
              </a:rPr>
              <a:t>Membangun Ekosistem Pertumbuhan yang Berkelanjutan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4162" y="4291012"/>
            <a:ext cx="65436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9FA"/>
                </a:solidFill>
                <a:latin typeface="Lato"/>
              </a:rPr>
              <a:t>TUMBUH: Human Development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162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05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3123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9FA"/>
                </a:solidFill>
                <a:latin typeface="Lato"/>
              </a:rPr>
              <a:t>https://d28pk2nlhhgcne.cloudfront.net/assets/app/uploads/sites/3/2023/03/how-to-make-contemporary-house-plans-1-720x397.png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5456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9FA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home.by.me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767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8384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9FA"/>
                </a:solidFill>
                <a:latin typeface="Lato"/>
              </a:rPr>
              <a:t>https://static.vecteezy.com/system/resources/thumbnails/071/587/294/small/light-within-her-heart-represents-mental-health-concept-photo.jpg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1720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8F9FA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9FA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