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92609"/>
            <a:ext cx="11049000" cy="36727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52525" y="2173634"/>
            <a:ext cx="98869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666666"/>
                </a:solidFill>
                <a:latin typeface="Azeret Mono"/>
              </a:rPr>
              <a:t>HUMAN DEVELOPMENT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351" y="2573684"/>
            <a:ext cx="10381297" cy="142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609"/>
              </a:lnSpc>
            </a:pPr>
            <a:r>
              <a:rPr b="1" sz="5100" i="0" u="none">
                <a:solidFill>
                  <a:srgbClr val="002D50"/>
                </a:solidFill>
                <a:latin typeface="Merriweather"/>
              </a:rPr>
              <a:t>Membedah Akar</a:t>
            </a:r>
            <a:r>
              <a:t>
</a:t>
            </a:r>
            <a:r>
              <a:rPr b="1" sz="5100" i="0" u="none">
                <a:solidFill>
                  <a:srgbClr val="002D50"/>
                </a:solidFill>
                <a:latin typeface="Merriweather"/>
              </a:rPr>
              <a:t> Disiplin Positif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525" y="4227165"/>
            <a:ext cx="98869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002D50"/>
                </a:solidFill>
                <a:latin typeface="Arimo"/>
              </a:rPr>
              <a:t>Membangun Kedisiplinan dari Dalam (Self-Regulation)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38400"/>
            <a:ext cx="53340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8400"/>
            <a:ext cx="5334000" cy="2838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828925"/>
            <a:ext cx="47805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35400"/>
                </a:solidFill>
                <a:latin typeface="Merriweather"/>
              </a:rPr>
              <a:t>Visi Pembinaan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314700"/>
            <a:ext cx="45529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Pendekatan mendidik yang membangun disiplin diri (*self-discipline*), tanggung jawab, dan karakter melalui hubungan yang hangat sekaligus tegas.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4229100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Menghindari hukuman yang bersifat merendahkan martabat atau kekerasan fisik/verbal.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828925"/>
            <a:ext cx="47805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35400"/>
                </a:solidFill>
                <a:latin typeface="Merriweather"/>
              </a:rPr>
              <a:t>Target Akhir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314700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Bukan membuat anak patuh karena takut atau diam karena tertekan.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971925"/>
            <a:ext cx="45529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Targetnya adalah </a:t>
            </a:r>
            <a:r>
              <a:rPr b="1" sz="1350" i="0" u="none">
                <a:solidFill>
                  <a:srgbClr val="333333"/>
                </a:solidFill>
                <a:latin typeface="Arimo"/>
              </a:rPr>
              <a:t>Self-Regulation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: kemampuan santri untuk mengendalikan dirinya secara sadar, bukan kontrol eksternal.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Apa itu Disiplin Positif?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190750"/>
            <a:ext cx="333375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2200275"/>
            <a:ext cx="3314700" cy="3314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0" y="2844254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D35400"/>
                </a:solidFill>
                <a:latin typeface="Azeret Mono"/>
              </a:rPr>
              <a:t>Disciplina (Latin)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3330029"/>
            <a:ext cx="5334000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0" sz="2100" i="0" u="none">
                <a:solidFill>
                  <a:srgbClr val="333333"/>
                </a:solidFill>
                <a:latin typeface="Arimo"/>
              </a:rPr>
              <a:t>Berarti: </a:t>
            </a:r>
            <a:r>
              <a:rPr b="1" sz="2100" i="0" u="none">
                <a:solidFill>
                  <a:srgbClr val="333333"/>
                </a:solidFill>
                <a:latin typeface="Arimo"/>
              </a:rPr>
              <a:t>Pengajaran, Pembelajaran, Pelatihan.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4213770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Akar katanya adalah *discipulus* (murid). Sejak awal, disiplin adalah proses belajar, bukan proses menghukum.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Arti Kata "Disiplin"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1762"/>
            <a:ext cx="3555950" cy="2371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71762"/>
            <a:ext cx="3555950" cy="2371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671762"/>
            <a:ext cx="3555950" cy="2371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6525" y="2909887"/>
            <a:ext cx="285750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2632" y="3481387"/>
            <a:ext cx="323368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Perilaku Memiliki Tujuan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890962"/>
            <a:ext cx="30797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Mencari akar penyebab ("Mengapa?") sebelum menentukan intervensi intervensi.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5351" y="2909887"/>
            <a:ext cx="38100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79082" y="3481387"/>
            <a:ext cx="323368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Kesalahan = Belajar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6075" y="3890962"/>
            <a:ext cx="30797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Kesalahan bukan akhir, melainkan data dan kesempatan pembelajaran.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4176" y="2909887"/>
            <a:ext cx="476250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5533" y="3481387"/>
            <a:ext cx="3233685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Relasi di Atas Kontrol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3890962"/>
            <a:ext cx="30797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Anak lebih mudah diarahkan oleh orang yang memiliki hubungan positif dengannya.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Filosofi Dasar Disiplin Positif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2625"/>
            <a:ext cx="533400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52625"/>
            <a:ext cx="533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D35400"/>
                </a:solidFill>
                <a:latin typeface="Arimo"/>
              </a:rPr>
              <a:t>Inti Disiplin Positif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438400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Bukan permisif (serba boleh) dan bukan otoriter (serba tekanan).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48100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333333"/>
                </a:solidFill>
                <a:latin typeface="Arimo"/>
              </a:rPr>
              <a:t>"Hormati kebutuhan situasi dengan ketegasan, hormati kebutuhan anak dengan kehangatan."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62150"/>
            <a:ext cx="5314950" cy="3790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850" y="2886075"/>
            <a:ext cx="57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Arim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886075"/>
            <a:ext cx="5143500" cy="2571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Tetap ada aturan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dan batas yang jelas.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3143250"/>
            <a:ext cx="57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Arim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43250"/>
            <a:ext cx="5143500" cy="2571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Tetap ada konsekuensi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yang logis.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400425"/>
            <a:ext cx="571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3333"/>
                </a:solidFill>
                <a:latin typeface="Arim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00425"/>
            <a:ext cx="5143500" cy="2571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Dilakukan dengan </a:t>
            </a:r>
            <a:r>
              <a:rPr b="1" sz="1350" i="0" u="none">
                <a:solidFill>
                  <a:srgbClr val="333333"/>
                </a:solidFill>
                <a:latin typeface="Arimo"/>
              </a:rPr>
              <a:t>menghormati martabat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santri.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Firm + Kind (Tegas &amp; Hangat)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28862"/>
            <a:ext cx="11049000" cy="3057525"/>
          </a:xfrm>
          <a:prstGeom prst="roundRect">
            <a:avLst>
              <a:gd name="adj" fmla="val 0"/>
            </a:avLst>
          </a:prstGeom>
          <a:solidFill>
            <a:srgbClr val="FFFAF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328862"/>
          <a:ext cx="11039473" cy="3057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92175"/>
                <a:gridCol w="4405014"/>
                <a:gridCol w="4942284"/>
              </a:tblGrid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Merriweather"/>
                        </a:rPr>
                        <a:t>Dimensi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D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Merriweather"/>
                        </a:rPr>
                        <a:t>Hukuman (Punishment)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D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Merriweather"/>
                        </a:rPr>
                        <a:t>Konsekuensi Logis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D50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3333"/>
                          </a:solidFill>
                          <a:latin typeface="Arimo"/>
                        </a:rPr>
                        <a:t>Tujuan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Membuat anak menderita/kapok.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Membantu anak memahami akibat.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3333"/>
                          </a:solidFill>
                          <a:latin typeface="Arimo"/>
                        </a:rPr>
                        <a:t>Fokus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Masa lalu (pelanggaran).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Masa depan (perbaikan).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3333"/>
                          </a:solidFill>
                          <a:latin typeface="Arimo"/>
                        </a:rPr>
                        <a:t>Hubungan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Sering tidak logis (Telat → Push up).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Sangat logis (Kotori kamar → Bersihkan).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333333"/>
                          </a:solidFill>
                          <a:latin typeface="Arimo"/>
                        </a:rPr>
                        <a:t>Dampak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Resentment, Revenge, Rebellion.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333333"/>
                          </a:solidFill>
                          <a:latin typeface="Arimo"/>
                        </a:rPr>
                        <a:t>Responsibility &amp; Learning.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Hukuman vs Konsekuensi Logis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5575"/>
            <a:ext cx="5334000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5575"/>
            <a:ext cx="5334000" cy="2324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086100"/>
            <a:ext cx="47805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35400"/>
                </a:solidFill>
                <a:latin typeface="Merriweather"/>
              </a:rPr>
              <a:t>Kasus A: Merusak Fasilitas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71875"/>
            <a:ext cx="45529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Bukan: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Lari keliling lapangan atau berdiri di depan kantor.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71925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Konsekuensi: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Memperbaiki barang tersebut atau membantu biaya perbaikan dari tabungan.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086100"/>
            <a:ext cx="47805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35400"/>
                </a:solidFill>
                <a:latin typeface="Merriweather"/>
              </a:rPr>
              <a:t>Kasus B: Mengganggu Teman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571875"/>
            <a:ext cx="45529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Bukan: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Disita HP-nya atau dihukum membersihkan WC.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971925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Konsekuensi: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Melakukan dialog restoratif dan melakukan tindakan untuk memperbaiki hubungan.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Contoh Konsekuensi Logis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8462"/>
            <a:ext cx="20478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875" y="2938462"/>
            <a:ext cx="20955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875" y="2938462"/>
            <a:ext cx="2047875" cy="1838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938462"/>
            <a:ext cx="2047875" cy="1838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5" y="2938462"/>
            <a:ext cx="2047875" cy="1838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0334" y="3176587"/>
            <a:ext cx="1650206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Self-Regulation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81437"/>
            <a:ext cx="157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Kemampuan mengendalikan diri.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7518" y="3176587"/>
            <a:ext cx="1700212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Responsibility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0" y="3586162"/>
            <a:ext cx="1619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Sikap bertanggung jawab.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709" y="3176587"/>
            <a:ext cx="1650206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Problem Solving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0" y="3881437"/>
            <a:ext cx="157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Menyelesaikan masalah.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3084" y="3176587"/>
            <a:ext cx="1650206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Respect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2375" y="3586162"/>
            <a:ext cx="157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Menghormati diri &amp; orang lain.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1459" y="3176587"/>
            <a:ext cx="1650206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02D50"/>
                </a:solidFill>
                <a:latin typeface="Merriweather"/>
              </a:rPr>
              <a:t>Decision Making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0" y="3881437"/>
            <a:ext cx="15716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Mengambil keputusan benar.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Kompetensi yang Dibangun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3895725"/>
            <a:ext cx="11049000" cy="19050"/>
          </a:xfrm>
          <a:prstGeom prst="rect">
            <a:avLst/>
          </a:prstGeom>
          <a:solidFill>
            <a:srgbClr val="00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1116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Perilaku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5905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Pause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6288" y="4305300"/>
            <a:ext cx="121533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Berhenti Sejenak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0694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Pahami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1077" y="4305300"/>
            <a:ext cx="121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Cari Penyebab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5482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Dialog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866" y="4305300"/>
            <a:ext cx="121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Refleksi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0271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Perbaikan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654" y="4305300"/>
            <a:ext cx="121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Konsekuensi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5060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Latihan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95443" y="4305300"/>
            <a:ext cx="121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Ulangi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9848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232" y="4305300"/>
            <a:ext cx="121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Pendampingan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4637" y="4038600"/>
            <a:ext cx="1276096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02D50"/>
                </a:solidFill>
                <a:latin typeface="Merriweather"/>
              </a:rPr>
              <a:t>Penguatan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5020" y="4305300"/>
            <a:ext cx="12153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Apresiasi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Siklus Respons Perilaku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83915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88703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893492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98281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03069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07858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12647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917435" y="370522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D35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7012"/>
            <a:ext cx="5334000" cy="2181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67012"/>
            <a:ext cx="5334000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3157537"/>
            <a:ext cx="47805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35400"/>
                </a:solidFill>
                <a:latin typeface="Merriweather"/>
              </a:rPr>
              <a:t>Kekuatan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643312"/>
            <a:ext cx="45529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Membangun motivasi intrinsik dan memperkuat hubungan pembina–santri. Mengembangkan keterampilan sosial-emosional jangka panjang.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157537"/>
            <a:ext cx="478059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35400"/>
                </a:solidFill>
                <a:latin typeface="Merriweather"/>
              </a:rPr>
              <a:t>Tantangan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643312"/>
            <a:ext cx="45529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Membutuhkan kompetensi komunikasi tinggi dari pembina. Perubahan perilaku cenderung bertahap, bukan instan seperti ancaman.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Analisis Implementasi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05087"/>
            <a:ext cx="4953000" cy="1876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5000625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Sinergi Arsitektur TUMBUH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571500"/>
            <a:ext cx="76200" cy="95250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672012"/>
            <a:ext cx="4953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3333"/>
                </a:solidFill>
                <a:latin typeface="Arimo"/>
              </a:rPr>
              <a:t>Keduanya adalah *Integrated Approaches* yang mengoperasionalkan filosofi TUMBUH dalam keseharian asrama.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805112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PBIS (The System):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Mengatur "Mesin" pembinaan melalui data, tiering, dan ekspektasi sistemik.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1525" y="3462337"/>
            <a:ext cx="4552950" cy="19050"/>
          </a:xfrm>
          <a:prstGeom prst="rect">
            <a:avLst/>
          </a:prstGeom>
          <a:solidFill>
            <a:srgbClr val="002D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525" y="3624262"/>
            <a:ext cx="4552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Arimo"/>
              </a:rPr>
              <a:t>Disiplin Positif (The Soul):</a:t>
            </a:r>
            <a:r>
              <a:rPr b="0" sz="1350" i="0" u="none">
                <a:solidFill>
                  <a:srgbClr val="333333"/>
                </a:solidFill>
                <a:latin typeface="Arimo"/>
              </a:rPr>
              <a:t> Mengatur "Gaya" pembinaan melalui interaksi, dialog, dan relasi manusiawi.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633537"/>
            <a:ext cx="11601450" cy="714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500" i="0" u="none">
                <a:solidFill>
                  <a:srgbClr val="002D50"/>
                </a:solidFill>
                <a:latin typeface="Merriweather"/>
              </a:rPr>
              <a:t>Pertanyaan &amp; Diskusi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24412"/>
            <a:ext cx="11049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666666"/>
                </a:solidFill>
                <a:latin typeface="Azeret Mono"/>
              </a:rPr>
              <a:t>MEMBANGUN KARAKTER, BUKAN MENUNTUT KEPATUHAN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2728912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D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6193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3909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381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381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152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152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22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769393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Arimo"/>
              </a:rPr>
              <a:t>https://artincontext.org/wp-content/uploads/2021/09/Classical-Architecture.jpg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002756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3333"/>
                </a:solidFill>
                <a:latin typeface="Arim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Arimo"/>
              </a:rPr>
              <a:t>artincontext.org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33775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540918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Arimo"/>
              </a:rPr>
              <a:t>https://www.cela.org.au/CMSPages/GetFile.aspx?guid=6eeff0ca-efad-4e27-8e9d-c931fe53f6a2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774281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3333"/>
                </a:solidFill>
                <a:latin typeface="Arim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Arimo"/>
              </a:rPr>
              <a:t>www.cela.org.au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39102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305300"/>
            <a:ext cx="9953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Arimo"/>
              </a:rPr>
              <a:t>https://static.vecteezy.com/system/resources/thumbnails/061/677/671/small/hands-holding-small-green-plant-growing-in-soil-representing-growth-and-care-concept-illustration-vector.jpg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724400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3333"/>
                </a:solidFill>
                <a:latin typeface="Arim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Arimo"/>
              </a:rPr>
              <a:t>www.vecteezy.com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71500"/>
            <a:ext cx="114014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02D50"/>
                </a:solidFill>
                <a:latin typeface="Merriweather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71500"/>
            <a:ext cx="76200" cy="476250"/>
          </a:xfrm>
          <a:prstGeom prst="rect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